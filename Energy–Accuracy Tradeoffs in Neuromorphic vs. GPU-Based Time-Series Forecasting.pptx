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media/image6.jpg" ContentType="image/png"/>
  <Override PartName="/ppt/media/image7.jpg" ContentType="image/png"/>
  <Override PartName="/ppt/media/image8.jpg" ContentType="image/png"/>
  <Override PartName="/ppt/notesSlides/notesSlide37.xml" ContentType="application/vnd.openxmlformats-officedocument.presentationml.notesSlide+xml"/>
  <Override PartName="/ppt/media/image9.jpg" ContentType="image/png"/>
  <Override PartName="/ppt/notesSlides/notesSlide38.xml" ContentType="application/vnd.openxmlformats-officedocument.presentationml.notesSlide+xml"/>
  <Override PartName="/ppt/media/image12.jpg" ContentType="image/png"/>
  <Override PartName="/ppt/notesSlides/notesSlide39.xml" ContentType="application/vnd.openxmlformats-officedocument.presentationml.notesSlide+xml"/>
  <Override PartName="/ppt/media/image14.jpg" ContentType="image/png"/>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55"/>
  </p:notesMasterIdLst>
  <p:sldIdLst>
    <p:sldId id="257" r:id="rId2"/>
    <p:sldId id="258" r:id="rId3"/>
    <p:sldId id="332" r:id="rId4"/>
    <p:sldId id="394" r:id="rId5"/>
    <p:sldId id="340" r:id="rId6"/>
    <p:sldId id="395" r:id="rId7"/>
    <p:sldId id="396" r:id="rId8"/>
    <p:sldId id="366" r:id="rId9"/>
    <p:sldId id="342" r:id="rId10"/>
    <p:sldId id="345" r:id="rId11"/>
    <p:sldId id="365" r:id="rId12"/>
    <p:sldId id="341" r:id="rId13"/>
    <p:sldId id="378" r:id="rId14"/>
    <p:sldId id="347" r:id="rId15"/>
    <p:sldId id="389" r:id="rId16"/>
    <p:sldId id="390" r:id="rId17"/>
    <p:sldId id="391" r:id="rId18"/>
    <p:sldId id="403" r:id="rId19"/>
    <p:sldId id="350" r:id="rId20"/>
    <p:sldId id="318" r:id="rId21"/>
    <p:sldId id="388" r:id="rId22"/>
    <p:sldId id="379" r:id="rId23"/>
    <p:sldId id="343" r:id="rId24"/>
    <p:sldId id="339" r:id="rId25"/>
    <p:sldId id="387" r:id="rId26"/>
    <p:sldId id="358" r:id="rId27"/>
    <p:sldId id="393" r:id="rId28"/>
    <p:sldId id="392" r:id="rId29"/>
    <p:sldId id="351" r:id="rId30"/>
    <p:sldId id="386" r:id="rId31"/>
    <p:sldId id="401" r:id="rId32"/>
    <p:sldId id="402" r:id="rId33"/>
    <p:sldId id="400" r:id="rId34"/>
    <p:sldId id="368" r:id="rId35"/>
    <p:sldId id="369" r:id="rId36"/>
    <p:sldId id="382" r:id="rId37"/>
    <p:sldId id="385" r:id="rId38"/>
    <p:sldId id="383" r:id="rId39"/>
    <p:sldId id="384" r:id="rId40"/>
    <p:sldId id="380" r:id="rId41"/>
    <p:sldId id="377" r:id="rId42"/>
    <p:sldId id="381" r:id="rId43"/>
    <p:sldId id="405" r:id="rId44"/>
    <p:sldId id="404" r:id="rId45"/>
    <p:sldId id="397" r:id="rId46"/>
    <p:sldId id="399" r:id="rId47"/>
    <p:sldId id="354" r:id="rId48"/>
    <p:sldId id="375" r:id="rId49"/>
    <p:sldId id="376" r:id="rId50"/>
    <p:sldId id="263" r:id="rId51"/>
    <p:sldId id="360" r:id="rId52"/>
    <p:sldId id="361" r:id="rId53"/>
    <p:sldId id="36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wagata Pramanik" initials="SP" lastIdx="2" clrIdx="0">
    <p:extLst>
      <p:ext uri="{19B8F6BF-5375-455C-9EA6-DF929625EA0E}">
        <p15:presenceInfo xmlns:p15="http://schemas.microsoft.com/office/powerpoint/2012/main" userId="e952c9cc196673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55823" autoAdjust="0"/>
  </p:normalViewPr>
  <p:slideViewPr>
    <p:cSldViewPr snapToGrid="0">
      <p:cViewPr varScale="1">
        <p:scale>
          <a:sx n="37" d="100"/>
          <a:sy n="37" d="100"/>
        </p:scale>
        <p:origin x="182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8A732-A302-4864-88AB-B4A21917C298}"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20073A-D494-40E1-99D5-9D38DD8E94BC}" type="slidenum">
              <a:rPr lang="en-US" smtClean="0"/>
              <a:t>‹#›</a:t>
            </a:fld>
            <a:endParaRPr lang="en-US"/>
          </a:p>
        </p:txBody>
      </p:sp>
    </p:spTree>
    <p:extLst>
      <p:ext uri="{BB962C8B-B14F-4D97-AF65-F5344CB8AC3E}">
        <p14:creationId xmlns:p14="http://schemas.microsoft.com/office/powerpoint/2010/main" val="3717893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Pts val="1100"/>
              <a:buFontTx/>
              <a:buNone/>
              <a:tabLst/>
              <a:defRPr/>
            </a:pPr>
            <a:r>
              <a:rPr lang="en-US" sz="1200" kern="1200" dirty="0">
                <a:solidFill>
                  <a:schemeClr val="tx1"/>
                </a:solidFill>
                <a:effectLst/>
                <a:latin typeface="+mn-lt"/>
                <a:ea typeface="+mn-ea"/>
                <a:cs typeface="+mn-cs"/>
              </a:rPr>
              <a:t>Today I will be talking about Energy-Accuracy Tradeoffs in Neuromorphic vs Time-Series Forecasting.</a:t>
            </a:r>
          </a:p>
          <a:p>
            <a:pPr marL="0" lvl="0" indent="0" algn="l" rtl="0">
              <a:lnSpc>
                <a:spcPct val="100000"/>
              </a:lnSpc>
              <a:spcBef>
                <a:spcPts val="0"/>
              </a:spcBef>
              <a:spcAft>
                <a:spcPts val="0"/>
              </a:spcAft>
              <a:buSzPts val="1100"/>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Giving an overview of what this presentation contains: I’ll give an introduction to neural network concepts and a literature review of how I got to my SNN and ANN architectures. I get into these architectures and introduce the datasets used to test them. Next, I’ll go over how these architectures are evaluated after testing with these datasets including the energy consumption of these models. Later, the results of the datasets with all the architectures are looked at and comparisons of these architectures are made with previous work on </a:t>
            </a:r>
            <a:r>
              <a:rPr lang="en-US" sz="1200" kern="1200" dirty="0" err="1">
                <a:solidFill>
                  <a:schemeClr val="tx1"/>
                </a:solidFill>
                <a:effectLst/>
                <a:latin typeface="+mn-lt"/>
                <a:ea typeface="+mn-ea"/>
                <a:cs typeface="+mn-cs"/>
              </a:rPr>
              <a:t>Loihi</a:t>
            </a:r>
            <a:r>
              <a:rPr lang="en-US" sz="1200" kern="1200" dirty="0">
                <a:solidFill>
                  <a:schemeClr val="tx1"/>
                </a:solidFill>
                <a:effectLst/>
                <a:latin typeface="+mn-lt"/>
                <a:ea typeface="+mn-ea"/>
                <a:cs typeface="+mn-cs"/>
              </a:rPr>
              <a:t> 2 and GPU platforms. Conclusions are drawn and the presentation is wrapped up with future works and current updates.</a:t>
            </a:r>
          </a:p>
        </p:txBody>
      </p:sp>
      <p:sp>
        <p:nvSpPr>
          <p:cNvPr id="88" name="Google Shape;8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7C926D06-5F74-82B6-37F7-5C334AA37FA2}"/>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A41F27DE-0DCA-E6E0-3260-A803AD6706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36F8A40D-0C12-55D9-9067-E468EFEDC9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I’ll discuss already known literature about Spiking Neural Networks or SNNs and how they’ve been deployed on Intel </a:t>
            </a:r>
            <a:r>
              <a:rPr lang="en-US" sz="1200" kern="1200" dirty="0" err="1">
                <a:solidFill>
                  <a:schemeClr val="tx1"/>
                </a:solidFill>
                <a:effectLst/>
                <a:latin typeface="+mn-lt"/>
                <a:ea typeface="+mn-ea"/>
                <a:cs typeface="+mn-cs"/>
              </a:rPr>
              <a:t>Loihi</a:t>
            </a:r>
            <a:r>
              <a:rPr lang="en-US" sz="1200" kern="1200" dirty="0">
                <a:solidFill>
                  <a:schemeClr val="tx1"/>
                </a:solidFill>
                <a:effectLst/>
                <a:latin typeface="+mn-lt"/>
                <a:ea typeface="+mn-ea"/>
                <a:cs typeface="+mn-cs"/>
              </a:rPr>
              <a:t> Neuromorphic Hardware and how they have been used for classification and event-driven datasets by reviewing their literature studies and highlight the difficulties of SNN. I introduce the concept of what a </a:t>
            </a:r>
            <a:r>
              <a:rPr lang="en-US" sz="1200" kern="1200" dirty="0" err="1">
                <a:solidFill>
                  <a:schemeClr val="tx1"/>
                </a:solidFill>
                <a:effectLst/>
                <a:latin typeface="+mn-lt"/>
                <a:ea typeface="+mn-ea"/>
                <a:cs typeface="+mn-cs"/>
              </a:rPr>
              <a:t>RingBuffer</a:t>
            </a:r>
            <a:r>
              <a:rPr lang="en-US" sz="1200" kern="1200" dirty="0">
                <a:solidFill>
                  <a:schemeClr val="tx1"/>
                </a:solidFill>
                <a:effectLst/>
                <a:latin typeface="+mn-lt"/>
                <a:ea typeface="+mn-ea"/>
                <a:cs typeface="+mn-cs"/>
              </a:rPr>
              <a:t> is and how I got to the </a:t>
            </a:r>
            <a:r>
              <a:rPr lang="en-US" sz="1200" kern="1200" dirty="0" err="1">
                <a:solidFill>
                  <a:schemeClr val="tx1"/>
                </a:solidFill>
                <a:effectLst/>
                <a:latin typeface="+mn-lt"/>
                <a:ea typeface="+mn-ea"/>
                <a:cs typeface="+mn-cs"/>
              </a:rPr>
              <a:t>RingBuffer</a:t>
            </a:r>
            <a:r>
              <a:rPr lang="en-US" sz="1200" kern="1200" dirty="0">
                <a:solidFill>
                  <a:schemeClr val="tx1"/>
                </a:solidFill>
                <a:effectLst/>
                <a:latin typeface="+mn-lt"/>
                <a:ea typeface="+mn-ea"/>
                <a:cs typeface="+mn-cs"/>
              </a:rPr>
              <a:t> SNN (</a:t>
            </a:r>
            <a:r>
              <a:rPr lang="en-US" sz="1200" kern="1200" dirty="0" err="1">
                <a:solidFill>
                  <a:schemeClr val="tx1"/>
                </a:solidFill>
                <a:effectLst/>
                <a:latin typeface="+mn-lt"/>
                <a:ea typeface="+mn-ea"/>
                <a:cs typeface="+mn-cs"/>
              </a:rPr>
              <a:t>RingSNN</a:t>
            </a:r>
            <a:r>
              <a:rPr lang="en-US" sz="1200" kern="1200" dirty="0">
                <a:solidFill>
                  <a:schemeClr val="tx1"/>
                </a:solidFill>
                <a:effectLst/>
                <a:latin typeface="+mn-lt"/>
                <a:ea typeface="+mn-ea"/>
                <a:cs typeface="+mn-cs"/>
              </a:rPr>
              <a:t>) model and the contributions behind it. </a:t>
            </a:r>
            <a:endParaRPr b="0" dirty="0"/>
          </a:p>
        </p:txBody>
      </p:sp>
    </p:spTree>
    <p:extLst>
      <p:ext uri="{BB962C8B-B14F-4D97-AF65-F5344CB8AC3E}">
        <p14:creationId xmlns:p14="http://schemas.microsoft.com/office/powerpoint/2010/main" val="2779177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234BD2D8-BBE0-A93C-40DC-58CB98E855F3}"/>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03B786C4-6196-E180-8D05-7CCE2B6DC3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08B740CD-C366-19DA-C00F-D90C6FB783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(Read off SNN Overview. Then mention the following.).</a:t>
            </a:r>
          </a:p>
          <a:p>
            <a:pPr marL="171450" indent="-171450">
              <a:buFont typeface="Arial" panose="020B0604020202020204" pitchFamily="34" charset="0"/>
              <a:buChar char="•"/>
            </a:pPr>
            <a:r>
              <a:rPr lang="en-US" b="0" dirty="0"/>
              <a:t>(2</a:t>
            </a:r>
            <a:r>
              <a:rPr lang="en-US" b="0" baseline="30000" dirty="0"/>
              <a:t>nd</a:t>
            </a:r>
            <a:r>
              <a:rPr lang="en-US" b="0" dirty="0"/>
              <a:t> Bullet Pt.): Mention “</a:t>
            </a:r>
            <a:r>
              <a:rPr lang="en-US" sz="1200" kern="100" dirty="0">
                <a:latin typeface="Calibri" panose="020F0502020204030204" pitchFamily="34" charset="0"/>
                <a:ea typeface="Calibri" panose="020F0502020204030204" pitchFamily="34" charset="0"/>
                <a:cs typeface="Times New Roman" panose="02020603050405020304" pitchFamily="18" charset="0"/>
              </a:rPr>
              <a:t>making them well‑suited for capturing dynamic patterns and long‑term dependencies in time‑series signals”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00" dirty="0">
                <a:latin typeface="Calibri" panose="020F0502020204030204" pitchFamily="34" charset="0"/>
                <a:cs typeface="Times New Roman" panose="02020603050405020304" pitchFamily="18" charset="0"/>
              </a:rPr>
              <a:t>(3</a:t>
            </a:r>
            <a:r>
              <a:rPr lang="en-US" sz="1200" b="0" kern="100" baseline="30000" dirty="0">
                <a:latin typeface="Calibri" panose="020F0502020204030204" pitchFamily="34" charset="0"/>
                <a:cs typeface="Times New Roman" panose="02020603050405020304" pitchFamily="18" charset="0"/>
              </a:rPr>
              <a:t>rd</a:t>
            </a:r>
            <a:r>
              <a:rPr lang="en-US" sz="1200" b="0" kern="100" dirty="0">
                <a:latin typeface="Calibri" panose="020F0502020204030204" pitchFamily="34" charset="0"/>
                <a:cs typeface="Times New Roman" panose="02020603050405020304" pitchFamily="18" charset="0"/>
              </a:rPr>
              <a:t> Bullet Pt): </a:t>
            </a:r>
            <a:r>
              <a:rPr lang="en-US" sz="1200" dirty="0">
                <a:highlight>
                  <a:srgbClr val="FFFF00"/>
                </a:highlight>
              </a:rPr>
              <a:t>Their ability to operate on infrequent events combined with energy-efficiency makes them suitable for real‑world forecasting tasks on resource‑constrained devices</a:t>
            </a:r>
          </a:p>
          <a:p>
            <a:endParaRPr b="0" dirty="0"/>
          </a:p>
        </p:txBody>
      </p:sp>
    </p:spTree>
    <p:extLst>
      <p:ext uri="{BB962C8B-B14F-4D97-AF65-F5344CB8AC3E}">
        <p14:creationId xmlns:p14="http://schemas.microsoft.com/office/powerpoint/2010/main" val="2612905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CDBC9CF-D942-7910-57DB-750D56DA6573}"/>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2A240F13-90C7-63AF-BD2D-E5BA29D65F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41DCADF8-C80F-8A46-6378-20F31BB1AB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(Read off Slides for </a:t>
            </a:r>
            <a:r>
              <a:rPr lang="en-US" b="0" dirty="0" err="1"/>
              <a:t>Loihi</a:t>
            </a:r>
            <a:r>
              <a:rPr lang="en-US" b="0" dirty="0"/>
              <a:t> 2 Overview)</a:t>
            </a:r>
          </a:p>
          <a:p>
            <a:r>
              <a:rPr lang="en-US" b="0" dirty="0"/>
              <a:t>(After mentioning bullet pts.): I’ll go over in more detail about the SNN implementations on </a:t>
            </a:r>
            <a:r>
              <a:rPr lang="en-US" b="0" dirty="0" err="1"/>
              <a:t>Loihi</a:t>
            </a:r>
            <a:r>
              <a:rPr lang="en-US" b="0" dirty="0"/>
              <a:t> 2 and the recent literature that I’ve looked at with regards to </a:t>
            </a:r>
            <a:r>
              <a:rPr lang="en-US" b="0" dirty="0" err="1"/>
              <a:t>Loihi</a:t>
            </a:r>
            <a:r>
              <a:rPr lang="en-US" b="0" dirty="0"/>
              <a:t> 2  and hardware-validated benchmarking protocols.</a:t>
            </a:r>
            <a:endParaRPr b="0" dirty="0"/>
          </a:p>
        </p:txBody>
      </p:sp>
    </p:spTree>
    <p:extLst>
      <p:ext uri="{BB962C8B-B14F-4D97-AF65-F5344CB8AC3E}">
        <p14:creationId xmlns:p14="http://schemas.microsoft.com/office/powerpoint/2010/main" val="4255474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E68FF255-FD28-5E96-D44B-627F113721DF}"/>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06C6B0DA-AFB7-6F5D-F0AA-79139DC164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42DB55FD-70C8-B718-F50D-4A554A4B1E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These slides highlights the literature that was inspired for this work. Going over these works </a:t>
            </a:r>
            <a:r>
              <a:rPr lang="en-US" b="0" dirty="0"/>
              <a:t>(Read off Slides for Literature Review)</a:t>
            </a:r>
            <a:endParaRPr b="0" dirty="0"/>
          </a:p>
        </p:txBody>
      </p:sp>
    </p:spTree>
    <p:extLst>
      <p:ext uri="{BB962C8B-B14F-4D97-AF65-F5344CB8AC3E}">
        <p14:creationId xmlns:p14="http://schemas.microsoft.com/office/powerpoint/2010/main" val="996043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79810129-4C8F-E225-EEDD-3A16D4386FF7}"/>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6CAE9BA3-CCB0-7A9C-560F-E6E9FB3385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630DF6FC-5E84-1DD0-51C0-703CDCE969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slides highlights the literature that was inspired for this work. Going over these works </a:t>
            </a:r>
            <a:r>
              <a:rPr lang="en-US" b="0" dirty="0"/>
              <a:t>(Read off Slides for Literature Review)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Tree>
    <p:extLst>
      <p:ext uri="{BB962C8B-B14F-4D97-AF65-F5344CB8AC3E}">
        <p14:creationId xmlns:p14="http://schemas.microsoft.com/office/powerpoint/2010/main" val="876061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B72F79CE-3F86-D7C8-24E9-85C37E31796E}"/>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97035A4A-FB19-8626-32F9-0BE9519F00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7627362E-4164-8B9C-BA64-407F6737CC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That brings me to the problem statement of our work. (Read off Problem Statement.)</a:t>
            </a:r>
            <a:endParaRPr b="0" dirty="0"/>
          </a:p>
        </p:txBody>
      </p:sp>
    </p:spTree>
    <p:extLst>
      <p:ext uri="{BB962C8B-B14F-4D97-AF65-F5344CB8AC3E}">
        <p14:creationId xmlns:p14="http://schemas.microsoft.com/office/powerpoint/2010/main" val="3964589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CEADC35D-E4F1-7456-72EA-DAE1967AA1E5}"/>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E1EBF7C9-0635-3983-2796-DBBA68931A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E6556491-5F26-15B9-F8E9-3BBC0A02CC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Now I want to introduce </a:t>
            </a:r>
            <a:r>
              <a:rPr lang="en-US" sz="1200" kern="1200" dirty="0" err="1">
                <a:solidFill>
                  <a:schemeClr val="tx1"/>
                </a:solidFill>
                <a:effectLst/>
                <a:latin typeface="+mn-lt"/>
                <a:ea typeface="+mn-ea"/>
                <a:cs typeface="+mn-cs"/>
              </a:rPr>
              <a:t>RingBuffer</a:t>
            </a:r>
            <a:r>
              <a:rPr lang="en-US" sz="1200" kern="1200" dirty="0">
                <a:solidFill>
                  <a:schemeClr val="tx1"/>
                </a:solidFill>
                <a:effectLst/>
                <a:latin typeface="+mn-lt"/>
                <a:ea typeface="+mn-ea"/>
                <a:cs typeface="+mn-cs"/>
              </a:rPr>
              <a:t>. </a:t>
            </a:r>
            <a:r>
              <a:rPr lang="en-US" b="0" dirty="0"/>
              <a:t>(Read off and elaborate </a:t>
            </a:r>
            <a:r>
              <a:rPr lang="en-US" b="0" dirty="0" err="1"/>
              <a:t>RingBuffer</a:t>
            </a:r>
            <a:r>
              <a:rPr lang="en-US" b="0" dirty="0"/>
              <a:t> Concept)</a:t>
            </a:r>
          </a:p>
          <a:p>
            <a:pPr marL="0" indent="0">
              <a:buFont typeface="Arial" panose="020B0604020202020204" pitchFamily="34" charset="0"/>
              <a:buNone/>
            </a:pPr>
            <a:r>
              <a:rPr lang="en-US" b="0" dirty="0"/>
              <a:t>((4</a:t>
            </a:r>
            <a:r>
              <a:rPr lang="en-US" b="0" baseline="30000" dirty="0"/>
              <a:t>th</a:t>
            </a:r>
            <a:r>
              <a:rPr lang="en-US" b="0" dirty="0"/>
              <a:t> Bullet Pt):  (</a:t>
            </a:r>
            <a:endParaRPr lang="en-US" dirty="0">
              <a:effectLst/>
            </a:endParaRPr>
          </a:p>
          <a:p>
            <a:pPr marL="0" indent="0">
              <a:buFont typeface="Arial" panose="020B0604020202020204" pitchFamily="34" charset="0"/>
              <a:buNone/>
            </a:pPr>
            <a:r>
              <a:rPr lang="en-US" dirty="0">
                <a:effectLst/>
              </a:rPr>
              <a:t>Why is my adaption of </a:t>
            </a:r>
            <a:r>
              <a:rPr lang="en-US" dirty="0" err="1">
                <a:effectLst/>
              </a:rPr>
              <a:t>RingBuffers</a:t>
            </a:r>
            <a:r>
              <a:rPr lang="en-US" dirty="0">
                <a:effectLst/>
              </a:rPr>
              <a:t> for regression-style Time-Series Analysis different from synaptic‑delay (how long a spike “waits” before it is delivered) </a:t>
            </a:r>
            <a:r>
              <a:rPr lang="en-US" dirty="0" err="1">
                <a:effectLst/>
              </a:rPr>
              <a:t>RingBuffers</a:t>
            </a:r>
            <a:r>
              <a:rPr lang="en-US" dirty="0">
                <a:effectLst/>
              </a:rPr>
              <a:t> in the above-mentioned papers? </a:t>
            </a:r>
          </a:p>
          <a:p>
            <a:pPr marL="0" indent="0">
              <a:buFont typeface="Arial" panose="020B0604020202020204" pitchFamily="34" charset="0"/>
              <a:buNone/>
            </a:pPr>
            <a:r>
              <a:rPr lang="en-US" dirty="0">
                <a:effectLst/>
              </a:rPr>
              <a:t>Synaptic‑delay </a:t>
            </a:r>
            <a:r>
              <a:rPr lang="en-US" dirty="0" err="1">
                <a:effectLst/>
              </a:rPr>
              <a:t>RingBuffers</a:t>
            </a:r>
            <a:r>
              <a:rPr lang="en-US" dirty="0">
                <a:effectLst/>
              </a:rPr>
              <a:t> (prior work) live inside synapses, implement axonal delays, do not encode input, do not perform sliding windows, do not generate spike trains from raw data. </a:t>
            </a:r>
          </a:p>
          <a:p>
            <a:pPr marL="0" indent="0">
              <a:buFont typeface="Arial" panose="020B0604020202020204" pitchFamily="34" charset="0"/>
              <a:buNone/>
            </a:pPr>
            <a:r>
              <a:rPr lang="en-US" dirty="0" err="1">
                <a:effectLst/>
              </a:rPr>
              <a:t>RingBuffer</a:t>
            </a:r>
            <a:r>
              <a:rPr lang="en-US" dirty="0">
                <a:effectLst/>
              </a:rPr>
              <a:t> (</a:t>
            </a:r>
            <a:r>
              <a:rPr lang="en-US" dirty="0" err="1">
                <a:effectLst/>
              </a:rPr>
              <a:t>RingSNN</a:t>
            </a:r>
            <a:r>
              <a:rPr lang="en-US" dirty="0">
                <a:effectLst/>
              </a:rPr>
              <a:t>) lives before the network, performs temporal encoding, generates spike trains from input windows, provides structured temporal features, and acts as the SNN equivalent of a Conv1D sliding window)</a:t>
            </a:r>
            <a:endParaRPr lang="en-US" dirty="0"/>
          </a:p>
          <a:p>
            <a:pPr marL="171450" indent="-171450">
              <a:buFont typeface="Arial" panose="020B0604020202020204" pitchFamily="34" charset="0"/>
              <a:buChar char="•"/>
            </a:pPr>
            <a:endParaRPr lang="en-US" b="0" dirty="0"/>
          </a:p>
          <a:p>
            <a:r>
              <a:rPr lang="en-US" b="0" dirty="0"/>
              <a:t>(4</a:t>
            </a:r>
            <a:r>
              <a:rPr lang="en-US" b="0" baseline="30000" dirty="0"/>
              <a:t>th</a:t>
            </a:r>
            <a:r>
              <a:rPr lang="en-US" b="0" dirty="0"/>
              <a:t> sub-bullets):</a:t>
            </a:r>
          </a:p>
          <a:p>
            <a:pPr lvl="0"/>
            <a:r>
              <a:rPr lang="en-US" sz="1200" b="1" kern="1200" dirty="0">
                <a:solidFill>
                  <a:schemeClr val="tx1"/>
                </a:solidFill>
                <a:effectLst/>
                <a:latin typeface="+mn-lt"/>
                <a:ea typeface="+mn-ea"/>
                <a:cs typeface="+mn-cs"/>
              </a:rPr>
              <a:t>Data Preprocessing and Augmentation: </a:t>
            </a:r>
            <a:r>
              <a:rPr lang="en-US" sz="1200" kern="1200" dirty="0">
                <a:solidFill>
                  <a:schemeClr val="tx1"/>
                </a:solidFill>
                <a:effectLst/>
                <a:latin typeface="+mn-lt"/>
                <a:ea typeface="+mn-ea"/>
                <a:cs typeface="+mn-cs"/>
              </a:rPr>
              <a:t>When training a neural network with a continuous stream of data like in (sensor readings, audio, video frames), a ring buffer can temporarily store a window of recent data for pre-processing before feeding it to the network. This ensures the network always sees the most recent and relevant data without requiring large memory allocations.</a:t>
            </a:r>
          </a:p>
          <a:p>
            <a:pPr lvl="0"/>
            <a:r>
              <a:rPr lang="en-US" sz="1200" b="1" kern="1200" dirty="0">
                <a:solidFill>
                  <a:schemeClr val="tx1"/>
                </a:solidFill>
                <a:effectLst/>
                <a:latin typeface="+mn-lt"/>
                <a:ea typeface="+mn-ea"/>
                <a:cs typeface="+mn-cs"/>
              </a:rPr>
              <a:t>Experience Replay in Reinforcement Learning: </a:t>
            </a:r>
            <a:r>
              <a:rPr lang="en-US" sz="1200" kern="1200" dirty="0">
                <a:solidFill>
                  <a:schemeClr val="tx1"/>
                </a:solidFill>
                <a:effectLst/>
                <a:latin typeface="+mn-lt"/>
                <a:ea typeface="+mn-ea"/>
                <a:cs typeface="+mn-cs"/>
              </a:rPr>
              <a:t>In reinforcement learning, ring buffers are used as experience replay buffers. These buffers store past experiences such as state, action, reward, and next state that an agent has encountered. During training, the agent samples mini-batches of experiences from buffers to learn from a diverse set of past interactions, improving stability and convergence.</a:t>
            </a:r>
          </a:p>
          <a:p>
            <a:pPr lvl="0"/>
            <a:r>
              <a:rPr lang="en-US" sz="1200" b="1" kern="1200" dirty="0">
                <a:solidFill>
                  <a:schemeClr val="tx1"/>
                </a:solidFill>
                <a:effectLst/>
                <a:latin typeface="+mn-lt"/>
                <a:ea typeface="+mn-ea"/>
                <a:cs typeface="+mn-cs"/>
              </a:rPr>
              <a:t>Logging and Monitoring</a:t>
            </a:r>
            <a:r>
              <a:rPr lang="en-US" sz="1200" kern="1200" dirty="0">
                <a:solidFill>
                  <a:schemeClr val="tx1"/>
                </a:solidFill>
                <a:effectLst/>
                <a:latin typeface="+mn-lt"/>
                <a:ea typeface="+mn-ea"/>
                <a:cs typeface="+mn-cs"/>
              </a:rPr>
              <a:t>: Ring buffers can be used to store recent logs or performance metrics related to the neural network's operation, allowing for efficient monitoring and debugging without overwhelming system resources with excessive log storage.</a:t>
            </a:r>
          </a:p>
          <a:p>
            <a:pPr lvl="0"/>
            <a:r>
              <a:rPr lang="en-US" sz="1200" b="1" kern="1200" dirty="0">
                <a:solidFill>
                  <a:schemeClr val="tx1"/>
                </a:solidFill>
                <a:effectLst/>
                <a:latin typeface="+mn-lt"/>
                <a:ea typeface="+mn-ea"/>
                <a:cs typeface="+mn-cs"/>
              </a:rPr>
              <a:t>Real-time Inference with Limited Memory: </a:t>
            </a:r>
            <a:r>
              <a:rPr lang="en-US" sz="1200" kern="1200" dirty="0">
                <a:solidFill>
                  <a:schemeClr val="tx1"/>
                </a:solidFill>
                <a:effectLst/>
                <a:latin typeface="+mn-lt"/>
                <a:ea typeface="+mn-ea"/>
                <a:cs typeface="+mn-cs"/>
              </a:rPr>
              <a:t>In embedded systems or devices with limited memory, a ring buffer can manage the input data for real-time inference, ensuring that only the necessary recent data is held in memory for processing by the trained neural network.</a:t>
            </a:r>
          </a:p>
          <a:p>
            <a:pPr lvl="0"/>
            <a:endParaRPr lang="en-US" sz="1200" kern="1200" dirty="0">
              <a:solidFill>
                <a:schemeClr val="tx1"/>
              </a:solidFill>
              <a:effectLst/>
              <a:latin typeface="+mn-lt"/>
              <a:ea typeface="+mn-ea"/>
              <a:cs typeface="+mn-cs"/>
            </a:endParaRPr>
          </a:p>
          <a:p>
            <a:endParaRPr b="0" dirty="0"/>
          </a:p>
        </p:txBody>
      </p:sp>
    </p:spTree>
    <p:extLst>
      <p:ext uri="{BB962C8B-B14F-4D97-AF65-F5344CB8AC3E}">
        <p14:creationId xmlns:p14="http://schemas.microsoft.com/office/powerpoint/2010/main" val="1402385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F55DFE0E-CF54-BF0F-1FC6-0E1CAC9E8A25}"/>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72CC23E6-D0D0-F83E-ED58-14134B40C7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6BD1101C-4B94-82AD-D557-E6FC3B70BB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(Read off and elaborate </a:t>
            </a:r>
            <a:r>
              <a:rPr lang="en-US" b="0" dirty="0" err="1"/>
              <a:t>RingBuffer</a:t>
            </a:r>
            <a:r>
              <a:rPr lang="en-US" b="0" dirty="0"/>
              <a:t> Concept)</a:t>
            </a:r>
          </a:p>
          <a:p>
            <a:pPr lvl="0"/>
            <a:r>
              <a:rPr lang="en-US" sz="1200" kern="1200" dirty="0">
                <a:solidFill>
                  <a:schemeClr val="tx1"/>
                </a:solidFill>
                <a:effectLst/>
                <a:latin typeface="+mn-lt"/>
                <a:ea typeface="+mn-ea"/>
                <a:cs typeface="+mn-cs"/>
              </a:rPr>
              <a:t>(1</a:t>
            </a:r>
            <a:r>
              <a:rPr lang="en-US" sz="1200" kern="1200" baseline="30000" dirty="0">
                <a:solidFill>
                  <a:schemeClr val="tx1"/>
                </a:solidFill>
                <a:effectLst/>
                <a:latin typeface="+mn-lt"/>
                <a:ea typeface="+mn-ea"/>
                <a:cs typeface="+mn-cs"/>
              </a:rPr>
              <a:t>st</a:t>
            </a:r>
            <a:r>
              <a:rPr lang="en-US" sz="1200" kern="1200" dirty="0">
                <a:solidFill>
                  <a:schemeClr val="tx1"/>
                </a:solidFill>
                <a:effectLst/>
                <a:latin typeface="+mn-lt"/>
                <a:ea typeface="+mn-ea"/>
                <a:cs typeface="+mn-cs"/>
              </a:rPr>
              <a:t> sub-bullet of 1</a:t>
            </a:r>
            <a:r>
              <a:rPr lang="en-US" sz="1200" kern="1200" baseline="30000" dirty="0">
                <a:solidFill>
                  <a:schemeClr val="tx1"/>
                </a:solidFill>
                <a:effectLst/>
                <a:latin typeface="+mn-lt"/>
                <a:ea typeface="+mn-ea"/>
                <a:cs typeface="+mn-cs"/>
              </a:rPr>
              <a:t>st</a:t>
            </a:r>
            <a:r>
              <a:rPr lang="en-US" sz="1200" kern="1200" dirty="0">
                <a:solidFill>
                  <a:schemeClr val="tx1"/>
                </a:solidFill>
                <a:effectLst/>
                <a:latin typeface="+mn-lt"/>
                <a:ea typeface="+mn-ea"/>
                <a:cs typeface="+mn-cs"/>
              </a:rPr>
              <a:t> Bullet of Slide 10): </a:t>
            </a:r>
          </a:p>
          <a:p>
            <a:pPr lvl="1"/>
            <a:r>
              <a:rPr lang="en-US" sz="1200" kern="1200" dirty="0">
                <a:solidFill>
                  <a:schemeClr val="tx1"/>
                </a:solidFill>
                <a:effectLst/>
                <a:latin typeface="+mn-lt"/>
                <a:ea typeface="+mn-ea"/>
                <a:cs typeface="+mn-cs"/>
              </a:rPr>
              <a:t>Fixed Memory Footprint: A </a:t>
            </a:r>
            <a:r>
              <a:rPr lang="en-US" sz="1200" b="1" kern="1200" dirty="0" err="1">
                <a:solidFill>
                  <a:schemeClr val="tx1"/>
                </a:solidFill>
                <a:effectLst/>
                <a:latin typeface="+mn-lt"/>
                <a:ea typeface="+mn-ea"/>
                <a:cs typeface="+mn-cs"/>
              </a:rPr>
              <a:t>RingBuffer</a:t>
            </a:r>
            <a:r>
              <a:rPr lang="en-US" sz="1200" kern="1200" dirty="0">
                <a:solidFill>
                  <a:schemeClr val="tx1"/>
                </a:solidFill>
                <a:effectLst/>
                <a:latin typeface="+mn-lt"/>
                <a:ea typeface="+mn-ea"/>
                <a:cs typeface="+mn-cs"/>
              </a:rPr>
              <a:t> always uses </a:t>
            </a:r>
            <a:r>
              <a:rPr lang="en-US" sz="1200" b="1" kern="1200" dirty="0">
                <a:solidFill>
                  <a:schemeClr val="tx1"/>
                </a:solidFill>
                <a:effectLst/>
                <a:latin typeface="+mn-lt"/>
                <a:ea typeface="+mn-ea"/>
                <a:cs typeface="+mn-cs"/>
              </a:rPr>
              <a:t>the same amount of memory</a:t>
            </a:r>
            <a:r>
              <a:rPr lang="en-US" sz="1200" kern="1200" dirty="0">
                <a:solidFill>
                  <a:schemeClr val="tx1"/>
                </a:solidFill>
                <a:effectLst/>
                <a:latin typeface="+mn-lt"/>
                <a:ea typeface="+mn-ea"/>
                <a:cs typeface="+mn-cs"/>
              </a:rPr>
              <a:t>, no matter how much data flows through it</a:t>
            </a:r>
          </a:p>
          <a:p>
            <a:pPr lvl="1"/>
            <a:r>
              <a:rPr lang="en-US" sz="1200" kern="1200" dirty="0">
                <a:solidFill>
                  <a:schemeClr val="tx1"/>
                </a:solidFill>
                <a:effectLst/>
                <a:latin typeface="+mn-lt"/>
                <a:ea typeface="+mn-ea"/>
                <a:cs typeface="+mn-cs"/>
              </a:rPr>
              <a:t>FIFO: Quite common in data structures like queues</a:t>
            </a:r>
          </a:p>
          <a:p>
            <a:pPr lvl="0"/>
            <a:r>
              <a:rPr lang="en-US" sz="1200" kern="1200" dirty="0">
                <a:solidFill>
                  <a:schemeClr val="tx1"/>
                </a:solidFill>
                <a:effectLst/>
                <a:latin typeface="+mn-lt"/>
                <a:ea typeface="+mn-ea"/>
                <a:cs typeface="+mn-cs"/>
              </a:rPr>
              <a:t>(2</a:t>
            </a:r>
            <a:r>
              <a:rPr lang="en-US" sz="1200" kern="1200" baseline="30000" dirty="0">
                <a:solidFill>
                  <a:schemeClr val="tx1"/>
                </a:solidFill>
                <a:effectLst/>
                <a:latin typeface="+mn-lt"/>
                <a:ea typeface="+mn-ea"/>
                <a:cs typeface="+mn-cs"/>
              </a:rPr>
              <a:t>nd</a:t>
            </a:r>
            <a:r>
              <a:rPr lang="en-US" sz="1200" kern="1200" dirty="0">
                <a:solidFill>
                  <a:schemeClr val="tx1"/>
                </a:solidFill>
                <a:effectLst/>
                <a:latin typeface="+mn-lt"/>
                <a:ea typeface="+mn-ea"/>
                <a:cs typeface="+mn-cs"/>
              </a:rPr>
              <a:t> Bullet in Slide 10): In our work, it has been adopted for time-series forecasting for the first time.</a:t>
            </a:r>
          </a:p>
          <a:p>
            <a:endParaRPr b="0" dirty="0"/>
          </a:p>
        </p:txBody>
      </p:sp>
    </p:spTree>
    <p:extLst>
      <p:ext uri="{BB962C8B-B14F-4D97-AF65-F5344CB8AC3E}">
        <p14:creationId xmlns:p14="http://schemas.microsoft.com/office/powerpoint/2010/main" val="662474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D4BBA4A9-994C-9FB6-6AD8-B74BEEE10EF5}"/>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2AEB6D66-B272-5DF2-7BBD-AB3C79242D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11CB751C-8B52-AF79-0C6F-A70D6C9DAD9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(Explain how a Ring Buffer or Circular Buffer works.): </a:t>
            </a:r>
          </a:p>
          <a:p>
            <a:r>
              <a:rPr lang="en-US" b="0" dirty="0"/>
              <a:t>This is a visual diagram of the </a:t>
            </a:r>
            <a:r>
              <a:rPr lang="en-US" b="0" dirty="0" err="1"/>
              <a:t>RingBuffer</a:t>
            </a:r>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Head and Tail: There is a head and tail pointer where the head extracts the data and the tail inserts the data. The tail will insert the data while the head reads the data. The first diagram on the left is a static representation of the </a:t>
            </a:r>
            <a:r>
              <a:rPr lang="en-US" b="0" dirty="0" err="1"/>
              <a:t>RingBuffer</a:t>
            </a:r>
            <a:r>
              <a:rPr lang="en-US" b="0" dirty="0"/>
              <a:t> Concept. </a:t>
            </a:r>
            <a:r>
              <a:rPr lang="en-US" dirty="0"/>
              <a:t>Because the head always reads the </a:t>
            </a:r>
            <a:r>
              <a:rPr lang="en-US" i="1" dirty="0"/>
              <a:t>oldest</a:t>
            </a:r>
            <a:r>
              <a:rPr lang="en-US" dirty="0"/>
              <a:t> element and the tail always writes the </a:t>
            </a:r>
            <a:r>
              <a:rPr lang="en-US" i="1" dirty="0"/>
              <a:t>newest</a:t>
            </a:r>
            <a:r>
              <a:rPr lang="en-US" dirty="0"/>
              <a:t>, the order of removal matches the order of insertion → </a:t>
            </a:r>
            <a:r>
              <a:rPr lang="en-US" b="1" dirty="0"/>
              <a:t>FIFO</a:t>
            </a:r>
            <a:r>
              <a:rPr lang="en-US" dirty="0"/>
              <a:t>.</a:t>
            </a:r>
            <a:endParaRPr lang="en-US" b="0" dirty="0"/>
          </a:p>
          <a:p>
            <a:r>
              <a:rPr lang="en-US" b="0" dirty="0"/>
              <a:t>Read and Write: Another way to look at this is through read and write pointers where one pointer will write the data in through each circle and the read pointer will read out the data written. </a:t>
            </a:r>
            <a:r>
              <a:rPr lang="en-US" dirty="0"/>
              <a:t>The read pointer always advances behind the write pointer, so the first written element is the first read </a:t>
            </a:r>
            <a:endParaRPr lang="en-US" b="0" dirty="0"/>
          </a:p>
        </p:txBody>
      </p:sp>
    </p:spTree>
    <p:extLst>
      <p:ext uri="{BB962C8B-B14F-4D97-AF65-F5344CB8AC3E}">
        <p14:creationId xmlns:p14="http://schemas.microsoft.com/office/powerpoint/2010/main" val="3099522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C8706583-7288-8BC2-B0B2-D4713C4EC00A}"/>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AF2689F6-6CD9-6D48-C6A8-B150EC88EA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8C874732-7B02-E05C-76DE-1C36BD7ED4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main contributions of our work are (Read off and elaborate on Main Contributions.) Mention that from now on, </a:t>
            </a:r>
            <a:r>
              <a:rPr lang="en-US" b="0" dirty="0" err="1"/>
              <a:t>RingBuffer</a:t>
            </a:r>
            <a:r>
              <a:rPr lang="en-US" b="0" dirty="0"/>
              <a:t>-based SNN will be referred to as </a:t>
            </a:r>
            <a:r>
              <a:rPr lang="en-US" b="0" dirty="0" err="1"/>
              <a:t>RingSNN</a:t>
            </a:r>
            <a:r>
              <a:rPr lang="en-US" b="0" dirty="0"/>
              <a:t>. Also mention end-to-end processing flow or pipeline</a:t>
            </a:r>
          </a:p>
          <a:p>
            <a:r>
              <a:rPr lang="en-US" sz="1200" kern="1200" dirty="0">
                <a:solidFill>
                  <a:schemeClr val="tx1"/>
                </a:solidFill>
                <a:effectLst/>
                <a:latin typeface="+mn-lt"/>
                <a:ea typeface="+mn-ea"/>
                <a:cs typeface="+mn-cs"/>
              </a:rPr>
              <a:t>(Items to know but NOT say except when asked):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Efficient temporal encoding means the model captures short‑term temporal patterns using sparse, event‑driven spikes instead of dense, time‑driven computation.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Edge devices are small, local computing devices that sit close to where data is generated—like sensors, meters, cameras, or wearables—and process data directly on‑site instead of sending everything to the cloud.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Internet of Things (IoT) is a network of everyday physical devices—like sensors, meters, appliances, and wearables—that collect data and connect to each other or to the internet.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Loihi</a:t>
            </a:r>
            <a:r>
              <a:rPr lang="en-US" dirty="0"/>
              <a:t> 2 was used because it provides the decomposed power states, flexibility, and measurement precision required for this work — capabilities that </a:t>
            </a:r>
            <a:r>
              <a:rPr lang="en-US" dirty="0" err="1"/>
              <a:t>Loihi</a:t>
            </a:r>
            <a:r>
              <a:rPr lang="en-US" dirty="0"/>
              <a:t> 1 does not support</a:t>
            </a:r>
            <a:endParaRPr lang="en-US" b="0" dirty="0"/>
          </a:p>
        </p:txBody>
      </p:sp>
    </p:spTree>
    <p:extLst>
      <p:ext uri="{BB962C8B-B14F-4D97-AF65-F5344CB8AC3E}">
        <p14:creationId xmlns:p14="http://schemas.microsoft.com/office/powerpoint/2010/main" val="13586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A984E9F8-B0D1-BDB6-B511-7C4F179C504E}"/>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1206DB29-391C-FF69-4074-F52815C166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EEA3DEF3-2C85-3581-A74A-8A19130D20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Now going over the rationale behind the </a:t>
            </a:r>
            <a:r>
              <a:rPr lang="en-US" b="0" dirty="0" err="1"/>
              <a:t>RingBuffer</a:t>
            </a:r>
            <a:r>
              <a:rPr lang="en-US" b="0" dirty="0"/>
              <a:t> in the SNN Architecture. (Read off and elaborate </a:t>
            </a:r>
            <a:r>
              <a:rPr lang="en-US" b="0" dirty="0" err="1"/>
              <a:t>RingSNN</a:t>
            </a:r>
            <a:r>
              <a:rPr lang="en-US" b="0" dirty="0"/>
              <a:t> Approach.)</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(2nd Bullet Pt.): Mention “it helps the network to capture temporal dependencies essential for continuous-valued predictions” after “Help maintain biologically inspired short-term memory of recent spike histories” (“streaming environments where low latency and reduced power consumption are critical” in the context refers to scenarios where data arrives continuously, decisions must be made immediately, hardware resources (power, memory, compute) are limited”)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(3rd Bullet Pt.): In contrast to conventional deep learning models, which often rely on hidden states with high computational and memory demands. </a:t>
            </a:r>
            <a:r>
              <a:rPr lang="en-US" dirty="0"/>
              <a:t>In </a:t>
            </a:r>
            <a:r>
              <a:rPr lang="en-US" dirty="0" err="1"/>
              <a:t>RingSNN</a:t>
            </a:r>
            <a:r>
              <a:rPr lang="en-US" dirty="0"/>
              <a:t>, efficient temporal representation arises because the Ring Buffer maintains short‑term history along with </a:t>
            </a:r>
            <a:r>
              <a:rPr lang="en-US" sz="1200" kern="100" dirty="0">
                <a:latin typeface="Calibri" panose="020F0502020204030204" pitchFamily="34" charset="0"/>
                <a:ea typeface="Calibri" panose="020F0502020204030204" pitchFamily="34" charset="0"/>
                <a:cs typeface="Times New Roman" panose="02020603050405020304" pitchFamily="18" charset="0"/>
              </a:rPr>
              <a:t>event-driven spike trains into numeric values </a:t>
            </a:r>
            <a:r>
              <a:rPr lang="en-US" dirty="0"/>
              <a:t>(Temporal dependencies refer to relationships in data that unfold over time—where the current value depends on past values.)</a:t>
            </a:r>
            <a:endParaRPr lang="en-US" b="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(5th Bullet Pt.): Work is focused on energy benchmarking and reproducibility, </a:t>
            </a:r>
            <a:r>
              <a:rPr lang="en-US" b="0" dirty="0" err="1"/>
              <a:t>RingBuffer</a:t>
            </a:r>
            <a:r>
              <a:rPr lang="en-US" b="0" dirty="0"/>
              <a:t> SNN is a great candidate for energy profiling and benchmarking utility,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p>
          <a:p>
            <a:endParaRPr b="0" dirty="0"/>
          </a:p>
        </p:txBody>
      </p:sp>
    </p:spTree>
    <p:extLst>
      <p:ext uri="{BB962C8B-B14F-4D97-AF65-F5344CB8AC3E}">
        <p14:creationId xmlns:p14="http://schemas.microsoft.com/office/powerpoint/2010/main" val="2643957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FF7A1DF6-EA0E-0F60-E179-DBA464632907}"/>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2A57238A-4645-2911-9A36-223C03ABFC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A4230DB7-52B2-E4A3-5251-EED4B990DA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These are the three datasets used for the </a:t>
            </a:r>
            <a:r>
              <a:rPr lang="en-US" b="0" dirty="0" err="1"/>
              <a:t>RingSNN</a:t>
            </a:r>
            <a:r>
              <a:rPr lang="en-US" b="0" dirty="0"/>
              <a:t> and ANN baseline comparisons (Solar Production, AEP Hourly Energy Consumption, and Sunspot). (Read last bullet pt.)</a:t>
            </a:r>
          </a:p>
        </p:txBody>
      </p:sp>
    </p:spTree>
    <p:extLst>
      <p:ext uri="{BB962C8B-B14F-4D97-AF65-F5344CB8AC3E}">
        <p14:creationId xmlns:p14="http://schemas.microsoft.com/office/powerpoint/2010/main" val="4122914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D4ED698C-14AF-91DF-16A9-9DD0CA3EB35F}"/>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CB24B0E2-5EB3-D83F-8325-76BCEE802C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24AA0A7E-2847-9AE0-9AFF-C970F558BF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dirty="0"/>
              <a:t>(Read from Solar Production Slides starting from 4</a:t>
            </a:r>
            <a:r>
              <a:rPr lang="en-US" sz="1200" baseline="30000" dirty="0"/>
              <a:t>th</a:t>
            </a:r>
            <a:r>
              <a:rPr lang="en-US" sz="1200" dirty="0"/>
              <a:t> bullet.)</a:t>
            </a:r>
          </a:p>
          <a:p>
            <a:r>
              <a:rPr lang="en-US" sz="1200" dirty="0"/>
              <a:t>High Temporal Fidelity means the data captures changes very precisely over time.</a:t>
            </a:r>
          </a:p>
          <a:p>
            <a:r>
              <a:rPr lang="en-US" sz="1200" dirty="0"/>
              <a:t>High Spatial Fidelity refers to how detailed the data is across space, not time.</a:t>
            </a:r>
          </a:p>
          <a:p>
            <a:r>
              <a:rPr lang="en-US" sz="1200" dirty="0"/>
              <a:t>ramp event is a period where a signal changes rapidly and consistently over a short time window — either increasing or decreasing.</a:t>
            </a:r>
          </a:p>
        </p:txBody>
      </p:sp>
    </p:spTree>
    <p:extLst>
      <p:ext uri="{BB962C8B-B14F-4D97-AF65-F5344CB8AC3E}">
        <p14:creationId xmlns:p14="http://schemas.microsoft.com/office/powerpoint/2010/main" val="1545805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6DCF966D-C4D2-326D-FE1A-330B1785C616}"/>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89B91EDC-9F3C-E84B-F1BD-BE5020A67F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7870550F-CBAB-8BE9-AE44-E8BDA8C71F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(Read from </a:t>
            </a:r>
            <a:r>
              <a:rPr lang="en-US" dirty="0"/>
              <a:t>PJM Hourly Energy Consumption starting from 4</a:t>
            </a:r>
            <a:r>
              <a:rPr lang="en-US" baseline="30000" dirty="0"/>
              <a:t>th</a:t>
            </a:r>
            <a:r>
              <a:rPr lang="en-US" dirty="0"/>
              <a:t> bullet pt.</a:t>
            </a:r>
            <a:r>
              <a:rPr lang="en-US" b="0" dirty="0"/>
              <a:t>)</a:t>
            </a:r>
          </a:p>
        </p:txBody>
      </p:sp>
    </p:spTree>
    <p:extLst>
      <p:ext uri="{BB962C8B-B14F-4D97-AF65-F5344CB8AC3E}">
        <p14:creationId xmlns:p14="http://schemas.microsoft.com/office/powerpoint/2010/main" val="1056508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9D957127-CD6D-B966-25FA-357D328FE441}"/>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6B76001B-AF89-D49F-5337-39A06D000B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D5ADA606-CCF3-AD51-7E4D-09FC5A55A75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(Read from </a:t>
            </a:r>
            <a:r>
              <a:rPr lang="en-US" dirty="0"/>
              <a:t>SIDC Monthly Mean Total Sunspot Number starting from 3</a:t>
            </a:r>
            <a:r>
              <a:rPr lang="en-US" baseline="30000" dirty="0"/>
              <a:t>rd</a:t>
            </a:r>
            <a:r>
              <a:rPr lang="en-US" dirty="0"/>
              <a:t> bullet pt. Then mention the following)</a:t>
            </a:r>
          </a:p>
          <a:p>
            <a:r>
              <a:rPr lang="en-US" b="0" dirty="0"/>
              <a:t>The sunspot dataset covers a good cross-section of</a:t>
            </a:r>
            <a:r>
              <a:rPr lang="en-US" dirty="0"/>
              <a:t> temporal behaviors within its domain.</a:t>
            </a:r>
            <a:endParaRPr b="0" dirty="0"/>
          </a:p>
        </p:txBody>
      </p:sp>
    </p:spTree>
    <p:extLst>
      <p:ext uri="{BB962C8B-B14F-4D97-AF65-F5344CB8AC3E}">
        <p14:creationId xmlns:p14="http://schemas.microsoft.com/office/powerpoint/2010/main" val="2842091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7394ED28-4550-1388-FF77-8FE5686C9533}"/>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5416A5AB-6913-4C13-0FD0-46AAF6B554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45740159-8A84-D4A0-EAC0-B64F0B877E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For our work, we have designed and implemented the following ANN and SNN models for time-series forecasting and prediction. </a:t>
            </a:r>
          </a:p>
          <a:p>
            <a:r>
              <a:rPr lang="en-US" sz="1200" kern="1200" dirty="0">
                <a:solidFill>
                  <a:schemeClr val="tx1"/>
                </a:solidFill>
                <a:effectLst/>
                <a:latin typeface="+mn-lt"/>
                <a:ea typeface="+mn-ea"/>
                <a:cs typeface="+mn-cs"/>
              </a:rPr>
              <a:t>(In 2</a:t>
            </a:r>
            <a:r>
              <a:rPr lang="en-US" sz="1200" kern="1200" baseline="30000" dirty="0">
                <a:solidFill>
                  <a:schemeClr val="tx1"/>
                </a:solidFill>
                <a:effectLst/>
                <a:latin typeface="+mn-lt"/>
                <a:ea typeface="+mn-ea"/>
                <a:cs typeface="+mn-cs"/>
              </a:rPr>
              <a:t>nd</a:t>
            </a:r>
            <a:r>
              <a:rPr lang="en-US" sz="1200" kern="1200" dirty="0">
                <a:solidFill>
                  <a:schemeClr val="tx1"/>
                </a:solidFill>
                <a:effectLst/>
                <a:latin typeface="+mn-lt"/>
                <a:ea typeface="+mn-ea"/>
                <a:cs typeface="+mn-cs"/>
              </a:rPr>
              <a:t> Bullet Sub-Bullet, read slides and mention the following): </a:t>
            </a:r>
          </a:p>
          <a:p>
            <a:pPr marL="171450" indent="-171450">
              <a:buFont typeface="Arial" panose="020B0604020202020204" pitchFamily="34" charset="0"/>
              <a:buChar char="•"/>
            </a:pPr>
            <a:r>
              <a:rPr lang="en-US" dirty="0"/>
              <a:t>The architectures will not be shown as it’s similar structurally to the CNN architecture but their results will be posted. The LSTM and GRU are a class of Recurrent Neural Networks (RNNs)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RNN (Recurrent Neural Network):</a:t>
            </a:r>
            <a:r>
              <a:rPr lang="en-US" sz="1200" kern="1200" dirty="0">
                <a:solidFill>
                  <a:schemeClr val="tx1"/>
                </a:solidFill>
                <a:effectLst/>
                <a:latin typeface="+mn-lt"/>
                <a:ea typeface="+mn-ea"/>
                <a:cs typeface="+mn-cs"/>
              </a:rPr>
              <a:t> designed to work with Sequential Data like Time-Series; uses previous information to produce current output; can store the relationship between the current input of the neuron and the output of the previous time.</a:t>
            </a:r>
            <a:endParaRPr lang="en-US" dirty="0"/>
          </a:p>
          <a:p>
            <a:pPr marL="171450" indent="-171450">
              <a:buFont typeface="Arial" panose="020B0604020202020204" pitchFamily="34" charset="0"/>
              <a:buChar char="•"/>
            </a:pPr>
            <a:r>
              <a:rPr lang="en-US" dirty="0"/>
              <a:t>LSTM (Long Short-Term Memory): special type of RNN with additional features to memorize the sequence of data. Each LSTM is a set of cells, or system modules, where the data streams are captured and stored. Due to the use of some gates in each cell, data in each cell can be disposed of, filtered, or added for the next cells. The hidden state is the LSTM’s distilled representation of the timestep window after it has processed all timesteps (Input to LSTM: a sequence of length T/2 with F features, Output of LSTM: a vector of length H, That H dimensional vector is the hidden state)</a:t>
            </a:r>
          </a:p>
          <a:p>
            <a:pPr marL="628650" lvl="1" indent="-171450">
              <a:buFont typeface="Arial" panose="020B0604020202020204" pitchFamily="34" charset="0"/>
              <a:buChar char="•"/>
            </a:pPr>
            <a:r>
              <a:rPr lang="en-US" dirty="0"/>
              <a:t>Hidden state in deep learning is a vector representation with RNNs that acts as the model's memory, capturing temporal dependencies and past information in sequence data to allow networks to understand context over time</a:t>
            </a:r>
          </a:p>
          <a:p>
            <a:pPr marL="171450" indent="-171450">
              <a:buFont typeface="Arial" panose="020B0604020202020204" pitchFamily="34" charset="0"/>
              <a:buChar char="•"/>
            </a:pPr>
            <a:r>
              <a:rPr lang="en-US" dirty="0"/>
              <a:t>GRU (Gated Recurrent Unit): designed to model sequential data by allowing information to be selectively remembered or forgotten over time with fewer parameters than LSTM, which can make it easier to train </a:t>
            </a:r>
          </a:p>
          <a:p>
            <a:pPr marL="628650" lvl="1" indent="-171450">
              <a:buFont typeface="Arial" panose="020B0604020202020204" pitchFamily="34" charset="0"/>
              <a:buChar char="•"/>
            </a:pPr>
            <a:r>
              <a:rPr lang="en-US" dirty="0"/>
              <a:t>GRU’s lightweight gating means it uses fewer gates and simpler computations than an LSTM, making it faster and more efficient while still capturing temporal patterns</a:t>
            </a:r>
          </a:p>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3895094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781DC490-BF1D-BFF3-7A9E-F6612F974304}"/>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0C9620B0-9E28-190A-0DDC-E770B4C0C5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01130934-778E-6667-A803-36BA0C5EFE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The CNN model begins by applying a sliding window over the time‑series, which preserves temporal ordering and lets the network analyze short segments of the signal. This is important because forecasting depends on understanding how recent values influence the next one. The first Conv1D layer extracts short-range local temporal features.  It slides a small kernel across the input window and detects short‑range patterns such as ramps, spikes, or small fluctuations. The 1D-CNN layer works well for univariate time‑series because the important structure is often local. An activation function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adds nonlinearity, allowing the model to learn more expressive features. This is followed by the MaxPooling1D which </a:t>
            </a:r>
            <a:r>
              <a:rPr lang="en-US" sz="1200" kern="1200" dirty="0" err="1">
                <a:solidFill>
                  <a:schemeClr val="tx1"/>
                </a:solidFill>
                <a:effectLst/>
                <a:latin typeface="+mn-lt"/>
                <a:ea typeface="+mn-ea"/>
                <a:cs typeface="+mn-cs"/>
              </a:rPr>
              <a:t>downsamples</a:t>
            </a:r>
            <a:r>
              <a:rPr lang="en-US" sz="1200" kern="1200" dirty="0">
                <a:solidFill>
                  <a:schemeClr val="tx1"/>
                </a:solidFill>
                <a:effectLst/>
                <a:latin typeface="+mn-lt"/>
                <a:ea typeface="+mn-ea"/>
                <a:cs typeface="+mn-cs"/>
              </a:rPr>
              <a:t> the feature maps, keeping only the strongest activations. This step reduces noise, highlights the most important short‑term events, and stabilizes the features for the next layers. This is followed by a second Conv1D + Activation + MaxPooling1D block learns higher‑level temporal patterns. A Dropout layer is added here to prevent overfitting. Flatten converts the pooled feature maps into a single static feature vector, removing the time dimension and preparing the representation for the final regression layer. Finally, a Dense layer maps this feature vector to a single numeric forecast. This layer performs the final linear transformation that produces the model’s output.</a:t>
            </a:r>
          </a:p>
          <a:p>
            <a:r>
              <a:rPr lang="en-US" sz="1200" kern="1200" dirty="0">
                <a:solidFill>
                  <a:schemeClr val="tx1"/>
                </a:solidFill>
                <a:effectLst/>
                <a:latin typeface="+mn-lt"/>
                <a:ea typeface="+mn-ea"/>
                <a:cs typeface="+mn-cs"/>
              </a:rPr>
              <a:t>(Items to know but NOT say except when asked):</a:t>
            </a:r>
          </a:p>
          <a:p>
            <a:pPr lvl="0"/>
            <a:r>
              <a:rPr lang="en-US" sz="1200" kern="1200" dirty="0">
                <a:solidFill>
                  <a:schemeClr val="tx1"/>
                </a:solidFill>
                <a:effectLst/>
                <a:latin typeface="+mn-lt"/>
                <a:ea typeface="+mn-ea"/>
                <a:cs typeface="+mn-cs"/>
              </a:rPr>
              <a:t>Sliding Window Mechanism: manages temporal data by analyzing a moving segment of input signals, rather than the entire sequence at once. It helps reduce computational complexity and helps with real-time processing.</a:t>
            </a:r>
          </a:p>
          <a:p>
            <a:pPr lvl="0"/>
            <a:r>
              <a:rPr lang="en-US" sz="1200" kern="1200" dirty="0">
                <a:solidFill>
                  <a:schemeClr val="tx1"/>
                </a:solidFill>
                <a:effectLst/>
                <a:latin typeface="+mn-lt"/>
                <a:ea typeface="+mn-ea"/>
                <a:cs typeface="+mn-cs"/>
              </a:rPr>
              <a:t>Kernel is the small matrix of learnable weights</a:t>
            </a:r>
          </a:p>
          <a:p>
            <a:pPr lvl="0"/>
            <a:r>
              <a:rPr lang="en-US" sz="1200" kern="1200" dirty="0">
                <a:solidFill>
                  <a:schemeClr val="tx1"/>
                </a:solidFill>
                <a:effectLst/>
                <a:latin typeface="+mn-lt"/>
                <a:ea typeface="+mn-ea"/>
                <a:cs typeface="+mn-cs"/>
              </a:rPr>
              <a:t>In 1D‑CNNs, temporal features are short‑range patterns such as slopes, transitions, and fluctuations.</a:t>
            </a:r>
          </a:p>
          <a:p>
            <a:pPr lvl="0"/>
            <a:r>
              <a:rPr lang="en-US" sz="1200" kern="1200" dirty="0">
                <a:solidFill>
                  <a:schemeClr val="tx1"/>
                </a:solidFill>
                <a:effectLst/>
                <a:latin typeface="+mn-lt"/>
                <a:ea typeface="+mn-ea"/>
                <a:cs typeface="+mn-cs"/>
              </a:rPr>
              <a:t>My datasets contain peaks, valleys, transitions, bursts, curvature, chaotic fluctuations.</a:t>
            </a:r>
          </a:p>
          <a:p>
            <a:pPr lvl="0"/>
            <a:r>
              <a:rPr lang="en-US" sz="1200" kern="1200" dirty="0">
                <a:solidFill>
                  <a:schemeClr val="tx1"/>
                </a:solidFill>
                <a:effectLst/>
                <a:latin typeface="+mn-lt"/>
                <a:ea typeface="+mn-ea"/>
                <a:cs typeface="+mn-cs"/>
              </a:rPr>
              <a:t>Nonlinearity is the ability to detect patterns that are not straight‑line relationships</a:t>
            </a:r>
          </a:p>
          <a:p>
            <a:pPr lvl="0"/>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preserves positive changes and suppresses weak (noisy), negative, downward movements in the time-series. It works best because it preserves temporal variation, avoids saturation, maintains strong gradients, produces sparse activations, and mirrors LIF thresholding—while tanh and sigmoid compress, saturate, and distort the temporal features </a:t>
            </a:r>
          </a:p>
          <a:p>
            <a:pPr lvl="0"/>
            <a:r>
              <a:rPr lang="en-US" sz="1200" kern="1200" dirty="0">
                <a:solidFill>
                  <a:schemeClr val="tx1"/>
                </a:solidFill>
                <a:effectLst/>
                <a:latin typeface="+mn-lt"/>
                <a:ea typeface="+mn-ea"/>
                <a:cs typeface="+mn-cs"/>
              </a:rPr>
              <a:t>Temporal resolution is the </a:t>
            </a:r>
            <a:r>
              <a:rPr lang="en-US" sz="1200" b="1" kern="1200" dirty="0">
                <a:solidFill>
                  <a:schemeClr val="tx1"/>
                </a:solidFill>
                <a:effectLst/>
                <a:latin typeface="+mn-lt"/>
                <a:ea typeface="+mn-ea"/>
                <a:cs typeface="+mn-cs"/>
              </a:rPr>
              <a:t>information that comes directly from datasets using </a:t>
            </a:r>
            <a:r>
              <a:rPr lang="en-US" sz="1200" b="1" kern="1200" dirty="0" err="1">
                <a:solidFill>
                  <a:schemeClr val="tx1"/>
                </a:solidFill>
                <a:effectLst/>
                <a:latin typeface="+mn-lt"/>
                <a:ea typeface="+mn-ea"/>
                <a:cs typeface="+mn-cs"/>
              </a:rPr>
              <a:t>downsampling</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MaxPooling1D is used because the datasets are 1‑dimensional time‑series, so pooling must occur along the temporal axis; MaxPooling2D and MaxPooling3D require spatial or volumetric data and would be structurally incompatible with univariate time‑series.</a:t>
            </a:r>
          </a:p>
          <a:p>
            <a:pPr lvl="0"/>
            <a:r>
              <a:rPr lang="en-US" sz="1200" kern="1200" dirty="0">
                <a:solidFill>
                  <a:schemeClr val="tx1"/>
                </a:solidFill>
                <a:effectLst/>
                <a:latin typeface="+mn-lt"/>
                <a:ea typeface="+mn-ea"/>
                <a:cs typeface="+mn-cs"/>
              </a:rPr>
              <a:t>The static feature vector is the fixed‑length, time‑independent representation produced by flattening the Conv1D feature maps, summarizing all learned temporal patterns.</a:t>
            </a:r>
          </a:p>
        </p:txBody>
      </p:sp>
    </p:spTree>
    <p:extLst>
      <p:ext uri="{BB962C8B-B14F-4D97-AF65-F5344CB8AC3E}">
        <p14:creationId xmlns:p14="http://schemas.microsoft.com/office/powerpoint/2010/main" val="4214340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AB3A7EFF-52D8-6321-E778-73BC5637FFE7}"/>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D3012B8A-5B17-3E98-492E-163ACE3089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F7F4160C-16D3-9692-B053-C3487BCCC4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rtl="0" fontAlgn="base"/>
            <a:r>
              <a:rPr lang="en-US" dirty="0"/>
              <a:t>For our work, I also implemented a CNN-LSTM model to find out whether the hybrid approach gives a better performance. The rationale behind this is that CNN-LSTMs have demonstrated good performance in various applications involving both spatial and temporal data. The goal of the hybrid approach is to excel at learning hierarchical spatial features using CNN and long-term temporal dependencies using LSTM. The input sequence first passes through a 1D convolution layer that extracts short‑range temporal patterns, followed by max‑pooling to reduce noise and compress the time dimension. The pooled features are then fed into an LSTM layer, which captures longer‑term temporal dependencies across the window. The long‑term temporal dependencies through its hidden state and cell state, which carry learned information across all timesteps in the window. A dropout layer helps prevent overfitting, and a final dense layer maps the learned temporal representation to a single output value.</a:t>
            </a:r>
          </a:p>
          <a:p>
            <a:pPr rtl="0" fontAlgn="base"/>
            <a:endParaRPr lang="en-US" dirty="0"/>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(Items to know but NOT say except when asked):</a:t>
            </a:r>
            <a:endParaRPr lang="en-US" dirty="0"/>
          </a:p>
          <a:p>
            <a:pPr rtl="0" fontAlgn="base"/>
            <a:r>
              <a:rPr lang="en-US" dirty="0"/>
              <a:t>Spatial Features: the, multi-layered, bottom-up process where network layers learn increasingly complex visual patterns by combining simpler features from previous layers)</a:t>
            </a:r>
          </a:p>
        </p:txBody>
      </p:sp>
    </p:spTree>
    <p:extLst>
      <p:ext uri="{BB962C8B-B14F-4D97-AF65-F5344CB8AC3E}">
        <p14:creationId xmlns:p14="http://schemas.microsoft.com/office/powerpoint/2010/main" val="26443830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4EF9EB23-3741-9297-2D70-12B39D834EDA}"/>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0F4CB4E7-14C6-8634-ABE0-5B7FB0F96F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7EE82F5E-233F-91C0-2648-942B5069EB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b="1" kern="1200" dirty="0">
                <a:solidFill>
                  <a:schemeClr val="tx1"/>
                </a:solidFill>
                <a:effectLst/>
                <a:latin typeface="+mn-lt"/>
                <a:ea typeface="+mn-ea"/>
                <a:cs typeface="+mn-cs"/>
              </a:rPr>
              <a:t>The </a:t>
            </a:r>
            <a:r>
              <a:rPr lang="en-US" sz="1200" b="1" kern="1200" dirty="0" err="1">
                <a:solidFill>
                  <a:schemeClr val="tx1"/>
                </a:solidFill>
                <a:effectLst/>
                <a:latin typeface="+mn-lt"/>
                <a:ea typeface="+mn-ea"/>
                <a:cs typeface="+mn-cs"/>
              </a:rPr>
              <a:t>RingSNN</a:t>
            </a:r>
            <a:r>
              <a:rPr lang="en-US" sz="1200" b="1" kern="1200" dirty="0">
                <a:solidFill>
                  <a:schemeClr val="tx1"/>
                </a:solidFill>
                <a:effectLst/>
                <a:latin typeface="+mn-lt"/>
                <a:ea typeface="+mn-ea"/>
                <a:cs typeface="+mn-cs"/>
              </a:rPr>
              <a:t> model processes time‑series data using a sliding window.</a:t>
            </a:r>
            <a:r>
              <a:rPr lang="en-US" sz="1200" kern="1200" dirty="0">
                <a:solidFill>
                  <a:schemeClr val="tx1"/>
                </a:solidFill>
                <a:effectLst/>
                <a:latin typeface="+mn-lt"/>
                <a:ea typeface="+mn-ea"/>
                <a:cs typeface="+mn-cs"/>
              </a:rPr>
              <a:t> Each value in the window is first </a:t>
            </a:r>
            <a:r>
              <a:rPr lang="en-US" sz="1200" b="1" kern="1200" dirty="0">
                <a:solidFill>
                  <a:schemeClr val="tx1"/>
                </a:solidFill>
                <a:effectLst/>
                <a:latin typeface="+mn-lt"/>
                <a:ea typeface="+mn-ea"/>
                <a:cs typeface="+mn-cs"/>
              </a:rPr>
              <a:t>normalized</a:t>
            </a:r>
            <a:r>
              <a:rPr lang="en-US" sz="1200" kern="1200" dirty="0">
                <a:solidFill>
                  <a:schemeClr val="tx1"/>
                </a:solidFill>
                <a:effectLst/>
                <a:latin typeface="+mn-lt"/>
                <a:ea typeface="+mn-ea"/>
                <a:cs typeface="+mn-cs"/>
              </a:rPr>
              <a:t> and then converted into spikes using </a:t>
            </a:r>
            <a:r>
              <a:rPr lang="en-US" sz="1200" b="1" kern="1200" dirty="0">
                <a:solidFill>
                  <a:schemeClr val="tx1"/>
                </a:solidFill>
                <a:effectLst/>
                <a:latin typeface="+mn-lt"/>
                <a:ea typeface="+mn-ea"/>
                <a:cs typeface="+mn-cs"/>
              </a:rPr>
              <a:t>rate‑based probabilistic encoding</a:t>
            </a:r>
            <a:r>
              <a:rPr lang="en-US" sz="1200" kern="1200" dirty="0">
                <a:solidFill>
                  <a:schemeClr val="tx1"/>
                </a:solidFill>
                <a:effectLst/>
                <a:latin typeface="+mn-lt"/>
                <a:ea typeface="+mn-ea"/>
                <a:cs typeface="+mn-cs"/>
              </a:rPr>
              <a:t>. This creates a</a:t>
            </a:r>
            <a:r>
              <a:rPr lang="en-US" sz="1200" b="1" kern="1200" dirty="0">
                <a:solidFill>
                  <a:schemeClr val="tx1"/>
                </a:solidFill>
                <a:effectLst/>
                <a:latin typeface="+mn-lt"/>
                <a:ea typeface="+mn-ea"/>
                <a:cs typeface="+mn-cs"/>
              </a:rPr>
              <a:t> spike matrix</a:t>
            </a:r>
            <a:r>
              <a:rPr lang="en-US" sz="1200" kern="1200" dirty="0">
                <a:solidFill>
                  <a:schemeClr val="tx1"/>
                </a:solidFill>
                <a:effectLst/>
                <a:latin typeface="+mn-lt"/>
                <a:ea typeface="+mn-ea"/>
                <a:cs typeface="+mn-cs"/>
              </a:rPr>
              <a:t>, where neurons fire over timesteps. This happens between the Input and </a:t>
            </a:r>
            <a:r>
              <a:rPr lang="en-US" sz="1200" kern="1200" dirty="0" err="1">
                <a:solidFill>
                  <a:schemeClr val="tx1"/>
                </a:solidFill>
                <a:effectLst/>
                <a:latin typeface="+mn-lt"/>
                <a:ea typeface="+mn-ea"/>
                <a:cs typeface="+mn-cs"/>
              </a:rPr>
              <a:t>RingBuffer</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a:t>
            </a:r>
            <a:r>
              <a:rPr lang="en-US" sz="1200" b="1" kern="1200" dirty="0" err="1">
                <a:solidFill>
                  <a:schemeClr val="tx1"/>
                </a:solidFill>
                <a:effectLst/>
                <a:latin typeface="+mn-lt"/>
                <a:ea typeface="+mn-ea"/>
                <a:cs typeface="+mn-cs"/>
              </a:rPr>
              <a:t>RingBuffer</a:t>
            </a:r>
            <a:r>
              <a:rPr lang="en-US" sz="1200" b="1" kern="1200" dirty="0">
                <a:solidFill>
                  <a:schemeClr val="tx1"/>
                </a:solidFill>
                <a:effectLst/>
                <a:latin typeface="+mn-lt"/>
                <a:ea typeface="+mn-ea"/>
                <a:cs typeface="+mn-cs"/>
              </a:rPr>
              <a:t> does not create spikes — it simply stores and replays these pre‑encoded spike trains.</a:t>
            </a:r>
            <a:r>
              <a:rPr lang="en-US" sz="1200" kern="1200" dirty="0">
                <a:solidFill>
                  <a:schemeClr val="tx1"/>
                </a:solidFill>
                <a:effectLst/>
                <a:latin typeface="+mn-lt"/>
                <a:ea typeface="+mn-ea"/>
                <a:cs typeface="+mn-cs"/>
              </a:rPr>
              <a:t> (Flip back to Slide 11). This gives the SNN a short‑term memory of recent activity and ensures the model always receives </a:t>
            </a:r>
            <a:r>
              <a:rPr lang="en-US" dirty="0"/>
              <a:t>input in the correct time order</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Dense1 and LIF1 form the first feature‑extraction stage.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Dense1</a:t>
            </a:r>
            <a:r>
              <a:rPr lang="en-US" sz="1200" kern="1200" dirty="0">
                <a:solidFill>
                  <a:schemeClr val="tx1"/>
                </a:solidFill>
                <a:effectLst/>
                <a:latin typeface="+mn-lt"/>
                <a:ea typeface="+mn-ea"/>
                <a:cs typeface="+mn-cs"/>
              </a:rPr>
              <a:t> applies a learned linear filter to the incoming spike trains, detecting short‑range temporal patterns. </a:t>
            </a:r>
            <a:r>
              <a:rPr lang="en-US" sz="1200" b="1" kern="1200" dirty="0">
                <a:solidFill>
                  <a:schemeClr val="tx1"/>
                </a:solidFill>
                <a:effectLst/>
                <a:latin typeface="+mn-lt"/>
                <a:ea typeface="+mn-ea"/>
                <a:cs typeface="+mn-cs"/>
              </a:rPr>
              <a:t>LIF1 applies thresholding and leak, which reduces unnecessary spikes and keeps only the important ones.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Dense2 and LIF2 repeat this process by learning higher‑level temporal patterns.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 Dense2 combines the earlier features and learns more general patterns.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LIF2 again filters the activity, keeping only the strongest temporal events.</a:t>
            </a:r>
            <a:r>
              <a:rPr lang="en-US" sz="1200" kern="1200" dirty="0">
                <a:solidFill>
                  <a:schemeClr val="tx1"/>
                </a:solidFill>
                <a:effectLst/>
                <a:latin typeface="+mn-lt"/>
                <a:ea typeface="+mn-ea"/>
                <a:cs typeface="+mn-cs"/>
              </a:rPr>
              <a:t> Next, the LIF2 spike output is expanded through a temporal‑encoding stage, where the LIF2 spikes are turned into a 20×20 grid that shows how the activity changes over a short time window. </a:t>
            </a:r>
            <a:r>
              <a:rPr lang="en-US" sz="1200" b="1" kern="1200" dirty="0">
                <a:solidFill>
                  <a:schemeClr val="tx1"/>
                </a:solidFill>
                <a:effectLst/>
                <a:latin typeface="+mn-lt"/>
                <a:ea typeface="+mn-ea"/>
                <a:cs typeface="+mn-cs"/>
              </a:rPr>
              <a:t>After Temporal Encoding, the model collapses time using a Spike Count Vector.</a:t>
            </a:r>
            <a:r>
              <a:rPr lang="en-US" sz="1200" kern="1200" dirty="0">
                <a:solidFill>
                  <a:schemeClr val="tx1"/>
                </a:solidFill>
                <a:effectLst/>
                <a:latin typeface="+mn-lt"/>
                <a:ea typeface="+mn-ea"/>
                <a:cs typeface="+mn-cs"/>
              </a:rPr>
              <a:t> This sums spikes across all timesteps, producing a </a:t>
            </a:r>
            <a:r>
              <a:rPr lang="en-US" sz="1200" b="1" kern="1200" dirty="0">
                <a:solidFill>
                  <a:schemeClr val="tx1"/>
                </a:solidFill>
                <a:effectLst/>
                <a:latin typeface="+mn-lt"/>
                <a:ea typeface="+mn-ea"/>
                <a:cs typeface="+mn-cs"/>
              </a:rPr>
              <a:t>static feature vector</a:t>
            </a:r>
            <a:r>
              <a:rPr lang="en-US" sz="1200" kern="1200" dirty="0">
                <a:solidFill>
                  <a:schemeClr val="tx1"/>
                </a:solidFill>
                <a:effectLst/>
                <a:latin typeface="+mn-lt"/>
                <a:ea typeface="+mn-ea"/>
                <a:cs typeface="+mn-cs"/>
              </a:rPr>
              <a:t> that summarizes the temporal activity of the entire window. </a:t>
            </a:r>
            <a:r>
              <a:rPr lang="en-US" sz="1200" b="1" kern="1200" dirty="0">
                <a:solidFill>
                  <a:schemeClr val="tx1"/>
                </a:solidFill>
                <a:effectLst/>
                <a:latin typeface="+mn-lt"/>
                <a:ea typeface="+mn-ea"/>
                <a:cs typeface="+mn-cs"/>
              </a:rPr>
              <a:t>Finally, a linear decoder maps the static feature vector to a single numeric forecast.</a:t>
            </a:r>
            <a:r>
              <a:rPr lang="en-US" sz="1200" kern="1200" dirty="0">
                <a:solidFill>
                  <a:schemeClr val="tx1"/>
                </a:solidFill>
                <a:effectLst/>
                <a:latin typeface="+mn-lt"/>
                <a:ea typeface="+mn-ea"/>
                <a:cs typeface="+mn-cs"/>
              </a:rPr>
              <a:t> This decoder is lightweight and interpretable, and its weight patterns reflect how well the upstream spike‑based features capture the underlying temporal structure.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(Items to know but NOT say except when asked):</a:t>
            </a:r>
          </a:p>
          <a:p>
            <a:r>
              <a:rPr lang="en-US" dirty="0"/>
              <a:t>Population coding expands each input into multiple neurons; rate encoding converts each of those neurons into spike trains based on firing probability.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Rate‑based probabilistic encoding converts each normalized input value into a spike train by sampling spikes with probability proportional to the value’s magnitude.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Temporal Encoding: </a:t>
            </a:r>
            <a:r>
              <a:rPr lang="en-US" sz="1200" kern="1200" dirty="0">
                <a:solidFill>
                  <a:schemeClr val="tx1"/>
                </a:solidFill>
                <a:effectLst/>
                <a:latin typeface="+mn-lt"/>
                <a:ea typeface="+mn-ea"/>
                <a:cs typeface="+mn-cs"/>
              </a:rPr>
              <a:t>way of turning changes over time into a form the model can understand.</a:t>
            </a:r>
          </a:p>
          <a:p>
            <a:pPr lvl="0"/>
            <a:r>
              <a:rPr lang="en-US" sz="1200" kern="1200" dirty="0">
                <a:solidFill>
                  <a:schemeClr val="tx1"/>
                </a:solidFill>
                <a:effectLst/>
                <a:latin typeface="+mn-lt"/>
                <a:ea typeface="+mn-ea"/>
                <a:cs typeface="+mn-cs"/>
              </a:rPr>
              <a:t>Linear filtering in Dense1 refers to the purely linear weighted summation of spike inputs, analogous to the linear part of a Conv1D layer, which extracts low‑level temporal features before the LIF neuron applies nonlinear thresholding.</a:t>
            </a:r>
          </a:p>
          <a:p>
            <a:pPr lvl="0"/>
            <a:r>
              <a:rPr lang="en-US" sz="1200" kern="1200" dirty="0">
                <a:solidFill>
                  <a:schemeClr val="tx1"/>
                </a:solidFill>
                <a:effectLst/>
                <a:latin typeface="+mn-lt"/>
                <a:ea typeface="+mn-ea"/>
                <a:cs typeface="+mn-cs"/>
              </a:rPr>
              <a:t>The spike patterns produced by the earlier SNN layers (Dense1→LIF1 and Dense2→LIF2) before the decoder.</a:t>
            </a:r>
          </a:p>
          <a:p>
            <a:pPr lvl="0"/>
            <a:r>
              <a:rPr lang="en-US" sz="1200" kern="1200" dirty="0">
                <a:solidFill>
                  <a:schemeClr val="tx1"/>
                </a:solidFill>
                <a:effectLst/>
                <a:latin typeface="+mn-lt"/>
                <a:ea typeface="+mn-ea"/>
                <a:cs typeface="+mn-cs"/>
              </a:rPr>
              <a:t>In the </a:t>
            </a:r>
            <a:r>
              <a:rPr lang="en-US" sz="1200" kern="1200" dirty="0" err="1">
                <a:solidFill>
                  <a:schemeClr val="tx1"/>
                </a:solidFill>
                <a:effectLst/>
                <a:latin typeface="+mn-lt"/>
                <a:ea typeface="+mn-ea"/>
                <a:cs typeface="+mn-cs"/>
              </a:rPr>
              <a:t>RingSNN</a:t>
            </a:r>
            <a:r>
              <a:rPr lang="en-US" sz="1200" kern="1200" dirty="0">
                <a:solidFill>
                  <a:schemeClr val="tx1"/>
                </a:solidFill>
                <a:effectLst/>
                <a:latin typeface="+mn-lt"/>
                <a:ea typeface="+mn-ea"/>
                <a:cs typeface="+mn-cs"/>
              </a:rPr>
              <a:t>, Dense1 + LIF1 extract the spike‑based equivalents of the short-range patterns (with AEP producing rich temporal features, Sunspot producing noisy but informative features, and Solar producing weak, sparse features due to its smooth dynamics.)).</a:t>
            </a:r>
          </a:p>
          <a:p>
            <a:pPr lvl="0"/>
            <a:r>
              <a:rPr lang="en-US" sz="1200" kern="1200" dirty="0">
                <a:solidFill>
                  <a:schemeClr val="tx1"/>
                </a:solidFill>
                <a:effectLst/>
                <a:latin typeface="+mn-lt"/>
                <a:ea typeface="+mn-ea"/>
                <a:cs typeface="+mn-cs"/>
              </a:rPr>
              <a:t>The linear decoder is the function. The decoder weights are the parameters that the function uses. </a:t>
            </a:r>
          </a:p>
          <a:p>
            <a:pPr lvl="0"/>
            <a:r>
              <a:rPr lang="en-US" sz="1200" kern="1200" dirty="0">
                <a:solidFill>
                  <a:schemeClr val="tx1"/>
                </a:solidFill>
                <a:effectLst/>
                <a:latin typeface="+mn-lt"/>
                <a:ea typeface="+mn-ea"/>
                <a:cs typeface="+mn-cs"/>
              </a:rPr>
              <a:t>Decoder Weights: learned parameters that determine how hidden representations are transformed back into human-readable, actionable output.</a:t>
            </a:r>
          </a:p>
        </p:txBody>
      </p:sp>
    </p:spTree>
    <p:extLst>
      <p:ext uri="{BB962C8B-B14F-4D97-AF65-F5344CB8AC3E}">
        <p14:creationId xmlns:p14="http://schemas.microsoft.com/office/powerpoint/2010/main" val="912315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F201348C-B0BB-990E-D8D3-FEC3E503CA6A}"/>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04E84A6D-0956-5D59-C662-63E29735A8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99D805C2-938F-7E69-070E-1E427C89C1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For comparison purposes, included a 1-1 mapping table between </a:t>
            </a:r>
            <a:r>
              <a:rPr lang="en-US" b="0" dirty="0" err="1"/>
              <a:t>RingSNN</a:t>
            </a:r>
            <a:r>
              <a:rPr lang="en-US" b="0" dirty="0"/>
              <a:t> and ANN comparison.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(Items to know but NOT say except when asked):</a:t>
            </a:r>
            <a:endParaRPr lang="en-US" b="0" dirty="0"/>
          </a:p>
          <a:p>
            <a:pPr marL="171450" indent="-171450">
              <a:buFont typeface="Arial" panose="020B0604020202020204" pitchFamily="34" charset="0"/>
              <a:buChar char="•"/>
            </a:pPr>
            <a:r>
              <a:rPr lang="en-US" dirty="0"/>
              <a:t>ANN Component -&gt; SNN (LIF) Component -&gt; Why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err="1"/>
              <a:t>ReLU</a:t>
            </a:r>
            <a:r>
              <a:rPr lang="en-US" b="1" dirty="0"/>
              <a:t> / tanh / sigmoid -&gt; Threshold + reset -&gt; </a:t>
            </a:r>
            <a:r>
              <a:rPr lang="en-US" dirty="0"/>
              <a:t>Both introduce nonlinearity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MaxPooling1D -&gt; Thresholding (spike/no spike) -&gt; </a:t>
            </a:r>
            <a:r>
              <a:rPr lang="en-US" dirty="0"/>
              <a:t>Both keep only strong activations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Temporal smoothing (Conv1D receptive field) -&gt; Leak term -&gt; </a:t>
            </a:r>
            <a:r>
              <a:rPr lang="en-US" dirty="0"/>
              <a:t>Both smooth signals over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Only CNN and CNN‑LSTM diagrams are included because they represent the two architectural components that </a:t>
            </a:r>
            <a:r>
              <a:rPr lang="en-US" dirty="0" err="1"/>
              <a:t>RingSNN</a:t>
            </a:r>
            <a:r>
              <a:rPr lang="en-US" dirty="0"/>
              <a:t> parallels: local feature extraction and temporal integration. LSTM‑only and GRU‑only diagrams are omitted for brevity, as their recurrent mechanisms are already captured within the CNN‑LSTM comparison. I compare CNN and </a:t>
            </a:r>
            <a:r>
              <a:rPr lang="en-US" dirty="0" err="1"/>
              <a:t>RingSNN</a:t>
            </a:r>
            <a:r>
              <a:rPr lang="en-US" dirty="0"/>
              <a:t> because they share the same stage‑by‑stage feature‑extraction pipeline, allowing a clean 1‑to‑1 mapping between operations—something not possible with LSTM, GRU, or CNN‑LSTM.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endParaRPr lang="en-US" b="0" dirty="0"/>
          </a:p>
        </p:txBody>
      </p:sp>
    </p:spTree>
    <p:extLst>
      <p:ext uri="{BB962C8B-B14F-4D97-AF65-F5344CB8AC3E}">
        <p14:creationId xmlns:p14="http://schemas.microsoft.com/office/powerpoint/2010/main" val="18455750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A4612D33-CE46-159C-26E3-749456A8C659}"/>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C97CC66D-D2BD-F283-1C29-BE6F2A690A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BFA2026F-E944-F70A-61FA-25DA3C9E56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Let’s go over the evaluation metrics that will be used to compare the architectures. Because these are time-series datasets, The architectures are going to be evaluated for both accuracy and efficiency. </a:t>
            </a:r>
          </a:p>
        </p:txBody>
      </p:sp>
    </p:spTree>
    <p:extLst>
      <p:ext uri="{BB962C8B-B14F-4D97-AF65-F5344CB8AC3E}">
        <p14:creationId xmlns:p14="http://schemas.microsoft.com/office/powerpoint/2010/main" val="24511741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1D3C3AB8-7771-3997-16F7-680511470D53}"/>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8059A469-96A9-CB7D-EE73-815DBE0BB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C1F14A3F-0567-D3C3-D2D5-A9695EFCA5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rtl="0" fontAlgn="base"/>
            <a:r>
              <a:rPr lang="en-US" sz="1200" b="0" i="0" u="none" strike="noStrike" kern="1200" dirty="0">
                <a:solidFill>
                  <a:schemeClr val="tx1"/>
                </a:solidFill>
                <a:effectLst/>
                <a:latin typeface="+mn-lt"/>
                <a:ea typeface="+mn-ea"/>
                <a:cs typeface="+mn-cs"/>
              </a:rPr>
              <a:t>Mean Absolute Error (MAE) - measures the average magnitude of the absolute errors between the actual and predicted values, without considering the direction of the errors. </a:t>
            </a:r>
          </a:p>
          <a:p>
            <a:pPr rtl="0" fontAlgn="base"/>
            <a:r>
              <a:rPr lang="en-US" sz="1200" b="0" i="0" u="none" strike="noStrike" kern="1200" dirty="0">
                <a:solidFill>
                  <a:schemeClr val="tx1"/>
                </a:solidFill>
                <a:effectLst/>
                <a:latin typeface="+mn-lt"/>
                <a:ea typeface="+mn-ea"/>
                <a:cs typeface="+mn-cs"/>
              </a:rPr>
              <a:t>Root Mean Squared Error (RMSE) - measures the average magnitude of the squared errors between the actual and predicted values, and then takes the square root.</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For MAE and RMSE, the model with the lowest values is selected. </a:t>
            </a:r>
            <a:r>
              <a:rPr lang="en-US" dirty="0"/>
              <a:t>In time‑series forecasting, MAE and RMSE measure how far predictions deviate from the true values, so the model with the lowest values is the most accurate.</a:t>
            </a:r>
            <a:endParaRPr lang="en-US"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90975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6F80289-753E-48C0-B0B1-3B22ECADD1F5}"/>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CE66D3E2-DFA9-9313-6C8C-060D4FA668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256" name="Google Shape;256;p47:notes">
                <a:extLst>
                  <a:ext uri="{FF2B5EF4-FFF2-40B4-BE49-F238E27FC236}">
                    <a16:creationId xmlns:a16="http://schemas.microsoft.com/office/drawing/2014/main" id="{721A298D-0E84-2E0F-0603-BBBB5EC80B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lvl="0"/>
                <a:r>
                  <a:rPr lang="en-US" sz="1200" u="none" kern="1200" dirty="0">
                    <a:solidFill>
                      <a:schemeClr val="tx1"/>
                    </a:solidFill>
                    <a:effectLst/>
                    <a:latin typeface="+mn-lt"/>
                    <a:ea typeface="+mn-ea"/>
                    <a:cs typeface="+mn-cs"/>
                  </a:rPr>
                  <a:t>Before explaining the concept of Decoder Weights, I need to explain Hebbian Learning from which the decoder learns to forecast.</a:t>
                </a:r>
              </a:p>
              <a:p>
                <a:pPr lvl="0"/>
                <a:r>
                  <a:rPr lang="en-US" sz="1200" u="sng" kern="1200" dirty="0">
                    <a:solidFill>
                      <a:schemeClr val="tx1"/>
                    </a:solidFill>
                    <a:effectLst/>
                    <a:latin typeface="+mn-lt"/>
                    <a:ea typeface="+mn-ea"/>
                    <a:cs typeface="+mn-cs"/>
                  </a:rPr>
                  <a:t>(Between 3</a:t>
                </a:r>
                <a:r>
                  <a:rPr lang="en-US" sz="1200" u="sng" kern="1200" baseline="30000" dirty="0">
                    <a:solidFill>
                      <a:schemeClr val="tx1"/>
                    </a:solidFill>
                    <a:effectLst/>
                    <a:latin typeface="+mn-lt"/>
                    <a:ea typeface="+mn-ea"/>
                    <a:cs typeface="+mn-cs"/>
                  </a:rPr>
                  <a:t>rd</a:t>
                </a:r>
                <a:r>
                  <a:rPr lang="en-US" sz="1200" u="sng" kern="1200" dirty="0">
                    <a:solidFill>
                      <a:schemeClr val="tx1"/>
                    </a:solidFill>
                    <a:effectLst/>
                    <a:latin typeface="+mn-lt"/>
                    <a:ea typeface="+mn-ea"/>
                    <a:cs typeface="+mn-cs"/>
                  </a:rPr>
                  <a:t> and 4</a:t>
                </a:r>
                <a:r>
                  <a:rPr lang="en-US" sz="1200" u="sng" kern="1200" baseline="30000" dirty="0">
                    <a:solidFill>
                      <a:schemeClr val="tx1"/>
                    </a:solidFill>
                    <a:effectLst/>
                    <a:latin typeface="+mn-lt"/>
                    <a:ea typeface="+mn-ea"/>
                    <a:cs typeface="+mn-cs"/>
                  </a:rPr>
                  <a:t>th</a:t>
                </a:r>
                <a:r>
                  <a:rPr lang="en-US" sz="1200" u="sng" kern="1200" dirty="0">
                    <a:solidFill>
                      <a:schemeClr val="tx1"/>
                    </a:solidFill>
                    <a:effectLst/>
                    <a:latin typeface="+mn-lt"/>
                    <a:ea typeface="+mn-ea"/>
                    <a:cs typeface="+mn-cs"/>
                  </a:rPr>
                  <a:t> Bullets): </a:t>
                </a:r>
                <a:r>
                  <a:rPr lang="en-US" sz="1200" kern="1200" dirty="0">
                    <a:solidFill>
                      <a:schemeClr val="tx1"/>
                    </a:solidFill>
                    <a:effectLst/>
                    <a:latin typeface="+mn-lt"/>
                    <a:ea typeface="+mn-ea"/>
                    <a:cs typeface="+mn-cs"/>
                  </a:rPr>
                  <a:t>Once Hebbian learning shapes the spike‑based representation, the decoder uses that representation to perform the final prediction.</a:t>
                </a:r>
              </a:p>
              <a:p>
                <a:pPr lvl="0"/>
                <a:r>
                  <a:rPr lang="en-US" sz="1200" kern="1200" dirty="0">
                    <a:solidFill>
                      <a:schemeClr val="tx1"/>
                    </a:solidFill>
                    <a:effectLst/>
                    <a:latin typeface="+mn-lt"/>
                    <a:ea typeface="+mn-ea"/>
                    <a:cs typeface="+mn-cs"/>
                  </a:rPr>
                  <a:t>(Between 4</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and Equation):  This is achieved using the following Hebbian weight update rule.</a:t>
                </a:r>
              </a:p>
              <a:p>
                <a:pPr lvl="1"/>
                <a:r>
                  <a:rPr lang="en-US" sz="1200" kern="1200" dirty="0">
                    <a:solidFill>
                      <a:schemeClr val="tx1"/>
                    </a:solidFill>
                    <a:effectLst/>
                    <a:latin typeface="+mn-lt"/>
                    <a:ea typeface="+mn-ea"/>
                    <a:cs typeface="+mn-cs"/>
                  </a:rPr>
                  <a:t>𝑥</a:t>
                </a:r>
                <a:r>
                  <a:rPr lang="en-US" sz="1200" kern="1200" baseline="-25000" dirty="0">
                    <a:solidFill>
                      <a:schemeClr val="tx1"/>
                    </a:solidFill>
                    <a:effectLst/>
                    <a:latin typeface="+mn-lt"/>
                    <a:ea typeface="+mn-ea"/>
                    <a:cs typeface="+mn-cs"/>
                  </a:rPr>
                  <a:t>𝑖  </a:t>
                </a:r>
                <a:r>
                  <a:rPr lang="en-US" sz="1200" kern="1200" dirty="0">
                    <a:solidFill>
                      <a:schemeClr val="tx1"/>
                    </a:solidFill>
                    <a:effectLst/>
                    <a:latin typeface="+mn-lt"/>
                    <a:ea typeface="+mn-ea"/>
                    <a:cs typeface="+mn-cs"/>
                  </a:rPr>
                  <a:t>= activity (spikes) from the pre‑synaptic neuron → the neuron sending the signal</a:t>
                </a:r>
              </a:p>
              <a:p>
                <a:pPr lvl="1"/>
                <a:r>
                  <a:rPr lang="en-US" sz="1200" kern="1200" dirty="0">
                    <a:solidFill>
                      <a:schemeClr val="tx1"/>
                    </a:solidFill>
                    <a:effectLst/>
                    <a:latin typeface="+mn-lt"/>
                    <a:ea typeface="+mn-ea"/>
                    <a:cs typeface="+mn-cs"/>
                  </a:rPr>
                  <a:t>𝑦</a:t>
                </a:r>
                <a:r>
                  <a:rPr lang="en-US" sz="1200" kern="1200" baseline="-25000" dirty="0">
                    <a:solidFill>
                      <a:schemeClr val="tx1"/>
                    </a:solidFill>
                    <a:effectLst/>
                    <a:latin typeface="+mn-lt"/>
                    <a:ea typeface="+mn-ea"/>
                    <a:cs typeface="+mn-cs"/>
                  </a:rPr>
                  <a:t>𝑗 </a:t>
                </a:r>
                <a:r>
                  <a:rPr lang="en-US" sz="1200" kern="1200" dirty="0">
                    <a:solidFill>
                      <a:schemeClr val="tx1"/>
                    </a:solidFill>
                    <a:effectLst/>
                    <a:latin typeface="+mn-lt"/>
                    <a:ea typeface="+mn-ea"/>
                    <a:cs typeface="+mn-cs"/>
                  </a:rPr>
                  <a:t>= activity of the post‑synaptic neuron → the neuron receiving the signal</a:t>
                </a:r>
              </a:p>
              <a:p>
                <a:pPr lvl="1"/>
                <a:r>
                  <a:rPr lang="en-US" sz="1200" kern="1200" dirty="0">
                    <a:solidFill>
                      <a:schemeClr val="tx1"/>
                    </a:solidFill>
                    <a:effectLst/>
                    <a:latin typeface="+mn-lt"/>
                    <a:ea typeface="+mn-ea"/>
                    <a:cs typeface="+mn-cs"/>
                  </a:rPr>
                  <a:t>𝜂 = learning rate → how fast the connection changes</a:t>
                </a:r>
              </a:p>
              <a:p>
                <a:pPr lvl="1"/>
                <a:r>
                  <a:rPr lang="en-US" sz="1200" kern="1200" dirty="0">
                    <a:solidFill>
                      <a:schemeClr val="tx1"/>
                    </a:solidFill>
                    <a:effectLst/>
                    <a:latin typeface="+mn-lt"/>
                    <a:ea typeface="+mn-ea"/>
                    <a:cs typeface="+mn-cs"/>
                  </a:rPr>
                  <a:t>Δ𝑤</a:t>
                </a:r>
                <a:r>
                  <a:rPr lang="en-US" sz="1200" kern="1200" baseline="-25000" dirty="0">
                    <a:solidFill>
                      <a:schemeClr val="tx1"/>
                    </a:solidFill>
                    <a:effectLst/>
                    <a:latin typeface="+mn-lt"/>
                    <a:ea typeface="+mn-ea"/>
                    <a:cs typeface="+mn-cs"/>
                  </a:rPr>
                  <a:t>𝑖𝑗 </a:t>
                </a:r>
                <a:r>
                  <a:rPr lang="en-US" sz="1200" kern="1200" dirty="0">
                    <a:solidFill>
                      <a:schemeClr val="tx1"/>
                    </a:solidFill>
                    <a:effectLst/>
                    <a:latin typeface="+mn-lt"/>
                    <a:ea typeface="+mn-ea"/>
                    <a:cs typeface="+mn-cs"/>
                  </a:rPr>
                  <a:t>= how much the weight between the two neurons changes</a:t>
                </a:r>
              </a:p>
              <a:p>
                <a:pPr lvl="1"/>
                <a:r>
                  <a:rPr lang="en-US" sz="1200" kern="1200" dirty="0">
                    <a:solidFill>
                      <a:schemeClr val="tx1"/>
                    </a:solidFill>
                    <a:effectLst/>
                    <a:latin typeface="+mn-lt"/>
                    <a:ea typeface="+mn-ea"/>
                    <a:cs typeface="+mn-cs"/>
                  </a:rPr>
                  <a:t>Hebbian learning in the </a:t>
                </a:r>
                <a:r>
                  <a:rPr lang="en-US" sz="1200" kern="1200" dirty="0" err="1">
                    <a:solidFill>
                      <a:schemeClr val="tx1"/>
                    </a:solidFill>
                    <a:effectLst/>
                    <a:latin typeface="+mn-lt"/>
                    <a:ea typeface="+mn-ea"/>
                    <a:cs typeface="+mn-cs"/>
                  </a:rPr>
                  <a:t>RingSNN</a:t>
                </a:r>
                <a:r>
                  <a:rPr lang="en-US" sz="1200" kern="1200" dirty="0">
                    <a:solidFill>
                      <a:schemeClr val="tx1"/>
                    </a:solidFill>
                    <a:effectLst/>
                    <a:latin typeface="+mn-lt"/>
                    <a:ea typeface="+mn-ea"/>
                    <a:cs typeface="+mn-cs"/>
                  </a:rPr>
                  <a:t> updates the weights of Dense1 and Dense2, using the presynaptic spikes entering each Dense layer and the postsynaptic spikes produced by the corresponding LIF neuron.</a:t>
                </a:r>
              </a:p>
              <a:p>
                <a:pPr lvl="0"/>
                <a:r>
                  <a:rPr lang="en-US" sz="1200" kern="1200" dirty="0">
                    <a:solidFill>
                      <a:schemeClr val="tx1"/>
                    </a:solidFill>
                    <a:effectLst/>
                    <a:latin typeface="+mn-lt"/>
                    <a:ea typeface="+mn-ea"/>
                    <a:cs typeface="+mn-cs"/>
                  </a:rPr>
                  <a:t>(Comparison with Gradient Descent)</a:t>
                </a:r>
              </a:p>
              <a:p>
                <a:r>
                  <a:rPr lang="en-US" sz="1200" kern="1200" dirty="0">
                    <a:solidFill>
                      <a:schemeClr val="tx1"/>
                    </a:solidFill>
                    <a:effectLst/>
                    <a:latin typeface="+mn-lt"/>
                    <a:ea typeface="+mn-ea"/>
                    <a:cs typeface="+mn-cs"/>
                  </a:rPr>
                  <a:t>(Hebbian learning describes how synaptic strengths are adjusted based on the correlation of pre‑and post‑synaptic activity, providing a biologically plausible mechanism for learning in SNNs. They utilize Hebbian updates where weights are updated based on spike activity across epochs. Involves synaptic connections between the spikes based on correlated groups of synapses [32]. As a result, Hebbian weights are computationally lightweight, requiring no backpropagation or gradient tracking, and can be more energy-efficient by avoiding complex calculations.)</a:t>
                </a:r>
              </a:p>
              <a:p>
                <a:r>
                  <a:rPr lang="en-US" sz="1200" b="1" kern="1200" dirty="0">
                    <a:solidFill>
                      <a:schemeClr val="tx1"/>
                    </a:solidFill>
                    <a:effectLst/>
                    <a:latin typeface="+mn-lt"/>
                    <a:ea typeface="+mn-ea"/>
                    <a:cs typeface="+mn-cs"/>
                  </a:rPr>
                  <a:t>(Flow: Hebbian learning → spike‑based latent space → decoder learning)</a:t>
                </a:r>
                <a:endParaRPr lang="en-US" sz="1200" kern="1200" dirty="0">
                  <a:solidFill>
                    <a:schemeClr val="tx1"/>
                  </a:solidFill>
                  <a:effectLst/>
                  <a:latin typeface="+mn-lt"/>
                  <a:ea typeface="+mn-ea"/>
                  <a:cs typeface="+mn-cs"/>
                </a:endParaRPr>
              </a:p>
            </p:txBody>
          </p:sp>
        </mc:Choice>
        <mc:Fallback xmlns="">
          <p:sp>
            <p:nvSpPr>
              <p:cNvPr id="256" name="Google Shape;256;p47:notes">
                <a:extLst>
                  <a:ext uri="{FF2B5EF4-FFF2-40B4-BE49-F238E27FC236}">
                    <a16:creationId xmlns:a16="http://schemas.microsoft.com/office/drawing/2014/main" id="{721A298D-0E84-2E0F-0603-BBBB5EC80B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Hebbian learning describes how synaptic strengths are adjusted based on the correlation of pre‑and post‑synaptic activity, providing a biologically plausible mechanism for learning in SNNs. They utilize Hebbian updates where weights are updated based on spike activity across epochs. Involves synaptic connections between the spikes based on correlated groups of synapses [32]. As a result, Hebbian weights are computationally lightweight, requiring no backpropagation or gradient tracking, and can be more energy-efficient by avoiding complex calculations. </a:t>
                </a:r>
                <a:r>
                  <a:rPr lang="en-US" dirty="0"/>
                  <a:t>This equation represents Hebbian learning — a rule that strengthens the connection between two neurons when they are active at the same time.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About the Equations: </a:t>
                </a:r>
                <a:br>
                  <a:rPr lang="en-US" sz="1200" kern="1200" dirty="0">
                    <a:solidFill>
                      <a:schemeClr val="tx1"/>
                    </a:solidFill>
                    <a:effectLst/>
                    <a:latin typeface="+mn-lt"/>
                    <a:ea typeface="+mn-ea"/>
                    <a:cs typeface="+mn-cs"/>
                  </a:rPr>
                </a:br>
                <a:r>
                  <a:rPr lang="ar-AE" sz="1200" i="0" kern="1200">
                    <a:solidFill>
                      <a:schemeClr val="tx1"/>
                    </a:solidFill>
                    <a:latin typeface="+mn-lt"/>
                    <a:ea typeface="+mn-ea"/>
                    <a:cs typeface="+mn-cs"/>
                  </a:rPr>
                  <a:t>𝑥_𝑖</a:t>
                </a:r>
                <a:r>
                  <a:rPr lang="ar-AE" dirty="0">
                    <a:effectLst/>
                  </a:rPr>
                  <a:t>= </a:t>
                </a:r>
                <a:r>
                  <a:rPr lang="en-US" dirty="0">
                    <a:effectLst/>
                  </a:rPr>
                  <a:t>activity (spikes) from the </a:t>
                </a:r>
                <a:r>
                  <a:rPr lang="en-US" b="1" dirty="0">
                    <a:effectLst/>
                  </a:rPr>
                  <a:t>pre‑synaptic neuron</a:t>
                </a:r>
                <a:r>
                  <a:rPr lang="en-US" dirty="0">
                    <a:effectLst/>
                  </a:rPr>
                  <a:t> → the neuron sending the signal</a:t>
                </a:r>
                <a:endParaRPr lang="en-US" dirty="0"/>
              </a:p>
              <a:p>
                <a:r>
                  <a:rPr lang="ar-AE" sz="1200" i="0" kern="1200">
                    <a:solidFill>
                      <a:schemeClr val="tx1"/>
                    </a:solidFill>
                    <a:latin typeface="+mn-lt"/>
                    <a:ea typeface="+mn-ea"/>
                    <a:cs typeface="+mn-cs"/>
                  </a:rPr>
                  <a:t>𝑦_𝑗</a:t>
                </a:r>
                <a:r>
                  <a:rPr lang="ar-AE" dirty="0">
                    <a:effectLst/>
                  </a:rPr>
                  <a:t>= </a:t>
                </a:r>
                <a:r>
                  <a:rPr lang="en-US" dirty="0">
                    <a:effectLst/>
                  </a:rPr>
                  <a:t>activity of the </a:t>
                </a:r>
                <a:r>
                  <a:rPr lang="en-US" b="1" dirty="0">
                    <a:effectLst/>
                  </a:rPr>
                  <a:t>post‑synaptic neuron</a:t>
                </a:r>
                <a:r>
                  <a:rPr lang="en-US" dirty="0">
                    <a:effectLst/>
                  </a:rPr>
                  <a:t> → the neuron receiving the signal</a:t>
                </a:r>
                <a:endParaRPr lang="en-US" dirty="0"/>
              </a:p>
              <a:p>
                <a:r>
                  <a:rPr lang="en-US" sz="1200" i="0" kern="1200">
                    <a:solidFill>
                      <a:schemeClr val="tx1"/>
                    </a:solidFill>
                    <a:latin typeface="+mn-lt"/>
                    <a:ea typeface="+mn-ea"/>
                    <a:cs typeface="+mn-cs"/>
                  </a:rPr>
                  <a:t>𝜂</a:t>
                </a:r>
                <a:r>
                  <a:rPr lang="en-US" dirty="0">
                    <a:effectLst/>
                  </a:rPr>
                  <a:t>= learning rate → how fast the connection changes</a:t>
                </a:r>
                <a:endParaRPr lang="en-US" dirty="0"/>
              </a:p>
              <a:p>
                <a:r>
                  <a:rPr lang="el-GR" sz="1200" i="0" kern="1200">
                    <a:solidFill>
                      <a:schemeClr val="tx1"/>
                    </a:solidFill>
                    <a:latin typeface="+mn-lt"/>
                    <a:ea typeface="+mn-ea"/>
                    <a:cs typeface="+mn-cs"/>
                  </a:rPr>
                  <a:t>Δ</a:t>
                </a:r>
                <a:r>
                  <a:rPr lang="ar-AE" sz="1200" i="0" kern="1200">
                    <a:solidFill>
                      <a:schemeClr val="tx1"/>
                    </a:solidFill>
                    <a:latin typeface="+mn-lt"/>
                    <a:ea typeface="+mn-ea"/>
                    <a:cs typeface="+mn-cs"/>
                  </a:rPr>
                  <a:t>𝑤_𝑖𝑗</a:t>
                </a:r>
                <a:r>
                  <a:rPr lang="ar-AE" dirty="0">
                    <a:effectLst/>
                  </a:rPr>
                  <a:t>= </a:t>
                </a:r>
                <a:r>
                  <a:rPr lang="en-US" dirty="0">
                    <a:effectLst/>
                  </a:rPr>
                  <a:t>how much the weight between the two neurons changes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Hebbian learning in the </a:t>
                </a:r>
                <a:r>
                  <a:rPr lang="en-US" b="1" dirty="0" err="1">
                    <a:effectLst/>
                  </a:rPr>
                  <a:t>RingSNN</a:t>
                </a:r>
                <a:r>
                  <a:rPr lang="en-US" b="1" dirty="0">
                    <a:effectLst/>
                  </a:rPr>
                  <a:t> updates the weights of Dense1 and Dense2, using the presynaptic spikes entering each Dense layer and the postsynaptic spikes produced by the corresponding LIF neuron.</a:t>
                </a:r>
                <a:endParaRPr lang="en-US" dirty="0"/>
              </a:p>
            </p:txBody>
          </p:sp>
        </mc:Fallback>
      </mc:AlternateContent>
    </p:spTree>
    <p:extLst>
      <p:ext uri="{BB962C8B-B14F-4D97-AF65-F5344CB8AC3E}">
        <p14:creationId xmlns:p14="http://schemas.microsoft.com/office/powerpoint/2010/main" val="33523197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0C78655-5FA5-9ABE-EB06-D47694852DEE}"/>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D15BFF20-DF48-1765-9F07-2CE7FEE0AF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256" name="Google Shape;256;p47:notes">
                <a:extLst>
                  <a:ext uri="{FF2B5EF4-FFF2-40B4-BE49-F238E27FC236}">
                    <a16:creationId xmlns:a16="http://schemas.microsoft.com/office/drawing/2014/main" id="{9EDC961A-897B-43CD-FFD8-F0DA33EBEF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Another visual representation of the evaluation of the models was for decoder weight plots. (Read off bullets; then mention the following).</a:t>
                </a:r>
              </a:p>
              <a:p>
                <a:pPr lvl="0"/>
                <a:r>
                  <a:rPr lang="en-US" sz="1200" kern="1200" dirty="0">
                    <a:solidFill>
                      <a:schemeClr val="tx1"/>
                    </a:solidFill>
                    <a:effectLst/>
                    <a:latin typeface="+mn-lt"/>
                    <a:ea typeface="+mn-ea"/>
                    <a:cs typeface="+mn-cs"/>
                  </a:rPr>
                  <a:t>(1</a:t>
                </a:r>
                <a:r>
                  <a:rPr lang="en-US" sz="1200" kern="1200" baseline="30000" dirty="0">
                    <a:solidFill>
                      <a:schemeClr val="tx1"/>
                    </a:solidFill>
                    <a:effectLst/>
                    <a:latin typeface="+mn-lt"/>
                    <a:ea typeface="+mn-ea"/>
                    <a:cs typeface="+mn-cs"/>
                  </a:rPr>
                  <a:t>st</a:t>
                </a:r>
                <a:r>
                  <a:rPr lang="en-US" sz="1200" kern="1200" dirty="0">
                    <a:solidFill>
                      <a:schemeClr val="tx1"/>
                    </a:solidFill>
                    <a:effectLst/>
                    <a:latin typeface="+mn-lt"/>
                    <a:ea typeface="+mn-ea"/>
                    <a:cs typeface="+mn-cs"/>
                  </a:rPr>
                  <a:t> Bullet Pt. if asked):  The hidden representations are the internal spike‑based features </a:t>
                </a:r>
                <a:r>
                  <a:rPr lang="en-US" sz="1200" kern="1200" dirty="0" err="1">
                    <a:solidFill>
                      <a:schemeClr val="tx1"/>
                    </a:solidFill>
                    <a:effectLst/>
                    <a:latin typeface="+mn-lt"/>
                    <a:ea typeface="+mn-ea"/>
                    <a:cs typeface="+mn-cs"/>
                  </a:rPr>
                  <a:t>RingSNN</a:t>
                </a:r>
                <a:r>
                  <a:rPr lang="en-US" sz="1200" kern="1200" dirty="0">
                    <a:solidFill>
                      <a:schemeClr val="tx1"/>
                    </a:solidFill>
                    <a:effectLst/>
                    <a:latin typeface="+mn-lt"/>
                    <a:ea typeface="+mn-ea"/>
                    <a:cs typeface="+mn-cs"/>
                  </a:rPr>
                  <a:t> produces before the decoder (the 20‑dimensional spike‑count vector)</a:t>
                </a:r>
              </a:p>
              <a:p>
                <a:pPr lvl="0"/>
                <a:r>
                  <a:rPr lang="en-US" sz="1200" kern="1200" dirty="0">
                    <a:solidFill>
                      <a:schemeClr val="tx1"/>
                    </a:solidFill>
                    <a:effectLst/>
                    <a:latin typeface="+mn-lt"/>
                    <a:ea typeface="+mn-ea"/>
                    <a:cs typeface="+mn-cs"/>
                  </a:rPr>
                  <a:t>(4</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Bullet Pt.): Converge = weights settle, Oscillate = weights wiggle, Diverge = weights fail to stabilize.</a:t>
                </a:r>
              </a:p>
              <a:p>
                <a:pPr lvl="0"/>
                <a:r>
                  <a:rPr lang="en-US" sz="1200" kern="1200" dirty="0">
                    <a:solidFill>
                      <a:schemeClr val="tx1"/>
                    </a:solidFill>
                    <a:effectLst/>
                    <a:latin typeface="+mn-lt"/>
                    <a:ea typeface="+mn-ea"/>
                    <a:cs typeface="+mn-cs"/>
                  </a:rPr>
                  <a:t>(5</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Bullet Pt.): Decoder weight evolution plots serve as an evaluation tool for assessing learning stability, representation quality, and decoder alignment throughout training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a:t>
                </a:r>
                <a:r>
                  <a:rPr lang="en-US" baseline="30000" dirty="0"/>
                  <a:t>th</a:t>
                </a:r>
                <a:r>
                  <a:rPr lang="en-US" dirty="0"/>
                  <a:t> Bullet Pt.): Hebbian learning shapes the internal spike‑based representation, and the decoder weights reflect how well that representation captures the underlying temporal structure needed for forecasting.</a:t>
                </a:r>
              </a:p>
              <a:p>
                <a:pPr lvl="0"/>
                <a:r>
                  <a:rPr lang="en-US" sz="1200" b="1" kern="1200" dirty="0">
                    <a:solidFill>
                      <a:schemeClr val="tx1"/>
                    </a:solidFill>
                    <a:effectLst/>
                    <a:latin typeface="+mn-lt"/>
                    <a:ea typeface="+mn-ea"/>
                    <a:cs typeface="+mn-cs"/>
                  </a:rPr>
                  <a:t>(The linear decoder is the linear regression </a:t>
                </a:r>
                <a:r>
                  <a:rPr lang="en-US" sz="1200" b="1" i="1" kern="1200" dirty="0">
                    <a:solidFill>
                      <a:schemeClr val="tx1"/>
                    </a:solidFill>
                    <a:effectLst/>
                    <a:latin typeface="+mn-lt"/>
                    <a:ea typeface="+mn-ea"/>
                    <a:cs typeface="+mn-cs"/>
                  </a:rPr>
                  <a:t>function which uses</a:t>
                </a:r>
                <a:r>
                  <a:rPr lang="en-US" sz="1200" b="1" kern="1200" dirty="0">
                    <a:solidFill>
                      <a:schemeClr val="tx1"/>
                    </a:solidFill>
                    <a:effectLst/>
                    <a:latin typeface="+mn-lt"/>
                    <a:ea typeface="+mn-ea"/>
                    <a:cs typeface="+mn-cs"/>
                  </a:rPr>
                  <a:t> decoder weights as the </a:t>
                </a:r>
                <a:r>
                  <a:rPr lang="en-US" sz="1200" b="1" i="1" kern="1200" dirty="0">
                    <a:solidFill>
                      <a:schemeClr val="tx1"/>
                    </a:solidFill>
                    <a:effectLst/>
                    <a:latin typeface="+mn-lt"/>
                    <a:ea typeface="+mn-ea"/>
                    <a:cs typeface="+mn-cs"/>
                  </a:rPr>
                  <a:t>parameters</a:t>
                </a:r>
                <a:r>
                  <a:rPr lang="en-US" sz="1200" b="1" kern="1200" dirty="0">
                    <a:solidFill>
                      <a:schemeClr val="tx1"/>
                    </a:solidFill>
                    <a:effectLst/>
                    <a:latin typeface="+mn-lt"/>
                    <a:ea typeface="+mn-ea"/>
                    <a:cs typeface="+mn-cs"/>
                  </a:rPr>
                  <a:t> to produce the forecast.</a:t>
                </a:r>
                <a:r>
                  <a:rPr lang="en-US" sz="1200" kern="1200" dirty="0">
                    <a:solidFill>
                      <a:schemeClr val="tx1"/>
                    </a:solidFill>
                    <a:effectLst/>
                    <a:latin typeface="+mn-lt"/>
                    <a:ea typeface="+mn-ea"/>
                    <a:cs typeface="+mn-cs"/>
                  </a:rPr>
                  <a:t> It’s the mathematical operation that maps spike counts to the final output.</a:t>
                </a:r>
              </a:p>
              <a:p>
                <a:pPr lvl="0"/>
                <a:r>
                  <a:rPr lang="en-US" sz="1200" kern="1200" dirty="0">
                    <a:solidFill>
                      <a:schemeClr val="tx1"/>
                    </a:solidFill>
                    <a:effectLst/>
                    <a:latin typeface="+mn-lt"/>
                    <a:ea typeface="+mn-ea"/>
                    <a:cs typeface="+mn-cs"/>
                  </a:rPr>
                  <a:t>	</a:t>
                </a:r>
                <a14:m>
                  <m:oMath xmlns:m="http://schemas.openxmlformats.org/officeDocument/2006/math">
                    <m:acc>
                      <m:accPr>
                        <m:chr m:val="̂"/>
                        <m:ctrlPr>
                          <a:rPr lang="en-US" sz="1200" i="1" kern="1200" smtClean="0">
                            <a:solidFill>
                              <a:schemeClr val="tx1"/>
                            </a:solidFill>
                            <a:effectLst/>
                            <a:latin typeface="Cambria Math" panose="02040503050406030204" pitchFamily="18" charset="0"/>
                            <a:ea typeface="+mn-ea"/>
                            <a:cs typeface="+mn-cs"/>
                          </a:rPr>
                        </m:ctrlPr>
                      </m:accPr>
                      <m:e>
                        <m:r>
                          <a:rPr lang="en-US" sz="1200" i="1" kern="1200">
                            <a:solidFill>
                              <a:schemeClr val="tx1"/>
                            </a:solidFill>
                            <a:effectLst/>
                            <a:latin typeface="Cambria Math" panose="02040503050406030204" pitchFamily="18" charset="0"/>
                            <a:ea typeface="+mn-ea"/>
                            <a:cs typeface="+mn-cs"/>
                          </a:rPr>
                          <m:t>𝑦</m:t>
                        </m:r>
                      </m:e>
                    </m:acc>
                  </m:oMath>
                </a14:m>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w⊤x+b</a:t>
                </a:r>
                <a:r>
                  <a:rPr lang="en-US" sz="1200" kern="1200" dirty="0">
                    <a:solidFill>
                      <a:schemeClr val="tx1"/>
                    </a:solidFill>
                    <a:effectLst/>
                    <a:latin typeface="+mn-lt"/>
                    <a:ea typeface="+mn-ea"/>
                    <a:cs typeface="+mn-cs"/>
                  </a:rPr>
                  <a:t> where it takes the </a:t>
                </a:r>
                <a:r>
                  <a:rPr lang="en-US" sz="1200" b="1" kern="1200" dirty="0">
                    <a:solidFill>
                      <a:schemeClr val="tx1"/>
                    </a:solidFill>
                    <a:effectLst/>
                    <a:latin typeface="+mn-lt"/>
                    <a:ea typeface="+mn-ea"/>
                    <a:cs typeface="+mn-cs"/>
                  </a:rPr>
                  <a:t>spike‑count vector</a:t>
                </a:r>
                <a:r>
                  <a:rPr lang="en-US" sz="120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𝑥</m:t>
                    </m:r>
                  </m:oMath>
                </a14:m>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Multiplies it by the </a:t>
                </a:r>
                <a:r>
                  <a:rPr lang="en-US" sz="1200" b="1" kern="1200" dirty="0">
                    <a:solidFill>
                      <a:schemeClr val="tx1"/>
                    </a:solidFill>
                    <a:effectLst/>
                    <a:latin typeface="+mn-lt"/>
                    <a:ea typeface="+mn-ea"/>
                    <a:cs typeface="+mn-cs"/>
                  </a:rPr>
                  <a:t>decoder weights</a:t>
                </a:r>
                <a:r>
                  <a:rPr lang="en-US" sz="120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𝑤</m:t>
                    </m:r>
                  </m:oMath>
                </a14:m>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Adds a bias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𝑏</m:t>
                    </m:r>
                  </m:oMath>
                </a14:m>
                <a:endParaRPr lang="en-US" sz="1200" kern="1200" dirty="0">
                  <a:solidFill>
                    <a:schemeClr val="tx1"/>
                  </a:solidFill>
                  <a:effectLst/>
                  <a:latin typeface="+mn-lt"/>
                  <a:ea typeface="+mn-ea"/>
                  <a:cs typeface="+mn-cs"/>
                </a:endParaRPr>
              </a:p>
              <a:p>
                <a:pPr lvl="2"/>
                <a:r>
                  <a:rPr lang="en-US" sz="1200" kern="1200" dirty="0">
                    <a:solidFill>
                      <a:schemeClr val="tx1"/>
                    </a:solidFill>
                    <a:effectLst/>
                    <a:latin typeface="+mn-lt"/>
                    <a:ea typeface="+mn-ea"/>
                    <a:cs typeface="+mn-cs"/>
                  </a:rPr>
                  <a:t>Produces the final output </a:t>
                </a:r>
                <a14:m>
                  <m:oMath xmlns:m="http://schemas.openxmlformats.org/officeDocument/2006/math">
                    <m:acc>
                      <m:accPr>
                        <m:chr m:val="̂"/>
                        <m:ctrlPr>
                          <a:rPr lang="en-US" sz="1200" i="1" kern="1200">
                            <a:solidFill>
                              <a:schemeClr val="tx1"/>
                            </a:solidFill>
                            <a:effectLst/>
                            <a:latin typeface="Cambria Math" panose="02040503050406030204" pitchFamily="18" charset="0"/>
                            <a:ea typeface="+mn-ea"/>
                            <a:cs typeface="+mn-cs"/>
                          </a:rPr>
                        </m:ctrlPr>
                      </m:accPr>
                      <m:e>
                        <m:r>
                          <a:rPr lang="en-US" sz="1200" i="1" kern="1200">
                            <a:solidFill>
                              <a:schemeClr val="tx1"/>
                            </a:solidFill>
                            <a:effectLst/>
                            <a:latin typeface="Cambria Math" panose="02040503050406030204" pitchFamily="18" charset="0"/>
                            <a:ea typeface="+mn-ea"/>
                            <a:cs typeface="+mn-cs"/>
                          </a:rPr>
                          <m:t>𝑦</m:t>
                        </m:r>
                      </m:e>
                    </m:acc>
                  </m:oMath>
                </a14:m>
                <a:r>
                  <a:rPr lang="en-US" sz="1200" kern="1200" dirty="0">
                    <a:solidFill>
                      <a:schemeClr val="tx1"/>
                    </a:solidFill>
                    <a:effectLst/>
                    <a:latin typeface="+mn-lt"/>
                    <a:ea typeface="+mn-ea"/>
                    <a:cs typeface="+mn-cs"/>
                  </a:rPr>
                  <a:t>)</a:t>
                </a:r>
              </a:p>
              <a:p>
                <a:pPr lvl="0"/>
                <a:r>
                  <a:rPr lang="en-US" sz="1200" kern="1200" dirty="0">
                    <a:solidFill>
                      <a:schemeClr val="tx1"/>
                    </a:solidFill>
                    <a:effectLst/>
                    <a:latin typeface="+mn-lt"/>
                    <a:ea typeface="+mn-ea"/>
                    <a:cs typeface="+mn-cs"/>
                  </a:rPr>
                  <a:t>(Latent Space: The 20‑dimensional spike‑count feature vector that summarizes the temporal structure of the input window. Analogous to: the Flatten layer output in CNN, the LSTM hidden state in CNN‑LSTM. It’s the compressed, information‑rich representation of the input.)</a:t>
                </a:r>
              </a:p>
              <a:p>
                <a:pPr lvl="0"/>
                <a:endParaRPr lang="en-US" sz="1200" kern="1200" dirty="0">
                  <a:solidFill>
                    <a:schemeClr val="tx1"/>
                  </a:solidFill>
                  <a:effectLst/>
                  <a:latin typeface="+mn-lt"/>
                  <a:ea typeface="+mn-ea"/>
                  <a:cs typeface="+mn-cs"/>
                </a:endParaRPr>
              </a:p>
            </p:txBody>
          </p:sp>
        </mc:Choice>
        <mc:Fallback xmlns="">
          <p:sp>
            <p:nvSpPr>
              <p:cNvPr id="256" name="Google Shape;256;p47:notes">
                <a:extLst>
                  <a:ext uri="{FF2B5EF4-FFF2-40B4-BE49-F238E27FC236}">
                    <a16:creationId xmlns:a16="http://schemas.microsoft.com/office/drawing/2014/main" id="{9EDC961A-897B-43CD-FFD8-F0DA33EBEF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1" dirty="0"/>
                  <a:t>(The linear decoder is the </a:t>
                </a:r>
                <a:r>
                  <a:rPr lang="en-US" b="1" i="1" dirty="0"/>
                  <a:t>function</a:t>
                </a:r>
                <a:r>
                  <a:rPr lang="en-US" b="1" dirty="0"/>
                  <a:t>. The decoder weights are the </a:t>
                </a:r>
                <a:r>
                  <a:rPr lang="en-US" b="1" i="1" dirty="0"/>
                  <a:t>parameters</a:t>
                </a:r>
                <a:r>
                  <a:rPr lang="en-US" b="1" dirty="0"/>
                  <a:t> that the function uses.)</a:t>
                </a:r>
              </a:p>
              <a:p>
                <a:r>
                  <a:rPr lang="en-US" dirty="0"/>
                  <a:t>y^=</a:t>
                </a:r>
                <a:r>
                  <a:rPr lang="en-US" dirty="0" err="1"/>
                  <a:t>w⊤x+b</a:t>
                </a:r>
                <a:r>
                  <a:rPr lang="en-US" dirty="0"/>
                  <a:t> where </a:t>
                </a:r>
                <a:r>
                  <a:rPr lang="en-US" dirty="0">
                    <a:effectLst/>
                  </a:rPr>
                  <a:t>It takes the </a:t>
                </a:r>
                <a:r>
                  <a:rPr lang="en-US" b="1" dirty="0">
                    <a:effectLst/>
                  </a:rPr>
                  <a:t>spike‑count vector</a:t>
                </a:r>
                <a:r>
                  <a:rPr lang="en-US" dirty="0">
                    <a:effectLst/>
                  </a:rPr>
                  <a:t> </a:t>
                </a:r>
                <a:r>
                  <a:rPr lang="en-US" sz="1200" i="0" kern="1200">
                    <a:solidFill>
                      <a:schemeClr val="tx1"/>
                    </a:solidFill>
                    <a:latin typeface="+mn-lt"/>
                    <a:ea typeface="+mn-ea"/>
                    <a:cs typeface="+mn-cs"/>
                  </a:rPr>
                  <a:t>𝑥</a:t>
                </a:r>
                <a:endParaRPr lang="en-US" dirty="0"/>
              </a:p>
              <a:p>
                <a:r>
                  <a:rPr lang="en-US" dirty="0">
                    <a:effectLst/>
                  </a:rPr>
                  <a:t>Multiplies it by the </a:t>
                </a:r>
                <a:r>
                  <a:rPr lang="en-US" b="1" dirty="0">
                    <a:effectLst/>
                  </a:rPr>
                  <a:t>decoder weights</a:t>
                </a:r>
                <a:r>
                  <a:rPr lang="en-US" dirty="0">
                    <a:effectLst/>
                  </a:rPr>
                  <a:t> </a:t>
                </a:r>
                <a:r>
                  <a:rPr lang="en-US" sz="1200" i="0" kern="1200">
                    <a:solidFill>
                      <a:schemeClr val="tx1"/>
                    </a:solidFill>
                    <a:latin typeface="+mn-lt"/>
                    <a:ea typeface="+mn-ea"/>
                    <a:cs typeface="+mn-cs"/>
                  </a:rPr>
                  <a:t>𝑤</a:t>
                </a:r>
                <a:endParaRPr lang="en-US" dirty="0"/>
              </a:p>
              <a:p>
                <a:r>
                  <a:rPr lang="en-US" dirty="0">
                    <a:effectLst/>
                  </a:rPr>
                  <a:t>Adds a bias </a:t>
                </a:r>
                <a:r>
                  <a:rPr lang="en-US" sz="1200" i="0" kern="1200">
                    <a:solidFill>
                      <a:schemeClr val="tx1"/>
                    </a:solidFill>
                    <a:latin typeface="+mn-lt"/>
                    <a:ea typeface="+mn-ea"/>
                    <a:cs typeface="+mn-cs"/>
                  </a:rPr>
                  <a:t>𝑏</a:t>
                </a:r>
                <a:endParaRPr lang="en-US" dirty="0"/>
              </a:p>
              <a:p>
                <a:r>
                  <a:rPr lang="en-US" dirty="0">
                    <a:effectLst/>
                  </a:rPr>
                  <a:t>Produces the final output </a:t>
                </a:r>
                <a:r>
                  <a:rPr lang="ar-AE" sz="1200" i="0" kern="1200">
                    <a:solidFill>
                      <a:schemeClr val="tx1"/>
                    </a:solidFill>
                    <a:latin typeface="+mn-lt"/>
                    <a:ea typeface="+mn-ea"/>
                    <a:cs typeface="+mn-cs"/>
                  </a:rPr>
                  <a:t>𝑦 ̂</a:t>
                </a:r>
                <a:endParaRPr lang="ar-A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linear decoder is the mathematical operation that maps spike counts to the final output and the decoder weights are the learned parameters that determine how strongly each neuron’s spike count influences that output.)</a:t>
                </a:r>
                <a:endParaRPr lang="en-US" sz="1200" kern="1200" dirty="0">
                  <a:solidFill>
                    <a:schemeClr val="tx1"/>
                  </a:solidFill>
                  <a:effectLst/>
                  <a:latin typeface="+mn-lt"/>
                  <a:ea typeface="+mn-ea"/>
                  <a:cs typeface="+mn-cs"/>
                </a:endParaRPr>
              </a:p>
            </p:txBody>
          </p:sp>
        </mc:Fallback>
      </mc:AlternateContent>
    </p:spTree>
    <p:extLst>
      <p:ext uri="{BB962C8B-B14F-4D97-AF65-F5344CB8AC3E}">
        <p14:creationId xmlns:p14="http://schemas.microsoft.com/office/powerpoint/2010/main" val="29889164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17517AF-6924-AA4A-206D-80AB4358A680}"/>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614EE033-700D-4E8F-342E-8E18B37227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0932F42B-2941-2499-0E90-9FDCD8B5C2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(Encoder: </a:t>
            </a:r>
            <a:r>
              <a:rPr lang="en-US" dirty="0"/>
              <a:t>encoder in neural networks is a functional component responsible for transforming input data into a compressed, high-level, numerical representation, Data -&gt; Numbers)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(Last Bullet Pt): </a:t>
            </a:r>
            <a:r>
              <a:rPr lang="en-US" dirty="0"/>
              <a:t>“LIF neurons operate within a stable firing regime” means the neurons fire in a balanced, controlled, and consistent way—neither too much nor too little—and the spike raster plots visually confirm that the SNN is encoding the input signal properly rather than behaving chaotically or collapsing.</a:t>
            </a: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350352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9197601D-0439-81DB-9EA8-14415A4B65F7}"/>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1953078C-858C-A78A-1472-D6AB7FB623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29EFB100-CAC0-AB49-A3BC-D6D7919507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effectLst/>
              </a:rPr>
              <a:t>A representation is </a:t>
            </a:r>
            <a:r>
              <a:rPr lang="en-US" i="1" dirty="0">
                <a:effectLst/>
              </a:rPr>
              <a:t>sparse</a:t>
            </a:r>
            <a:r>
              <a:rPr lang="en-US" dirty="0">
                <a:effectLst/>
              </a:rPr>
              <a:t> when a small subset of neurons fire spikes occur infrequently most neurons are silent at most timesteps</a:t>
            </a:r>
            <a:endParaRPr lang="en-US" dirty="0"/>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r>
            <a:r>
              <a:rPr lang="en-US" dirty="0">
                <a:effectLst/>
              </a:rPr>
              <a:t>A well‑balanced SNN has:</a:t>
            </a:r>
            <a:endParaRPr lang="en-US" dirty="0"/>
          </a:p>
          <a:p>
            <a:r>
              <a:rPr lang="en-US" dirty="0">
                <a:effectLst/>
              </a:rPr>
              <a:t>no “dead neurons” (never fire)</a:t>
            </a:r>
            <a:endParaRPr lang="en-US" dirty="0"/>
          </a:p>
          <a:p>
            <a:r>
              <a:rPr lang="en-US" dirty="0">
                <a:effectLst/>
              </a:rPr>
              <a:t>no “dominant neurons” (fire excessively)</a:t>
            </a:r>
            <a:endParaRPr lang="en-US" dirty="0"/>
          </a:p>
          <a:p>
            <a:r>
              <a:rPr lang="en-US" dirty="0">
                <a:effectLst/>
              </a:rPr>
              <a:t>a healthy distribution of spike counts across the population</a:t>
            </a:r>
            <a:r>
              <a:rPr lang="en-US" b="0" dirty="0">
                <a:effectLst/>
              </a:rPr>
              <a:t> -&gt; </a:t>
            </a:r>
            <a:r>
              <a:rPr lang="en-US" b="1" dirty="0">
                <a:effectLst/>
              </a:rPr>
              <a:t>fair workload distribution)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41681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3A9B163-C53A-764C-980B-EEFAEE94C726}"/>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46D149CE-68D0-AB75-9D43-AAAF63B446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77F7977D-8192-73FC-B510-DBF772A62E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compare how much energy each model uses, we compute an efficiency ratio between the ANN and the </a:t>
            </a:r>
            <a:r>
              <a:rPr lang="en-US" dirty="0" err="1"/>
              <a:t>RingSNN</a:t>
            </a:r>
            <a:r>
              <a:rPr lang="en-US" dirty="0"/>
              <a:t>. </a:t>
            </a:r>
            <a:r>
              <a:rPr lang="en-US" sz="1200" i="0" kern="1200" dirty="0">
                <a:solidFill>
                  <a:schemeClr val="tx1"/>
                </a:solidFill>
                <a:effectLst/>
                <a:latin typeface="+mn-lt"/>
                <a:ea typeface="+mn-ea"/>
                <a:cs typeface="+mn-cs"/>
              </a:rPr>
              <a:t>The Energy Efficiency of SNN relative to ANN is calculated according to the Efficiency Ratio. </a:t>
            </a:r>
            <a:r>
              <a:rPr lang="en-US" sz="1200" b="0" i="0" kern="1200" dirty="0">
                <a:solidFill>
                  <a:schemeClr val="tx1"/>
                </a:solidFill>
                <a:effectLst/>
                <a:latin typeface="+mn-lt"/>
                <a:ea typeface="+mn-ea"/>
                <a:cs typeface="+mn-cs"/>
              </a:rPr>
              <a:t>Efficiency ratios are used in tradeoff analysis because it gives a universal comparison, and shows the relative advantages of neuromorphic hardware. Furthermore, ratio quantifies the sustainability benefit of SNNs in a way that is hardware‑aware, reproducible, and easy to interpret.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(Items to know but NOT say except when asked):</a:t>
            </a:r>
            <a:endParaRPr lang="en-US"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kern="1200" dirty="0">
                <a:solidFill>
                  <a:schemeClr val="tx1"/>
                </a:solidFill>
                <a:effectLst/>
                <a:latin typeface="+mn-lt"/>
                <a:ea typeface="+mn-ea"/>
                <a:cs typeface="+mn-cs"/>
              </a:rPr>
              <a:t>Because </a:t>
            </a:r>
            <a:r>
              <a:rPr lang="en-US" sz="1200" i="0" kern="1200" dirty="0" err="1">
                <a:solidFill>
                  <a:schemeClr val="tx1"/>
                </a:solidFill>
                <a:effectLst/>
                <a:latin typeface="+mn-lt"/>
                <a:ea typeface="+mn-ea"/>
                <a:cs typeface="+mn-cs"/>
              </a:rPr>
              <a:t>RingSNN</a:t>
            </a:r>
            <a:r>
              <a:rPr lang="en-US" sz="1200" i="0" kern="1200" dirty="0">
                <a:solidFill>
                  <a:schemeClr val="tx1"/>
                </a:solidFill>
                <a:effectLst/>
                <a:latin typeface="+mn-lt"/>
                <a:ea typeface="+mn-ea"/>
                <a:cs typeface="+mn-cs"/>
              </a:rPr>
              <a:t> requires an update at each timestep, there is a need for consideration of the network topology and temporal resolution.</a:t>
            </a: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dirty="0" err="1"/>
              <a:t>RingSNN</a:t>
            </a:r>
            <a:r>
              <a:rPr lang="en-US" dirty="0"/>
              <a:t> updates at every timestep because its neurons change from moment to moment, so the model has to check their state continuously.</a:t>
            </a:r>
          </a:p>
          <a:p>
            <a:pPr marL="171450" indent="-171450">
              <a:buFont typeface="Arial" panose="020B0604020202020204" pitchFamily="34" charset="0"/>
              <a:buChar char="•"/>
            </a:pPr>
            <a:r>
              <a:rPr lang="en-US" b="0" i="0" dirty="0"/>
              <a:t>ANNs do not require updates at every moment — they only update when new data is fed</a:t>
            </a:r>
          </a:p>
          <a:p>
            <a:pPr marL="171450" indent="-171450">
              <a:buFont typeface="Arial" panose="020B0604020202020204" pitchFamily="34" charset="0"/>
              <a:buChar char="•"/>
            </a:pPr>
            <a:r>
              <a:rPr lang="en-US" b="0" i="0" dirty="0"/>
              <a:t>(Network topology is the way the neurons or layers in a model are arranged and connected to each other.)</a:t>
            </a:r>
          </a:p>
          <a:p>
            <a:endParaRPr b="0" i="0" dirty="0"/>
          </a:p>
        </p:txBody>
      </p:sp>
    </p:spTree>
    <p:extLst>
      <p:ext uri="{BB962C8B-B14F-4D97-AF65-F5344CB8AC3E}">
        <p14:creationId xmlns:p14="http://schemas.microsoft.com/office/powerpoint/2010/main" val="19027809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F5A1B430-8713-68AD-630B-E95A633F00CB}"/>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477D6A89-1AA8-4C1A-C0B5-9654CCA90E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D9AA92C4-81DD-4659-64CC-CBEAE41D61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An energy measurement protocol is implemented to separate or decompose idle, active, and spike‑driven power states to ensure fair and reproducible benchmarking across neuromorphic and conventional platforms. This energy decomposition provides fine‑grained, reproducible energy vs. accuracy benchmarking showing where energy is consumed and its usage. (Read off bullet pts and elaborate on the following)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For </a:t>
            </a:r>
            <a:r>
              <a:rPr lang="en-US" sz="1200" b="1" kern="1200" dirty="0">
                <a:solidFill>
                  <a:schemeClr val="tx1"/>
                </a:solidFill>
                <a:effectLst/>
                <a:latin typeface="+mn-lt"/>
                <a:ea typeface="+mn-ea"/>
                <a:cs typeface="+mn-cs"/>
              </a:rPr>
              <a:t>Idle Power State</a:t>
            </a:r>
            <a:r>
              <a:rPr lang="en-US" sz="1200" kern="1200" dirty="0">
                <a:solidFill>
                  <a:schemeClr val="tx1"/>
                </a:solidFill>
                <a:effectLst/>
                <a:latin typeface="+mn-lt"/>
                <a:ea typeface="+mn-ea"/>
                <a:cs typeface="+mn-cs"/>
              </a:rPr>
              <a:t>:  Mention </a:t>
            </a:r>
            <a:r>
              <a:rPr lang="en-US" sz="1200" dirty="0"/>
              <a:t>Static Leakage Currents, background systems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For </a:t>
            </a:r>
            <a:r>
              <a:rPr lang="en-US" sz="1200" b="1" dirty="0"/>
              <a:t>Active State</a:t>
            </a:r>
            <a:r>
              <a:rPr lang="en-US" sz="1200" dirty="0"/>
              <a:t>: Mention the overhead of keeping the system engaged, the ability to process inputs, and includes control logic, clock cycles, and communication costs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For </a:t>
            </a:r>
            <a:r>
              <a:rPr lang="en-US" sz="1200" b="1" dirty="0"/>
              <a:t>Spike Driven Power State</a:t>
            </a:r>
            <a:r>
              <a:rPr lang="en-US" sz="1200" dirty="0"/>
              <a:t>: This shows that energy scales with spike rate and sparsity making them a unique neuromorphic phenomenon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The spike-driven power states investigate how efficient SNN is at converting spikes into useful computation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In </a:t>
            </a:r>
            <a:r>
              <a:rPr lang="en-US" sz="1200" dirty="0" err="1"/>
              <a:t>RingSNNs</a:t>
            </a:r>
            <a:r>
              <a:rPr lang="en-US" sz="1200" dirty="0"/>
              <a:t>, decomposed energy states are derived from </a:t>
            </a:r>
            <a:r>
              <a:rPr lang="en-US" sz="1200" dirty="0" err="1"/>
              <a:t>Loihi’s</a:t>
            </a:r>
            <a:r>
              <a:rPr lang="en-US" sz="1200" dirty="0"/>
              <a:t> Idle, Active, and Spike‑Driven power states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These three power states correspond directly to the decomposed energy terms defined in the qualifying‑exam problem: </a:t>
            </a:r>
            <a:r>
              <a:rPr lang="en-US" dirty="0" err="1"/>
              <a:t>Loihi</a:t>
            </a:r>
            <a:r>
              <a:rPr lang="en-US" dirty="0"/>
              <a:t> exposes idle, active, and spike‑driven power separately, while the GPU provides only a combined </a:t>
            </a:r>
            <a:r>
              <a:rPr lang="en-US" dirty="0" err="1"/>
              <a:t>idle+active</a:t>
            </a:r>
            <a:r>
              <a:rPr lang="en-US" dirty="0"/>
              <a:t> power draw through Nvidia‑SMI.</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4892253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D7694E0D-A062-E5A9-9D6F-E287486FAC46}"/>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8B51D245-6BD6-639B-2A10-C3B01D46C0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74E3F358-D759-7A19-9DCC-3D58909178A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These next set of slides will show (first bullet pt). I will show the (read sub-bullets elaborating on the following.)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Efficiency Ratio, Energy, MAE, and RMSE tables, graphs, and runtimes per epoch, spike counts, accuracy metrics, and decomposed energy states (idle, active, spike-driven for </a:t>
            </a:r>
            <a:r>
              <a:rPr lang="en-US" b="0" dirty="0" err="1"/>
              <a:t>Loihi</a:t>
            </a:r>
            <a:r>
              <a:rPr lang="en-US" b="0" dirty="0"/>
              <a:t>; power-draw logs from Nvidia-SMI for the GPU)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I’ll also present Energy profile of the normalized energy consumption per sample and the energy-accuracy tradeoff plot and finally go over whether the neuromorphic hardware offers a practical advantage for sustainability-focused forecasting tasks.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 will also discuss limitations, hardware bottlenecks, and scenarios where SNNs may or may not be preferable.</a:t>
            </a:r>
          </a:p>
          <a:p>
            <a:endParaRPr b="0" dirty="0"/>
          </a:p>
        </p:txBody>
      </p:sp>
    </p:spTree>
    <p:extLst>
      <p:ext uri="{BB962C8B-B14F-4D97-AF65-F5344CB8AC3E}">
        <p14:creationId xmlns:p14="http://schemas.microsoft.com/office/powerpoint/2010/main" val="32542897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EF068977-FF22-2F81-9593-243C3DCDCDED}"/>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51DA386C-3F5C-0E06-557D-C0700F650D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6F70983F-31FD-485E-E5FB-E32982A52F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(Read bullet pts and mention the following).</a:t>
            </a:r>
          </a:p>
          <a:p>
            <a:pPr marL="171450" indent="-171450">
              <a:buFont typeface="Arial" panose="020B0604020202020204" pitchFamily="34" charset="0"/>
              <a:buChar char="•"/>
            </a:pPr>
            <a:r>
              <a:rPr lang="en-US" b="0" dirty="0"/>
              <a:t>(1</a:t>
            </a:r>
            <a:r>
              <a:rPr lang="en-US" b="0" baseline="30000" dirty="0"/>
              <a:t>st</a:t>
            </a:r>
            <a:r>
              <a:rPr lang="en-US" b="0" dirty="0"/>
              <a:t> Bullet Pt.): Mention Looking at the datasets then read first bullet pt. </a:t>
            </a:r>
          </a:p>
          <a:p>
            <a:pPr marL="171450" indent="-171450">
              <a:buFont typeface="Arial" panose="020B0604020202020204" pitchFamily="34" charset="0"/>
              <a:buChar char="•"/>
            </a:pPr>
            <a:r>
              <a:rPr lang="en-US" b="0" dirty="0"/>
              <a:t>(3</a:t>
            </a:r>
            <a:r>
              <a:rPr lang="en-US" b="0" baseline="30000" dirty="0"/>
              <a:t>rd </a:t>
            </a:r>
            <a:r>
              <a:rPr lang="en-US" b="0" dirty="0"/>
              <a:t>Bullet Pt.): Note that the </a:t>
            </a:r>
            <a:r>
              <a:rPr lang="en-US" sz="1200" kern="1200" dirty="0">
                <a:solidFill>
                  <a:schemeClr val="tx1"/>
                </a:solidFill>
                <a:effectLst/>
                <a:latin typeface="+mn-lt"/>
                <a:ea typeface="+mn-ea"/>
                <a:cs typeface="+mn-cs"/>
              </a:rPr>
              <a:t>GPU remains under load during inference and does not expose separate idle, active, or spike‑driven power states. </a:t>
            </a:r>
          </a:p>
          <a:p>
            <a:pPr marL="628650" lvl="1" indent="-171450">
              <a:buFont typeface="Arial" panose="020B0604020202020204" pitchFamily="34" charset="0"/>
              <a:buChar char="•"/>
            </a:pPr>
            <a:r>
              <a:rPr lang="en-US" b="0" kern="1200" dirty="0">
                <a:solidFill>
                  <a:schemeClr val="tx1"/>
                </a:solidFill>
                <a:effectLst/>
                <a:latin typeface="+mn-lt"/>
                <a:ea typeface="+mn-ea"/>
                <a:cs typeface="+mn-cs"/>
              </a:rPr>
              <a:t>(Don’t mention unless otherwise asked)</a:t>
            </a:r>
          </a:p>
          <a:p>
            <a:pPr marL="1085850" lvl="2" indent="-171450">
              <a:buFont typeface="Arial" panose="020B0604020202020204" pitchFamily="34" charset="0"/>
              <a:buChar char="•"/>
            </a:pPr>
            <a:r>
              <a:rPr lang="en-US" dirty="0"/>
              <a:t>Dense tensor operations: large, continuous matrix–vector or matrix–matrix multiplications that GPUs and CPUs perform during ANN training and inference.</a:t>
            </a:r>
          </a:p>
          <a:p>
            <a:pPr marL="1085850" lvl="2" indent="-171450">
              <a:buFont typeface="Arial" panose="020B0604020202020204" pitchFamily="34" charset="0"/>
              <a:buChar char="•"/>
            </a:pPr>
            <a:r>
              <a:rPr lang="en-US" b="0" dirty="0"/>
              <a:t>Optimized Cuda Kernels: </a:t>
            </a:r>
            <a:r>
              <a:rPr lang="en-US" dirty="0"/>
              <a:t>GPU routines that have been carefully tuned to run as fast and efficiently as possible by maximizing parallelism, minimizing memory bottlenecks, and fully utilizing GPU hardware.</a:t>
            </a:r>
          </a:p>
          <a:p>
            <a:pPr marL="1085850" lvl="2" indent="-171450">
              <a:buFont typeface="Arial" panose="020B0604020202020204" pitchFamily="34" charset="0"/>
              <a:buChar char="•"/>
            </a:pPr>
            <a:endParaRPr lang="en-US" b="0" dirty="0"/>
          </a:p>
          <a:p>
            <a:endParaRPr lang="en-US" b="0" dirty="0"/>
          </a:p>
          <a:p>
            <a:r>
              <a:rPr lang="en-US" b="0" dirty="0"/>
              <a:t> </a:t>
            </a:r>
            <a:endParaRPr b="0" dirty="0"/>
          </a:p>
        </p:txBody>
      </p:sp>
    </p:spTree>
    <p:extLst>
      <p:ext uri="{BB962C8B-B14F-4D97-AF65-F5344CB8AC3E}">
        <p14:creationId xmlns:p14="http://schemas.microsoft.com/office/powerpoint/2010/main" val="29011210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CCDF0E80-FB3C-3FF0-88C9-02AA466105DE}"/>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AA4B8C28-4A39-A172-0CDC-BD357518A7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B8DA8600-77E2-B288-12B8-D4A743AAEF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The following set of slides present the Efficiency Ratio, Energy, and RMSE tables, graphs and interpretation. This is to show how much more efficient each ANN is relative to the </a:t>
            </a:r>
            <a:r>
              <a:rPr lang="en-US" b="0" dirty="0" err="1"/>
              <a:t>RingSNN</a:t>
            </a:r>
            <a:r>
              <a:rPr lang="en-US" b="0" dirty="0"/>
              <a:t>. </a:t>
            </a:r>
            <a:r>
              <a:rPr lang="en-US" sz="1200" i="0" kern="1200" dirty="0">
                <a:solidFill>
                  <a:schemeClr val="tx1"/>
                </a:solidFill>
                <a:effectLst/>
                <a:latin typeface="+mn-lt"/>
                <a:ea typeface="+mn-ea"/>
                <a:cs typeface="+mn-cs"/>
              </a:rPr>
              <a:t>Amongst the ANNs, CNN and GRU provide the next best efficiency depending on the dataset while CNN-LSTM consumes more energy across datasets. The better efficiencies vary due to AEP containing high‑frequency, sporadic, human‑driven noise that benefits from GRU’s lightweight gating and temporal smoothing. On the other hand, the Solar Production and Sunspot datasets contain smoother, short‑range temporal patterns, which Conv1D captures efficiently with lower computational cost, making CNN the second‑most efficient model for those datasets.</a:t>
            </a:r>
            <a:endParaRPr b="0" i="0" dirty="0"/>
          </a:p>
        </p:txBody>
      </p:sp>
    </p:spTree>
    <p:extLst>
      <p:ext uri="{BB962C8B-B14F-4D97-AF65-F5344CB8AC3E}">
        <p14:creationId xmlns:p14="http://schemas.microsoft.com/office/powerpoint/2010/main" val="26058150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EB7F1C02-69E9-5DCC-DACD-4BE05D2BFF8D}"/>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0AF97F5D-23D8-E998-54F5-EC71E20DC9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AB7AE56D-6461-CA73-F368-DB23F30AF7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Shows how much more efficient each ANN is relative to the </a:t>
            </a:r>
            <a:r>
              <a:rPr lang="en-US" b="0" dirty="0" err="1"/>
              <a:t>RingSNN</a:t>
            </a:r>
            <a:r>
              <a:rPr lang="en-US" b="0" dirty="0"/>
              <a:t>. </a:t>
            </a:r>
            <a:r>
              <a:rPr lang="en-US" dirty="0"/>
              <a:t>For all three datasets, </a:t>
            </a:r>
            <a:r>
              <a:rPr lang="en-US" dirty="0" err="1"/>
              <a:t>RingSNN</a:t>
            </a:r>
            <a:r>
              <a:rPr lang="en-US" dirty="0"/>
              <a:t> stands out as the most energy-efficient model, but with accuracies closer to ANN models. </a:t>
            </a:r>
            <a:r>
              <a:rPr lang="en-US" sz="1200" i="0" kern="1200" dirty="0">
                <a:solidFill>
                  <a:schemeClr val="tx1"/>
                </a:solidFill>
                <a:effectLst/>
                <a:latin typeface="+mn-lt"/>
                <a:ea typeface="+mn-ea"/>
                <a:cs typeface="+mn-cs"/>
              </a:rPr>
              <a:t>Amongst the ANNs, CNN and GRU provide the next best efficiency depending on the dataset while CNN-LSTM consumes more energy across datasets. The better efficiencies vary due to AEP containing high‑frequency, sporadic, human‑driven noise that benefits from GRU’s lightweight gating and temporal smoothing. On the other hand, the Solar Production and Sunspot datasets contain smoother, short‑range temporal patterns, which Conv1D captures efficiently with lower computational cost, making CNN the second‑most efficient model for those datasets.</a:t>
            </a:r>
            <a:endParaRPr b="0" i="0" dirty="0"/>
          </a:p>
        </p:txBody>
      </p:sp>
    </p:spTree>
    <p:extLst>
      <p:ext uri="{BB962C8B-B14F-4D97-AF65-F5344CB8AC3E}">
        <p14:creationId xmlns:p14="http://schemas.microsoft.com/office/powerpoint/2010/main" val="39337617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A5C410EB-3DF6-0722-6B7B-1EEA87347BCC}"/>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AF0CE373-9AB6-DED9-B899-0F2FE5F165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C6D1F17B-A0A7-98BB-E00E-8B8ED1F1B8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Shows how much more efficient each ANN is relative to the </a:t>
            </a:r>
            <a:r>
              <a:rPr lang="en-US" b="0" dirty="0" err="1"/>
              <a:t>RingSNN</a:t>
            </a:r>
            <a:r>
              <a:rPr lang="en-US" b="0" dirty="0"/>
              <a:t>. </a:t>
            </a:r>
            <a:r>
              <a:rPr lang="en-US" dirty="0"/>
              <a:t>For all three datasets, </a:t>
            </a:r>
            <a:r>
              <a:rPr lang="en-US" dirty="0" err="1"/>
              <a:t>RingSNN</a:t>
            </a:r>
            <a:r>
              <a:rPr lang="en-US" dirty="0"/>
              <a:t> stands out as the most energy-efficient model, but with accuracies closer to ANN models.</a:t>
            </a:r>
            <a:r>
              <a:rPr lang="en-US" sz="1200" kern="120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Amongst the ANNs, CNN and GRU provide the next best efficiency depending on the dataset while CNN-LSTM consumes more energy across datasets. The better efficiencies vary due to AEP containing high‑frequency, sporadic, human‑driven noise that benefits from GRU’s lightweight gating and temporal smoothing. On the other hand, the Solar Production and Sunspot datasets contain smoother, short‑range temporal patterns, which Conv1D captures efficiently with lower computational cost, making CNN the second‑most efficient model for those datasets.</a:t>
            </a:r>
            <a:endParaRPr b="0" i="0" dirty="0"/>
          </a:p>
        </p:txBody>
      </p:sp>
    </p:spTree>
    <p:extLst>
      <p:ext uri="{BB962C8B-B14F-4D97-AF65-F5344CB8AC3E}">
        <p14:creationId xmlns:p14="http://schemas.microsoft.com/office/powerpoint/2010/main" val="31260490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8637C3B0-81CF-2C5A-DFCC-2351540127B5}"/>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594A6892-5C7F-A712-D739-C8B9574E47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920256B8-B264-3928-8A4C-4EA1FDE55C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Here are the Energy vs MAE Tradeoff Plots with Efficiency Ratios. This is a visual representation of the tables from the datasets. </a:t>
            </a:r>
            <a:endParaRPr b="0" dirty="0"/>
          </a:p>
        </p:txBody>
      </p:sp>
    </p:spTree>
    <p:extLst>
      <p:ext uri="{BB962C8B-B14F-4D97-AF65-F5344CB8AC3E}">
        <p14:creationId xmlns:p14="http://schemas.microsoft.com/office/powerpoint/2010/main" val="18943436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0EEDB5A-85B8-428E-EC8F-80305DA0E093}"/>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9162DE1E-4BF8-4329-351F-97E2BF7719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D5DAB55E-05ED-4F44-65ED-405940B286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Here are the Prediction vs Ground Truth Plots for the </a:t>
            </a:r>
            <a:r>
              <a:rPr lang="en-US" b="0" dirty="0" err="1"/>
              <a:t>RingSNN</a:t>
            </a:r>
            <a:r>
              <a:rPr lang="en-US" b="0" dirty="0"/>
              <a:t> and ANN for all three datasets. I’m only going to show the prediction vs ground truth plots for the CNN. </a:t>
            </a:r>
            <a:r>
              <a:rPr lang="en-US" b="0" dirty="0">
                <a:highlight>
                  <a:srgbClr val="FFFF00"/>
                </a:highlight>
              </a:rPr>
              <a:t>You can see how closely matched the Actual and Predicted values are. The </a:t>
            </a:r>
            <a:r>
              <a:rPr lang="en-US" b="0" dirty="0" err="1">
                <a:highlight>
                  <a:srgbClr val="FFFF00"/>
                </a:highlight>
              </a:rPr>
              <a:t>RingSNN</a:t>
            </a:r>
            <a:r>
              <a:rPr lang="en-US" b="0" dirty="0">
                <a:highlight>
                  <a:srgbClr val="FFFF00"/>
                </a:highlight>
              </a:rPr>
              <a:t> shows that the decoder predictions are  somewhat unstable </a:t>
            </a:r>
            <a:r>
              <a:rPr lang="en-US" sz="1200" kern="1200" dirty="0">
                <a:solidFill>
                  <a:schemeClr val="tx1"/>
                </a:solidFill>
                <a:effectLst/>
                <a:highlight>
                  <a:srgbClr val="FFFF00"/>
                </a:highlight>
                <a:latin typeface="+mn-lt"/>
                <a:ea typeface="+mn-ea"/>
                <a:cs typeface="+mn-cs"/>
              </a:rPr>
              <a:t>due to spike-driven variability, while ground truth remains stable. A regression-fit feature vector is included alongside spike-derived features as it encodes spike counts per epoch. The regression fit plot is helpful in visualizing energy vs. accuracy tradeoffs and helps explain decoder deficiency and closely match the ground truths making it a good decoder alignment for the ANN baselines. They demonstrate that spike activity encodes predictive information, as the regression line aligns closely with the ground truth. This analysis confirms that </a:t>
            </a:r>
            <a:r>
              <a:rPr lang="en-US" sz="1200" kern="1200" dirty="0" err="1">
                <a:solidFill>
                  <a:schemeClr val="tx1"/>
                </a:solidFill>
                <a:effectLst/>
                <a:highlight>
                  <a:srgbClr val="FFFF00"/>
                </a:highlight>
                <a:latin typeface="+mn-lt"/>
                <a:ea typeface="+mn-ea"/>
                <a:cs typeface="+mn-cs"/>
              </a:rPr>
              <a:t>RingSNN</a:t>
            </a:r>
            <a:r>
              <a:rPr lang="en-US" sz="1200" kern="1200" dirty="0">
                <a:solidFill>
                  <a:schemeClr val="tx1"/>
                </a:solidFill>
                <a:effectLst/>
                <a:highlight>
                  <a:srgbClr val="FFFF00"/>
                </a:highlight>
                <a:latin typeface="+mn-lt"/>
                <a:ea typeface="+mn-ea"/>
                <a:cs typeface="+mn-cs"/>
              </a:rPr>
              <a:t> spike representations are predictive of target values. Although the direct decoder outputs exhibit significant variability, fitting a linear regression to spike activity demonstrates that </a:t>
            </a:r>
            <a:r>
              <a:rPr lang="en-US" sz="1200" kern="1200" dirty="0" err="1">
                <a:solidFill>
                  <a:schemeClr val="tx1"/>
                </a:solidFill>
                <a:effectLst/>
                <a:highlight>
                  <a:srgbClr val="FFFF00"/>
                </a:highlight>
                <a:latin typeface="+mn-lt"/>
                <a:ea typeface="+mn-ea"/>
                <a:cs typeface="+mn-cs"/>
              </a:rPr>
              <a:t>RingSNN</a:t>
            </a:r>
            <a:r>
              <a:rPr lang="en-US" sz="1200" kern="1200" dirty="0">
                <a:solidFill>
                  <a:schemeClr val="tx1"/>
                </a:solidFill>
                <a:effectLst/>
                <a:highlight>
                  <a:srgbClr val="FFFF00"/>
                </a:highlight>
                <a:latin typeface="+mn-lt"/>
                <a:ea typeface="+mn-ea"/>
                <a:cs typeface="+mn-cs"/>
              </a:rPr>
              <a:t> remains predictive. (flip to Slides 38 and 39 and come back to 38).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highlight>
                <a:srgbClr val="FFFF00"/>
              </a:highligh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(Items to know but NOT say except when asked):</a:t>
            </a:r>
            <a:endParaRPr lang="en-US" sz="1200" kern="1200" dirty="0">
              <a:solidFill>
                <a:schemeClr val="tx1"/>
              </a:solidFill>
              <a:effectLst/>
              <a:highlight>
                <a:srgbClr val="FFFF00"/>
              </a:highligh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highlight>
                  <a:srgbClr val="FFFF00"/>
                </a:highlight>
                <a:latin typeface="+mn-lt"/>
                <a:ea typeface="+mn-ea"/>
                <a:cs typeface="+mn-cs"/>
              </a:rPr>
              <a:t>(</a:t>
            </a:r>
            <a:r>
              <a:rPr lang="en-US" dirty="0">
                <a:highlight>
                  <a:srgbClr val="FFFF00"/>
                </a:highlight>
              </a:rPr>
              <a:t>Prediction vs Ground Truth plots assess how well the model tracks the real temporal signal. They visually show whether the model captures peaks, transitions, and overall shape.)</a:t>
            </a:r>
            <a:endParaRPr lang="en-US" sz="1200" kern="1200" dirty="0">
              <a:solidFill>
                <a:schemeClr val="tx1"/>
              </a:solidFill>
              <a:effectLst/>
              <a:highlight>
                <a:srgbClr val="FFFF00"/>
              </a:highligh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highlight>
                  <a:srgbClr val="FFFF00"/>
                </a:highlight>
                <a:latin typeface="+mn-lt"/>
                <a:ea typeface="+mn-ea"/>
                <a:cs typeface="+mn-cs"/>
              </a:rPr>
              <a:t>(Spike‑driven variability refers to the natural jitter in SNN outputs caused by discrete spike timing and spike count fluctuations.)</a:t>
            </a:r>
          </a:p>
          <a:p>
            <a:endParaRPr lang="en-US" b="0" dirty="0"/>
          </a:p>
        </p:txBody>
      </p:sp>
    </p:spTree>
    <p:extLst>
      <p:ext uri="{BB962C8B-B14F-4D97-AF65-F5344CB8AC3E}">
        <p14:creationId xmlns:p14="http://schemas.microsoft.com/office/powerpoint/2010/main" val="38654485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E784C0B1-FAA8-B30E-2331-97842095C51B}"/>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BE4CDE2E-1D79-C102-FE71-CD3E977831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72B1F2E3-384E-7C10-B64D-A283EEE76A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The same is true for the Sunspot Dataset with the CNN and </a:t>
            </a:r>
            <a:r>
              <a:rPr lang="en-US" b="0" dirty="0" err="1"/>
              <a:t>RingSNN</a:t>
            </a:r>
            <a:r>
              <a:rPr lang="en-US" b="0" dirty="0"/>
              <a:t>. You might notice that the </a:t>
            </a:r>
            <a:r>
              <a:rPr lang="en-US" dirty="0"/>
              <a:t>CNN Prediction vs Ground Truth plot looks different due to Sunspot dataset being chaotic and irregular, making it harder for the CNN to learn stable temporal patterns (oscillation curves, lags). This leads to noisier, less accurate predictions compared to AEP and Solar.</a:t>
            </a:r>
            <a:endParaRPr b="0" dirty="0"/>
          </a:p>
        </p:txBody>
      </p:sp>
    </p:spTree>
    <p:extLst>
      <p:ext uri="{BB962C8B-B14F-4D97-AF65-F5344CB8AC3E}">
        <p14:creationId xmlns:p14="http://schemas.microsoft.com/office/powerpoint/2010/main" val="13734427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841B86F4-217B-C35F-1600-B9DB7C7C2DA3}"/>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FA01E32F-2033-7C66-2396-6D7148FEC0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EDE01E36-C599-1436-8F58-BA9182866B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And for the Solar Production Dataset.</a:t>
            </a:r>
            <a:endParaRPr b="0" dirty="0"/>
          </a:p>
        </p:txBody>
      </p:sp>
    </p:spTree>
    <p:extLst>
      <p:ext uri="{BB962C8B-B14F-4D97-AF65-F5344CB8AC3E}">
        <p14:creationId xmlns:p14="http://schemas.microsoft.com/office/powerpoint/2010/main" val="7584246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DD286DEB-C9EF-1478-4B76-283D866AF130}"/>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7C203998-B509-43C5-6AED-C30A07C573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FC9F2AED-ECF0-7B4E-AC1E-5FCE84F34A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And here are the Decoder Weight evolution graphs for each (AEP, Sunspot, and Solar Production) datasets. </a:t>
            </a:r>
            <a:r>
              <a:rPr lang="en-US" dirty="0"/>
              <a:t>AEP shows clean convergence because the dataset has strong temporal structure and the SNN receives enough informative spikes to learn stable decoder weights. Sunspot weights oscillate because the data is chaotic. The SNN receives dense but inconsistent spike activity, so the decoder keeps readjusting instead of settling. (Solar weights look stable, but it’s not true convergence — the spike activity is so sparse that the decoder doesn’t have enough information to learn meaningful patterns.)</a:t>
            </a:r>
          </a:p>
          <a:p>
            <a:endParaRPr lang="en-US" dirty="0"/>
          </a:p>
          <a:p>
            <a:endParaRPr b="0" dirty="0"/>
          </a:p>
        </p:txBody>
      </p:sp>
    </p:spTree>
    <p:extLst>
      <p:ext uri="{BB962C8B-B14F-4D97-AF65-F5344CB8AC3E}">
        <p14:creationId xmlns:p14="http://schemas.microsoft.com/office/powerpoint/2010/main" val="2849959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AEC5D7A5-1D38-968C-EFC1-3C90A6104F5F}"/>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129910BA-3B8D-F4DE-B820-2522355E3A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D7A989FD-33B5-D178-97CE-AED1AF3D239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(Remember x‑axis: time (simulation steps-20 timesteps in my case), y‑axis: neuron index-20 neurons, dot/mark: a spike event at that time for that neuron, </a:t>
            </a:r>
            <a:r>
              <a:rPr lang="en-US" sz="1200" b="0" dirty="0"/>
              <a:t>Each row corresponds to one neuron, and each dot represents a spike.</a:t>
            </a:r>
            <a:r>
              <a:rPr lang="en-US" sz="1200" b="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Overall, the Spike Raster Plots show a uniform set of spikes for different time steps or run times at different neuron indices. </a:t>
            </a:r>
            <a:r>
              <a:rPr lang="en-US" dirty="0"/>
              <a:t>AEP produces structured moderate activity, Sunspot produces dense chaotic spikes, and Solar produces extremely sparse spikes—revealing how each dataset drives different temporal representations inside the SNN. </a:t>
            </a:r>
            <a:r>
              <a:rPr lang="en-US" sz="1200" b="0" kern="1200" dirty="0">
                <a:solidFill>
                  <a:schemeClr val="tx1"/>
                </a:solidFill>
                <a:effectLst/>
                <a:latin typeface="+mn-lt"/>
                <a:ea typeface="+mn-ea"/>
                <a:cs typeface="+mn-cs"/>
              </a:rPr>
              <a:t>The Solar Production Raster Plot generates far fewer spikes because its signal is smooth, with flat periods during nighttime and gradual, predictable slopes during sunrise and sunset. </a:t>
            </a:r>
            <a:r>
              <a:rPr lang="en-US" sz="1200" kern="1200" dirty="0">
                <a:solidFill>
                  <a:schemeClr val="tx1"/>
                </a:solidFill>
                <a:effectLst/>
                <a:latin typeface="+mn-lt"/>
                <a:ea typeface="+mn-ea"/>
                <a:cs typeface="+mn-cs"/>
              </a:rPr>
              <a:t>In the </a:t>
            </a:r>
            <a:r>
              <a:rPr lang="en-US" sz="1200" kern="1200" dirty="0" err="1">
                <a:solidFill>
                  <a:schemeClr val="tx1"/>
                </a:solidFill>
                <a:effectLst/>
                <a:latin typeface="+mn-lt"/>
                <a:ea typeface="+mn-ea"/>
                <a:cs typeface="+mn-cs"/>
              </a:rPr>
              <a:t>RingBuffer</a:t>
            </a:r>
            <a:r>
              <a:rPr lang="en-US" sz="1200" kern="1200" dirty="0">
                <a:solidFill>
                  <a:schemeClr val="tx1"/>
                </a:solidFill>
                <a:effectLst/>
                <a:latin typeface="+mn-lt"/>
                <a:ea typeface="+mn-ea"/>
                <a:cs typeface="+mn-cs"/>
              </a:rPr>
              <a:t> encoder, spike generation is driven by changes in normalized magnitude and slope; when the input varies only minimally across consecutive time steps, the firing probability remains low and the resulting spike trains become extremely sparse. While this sparsity leads to very low energy consumption, it also limits the richness of the encoded representation and weakens decoder alignment.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(Spike generation is driven by changes in normalized magnitude and slope because SNNs are event‑driven systems: spikes should represent meaningful changes in the signal, not static values. This improves energy efficiency, but it also ensures that spikes represent meaningful temporal information, mirroring biological sensory coding.)</a:t>
            </a:r>
          </a:p>
          <a:p>
            <a:pPr marL="0" marR="0" lvl="0" indent="0" algn="l" defTabSz="914400" rtl="0" eaLnBrk="1" fontAlgn="auto" latinLnBrk="0" hangingPunct="1">
              <a:lnSpc>
                <a:spcPct val="100000"/>
              </a:lnSpc>
              <a:spcBef>
                <a:spcPts val="0"/>
              </a:spcBef>
              <a:spcAft>
                <a:spcPts val="0"/>
              </a:spcAft>
              <a:buClrTx/>
              <a:buSzTx/>
              <a:buFontTx/>
              <a:buNone/>
              <a:tabLst/>
              <a:defRPr/>
            </a:pPr>
            <a:endParaRPr b="0" dirty="0"/>
          </a:p>
        </p:txBody>
      </p:sp>
    </p:spTree>
    <p:extLst>
      <p:ext uri="{BB962C8B-B14F-4D97-AF65-F5344CB8AC3E}">
        <p14:creationId xmlns:p14="http://schemas.microsoft.com/office/powerpoint/2010/main" val="19307130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61FAB99C-99E7-6B3E-AF3E-48E8944C35ED}"/>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8F868E16-31CD-05E4-E724-6ED20F1F5E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9AC13D2F-175C-D842-50E0-DDA7C9CFA9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This is the Spike Density per Neuron Plot. It is </a:t>
            </a:r>
            <a:r>
              <a:rPr lang="en-US" sz="1200" kern="1200" dirty="0">
                <a:solidFill>
                  <a:schemeClr val="tx1"/>
                </a:solidFill>
                <a:effectLst/>
                <a:latin typeface="+mn-lt"/>
                <a:ea typeface="+mn-ea"/>
                <a:cs typeface="+mn-cs"/>
              </a:rPr>
              <a:t>a uniform distribution of spikes with five to seven spike counts being the most frequently emitted (referring to AEP and Sunspot Datasets). The Spike Density plot for the Solar Production Dataset sees spike count ranges from none to 3 due to the lower sparsity while the AEP has the best spike density and is the most balanced. </a:t>
            </a:r>
          </a:p>
          <a:p>
            <a:endParaRPr b="0" dirty="0"/>
          </a:p>
        </p:txBody>
      </p:sp>
    </p:spTree>
    <p:extLst>
      <p:ext uri="{BB962C8B-B14F-4D97-AF65-F5344CB8AC3E}">
        <p14:creationId xmlns:p14="http://schemas.microsoft.com/office/powerpoint/2010/main" val="42401313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86E1C309-40F1-51C0-1667-27329416B6F5}"/>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C1EA6A20-021A-DC0B-BD42-7EC80E0380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15C4B6F3-AAD0-E34D-FA5F-E96D7924D61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Here is the decomposition of the energy states for the </a:t>
            </a:r>
            <a:r>
              <a:rPr lang="en-US" sz="1200" kern="1200" dirty="0" err="1">
                <a:solidFill>
                  <a:schemeClr val="tx1"/>
                </a:solidFill>
                <a:effectLst/>
                <a:latin typeface="+mn-lt"/>
                <a:ea typeface="+mn-ea"/>
                <a:cs typeface="+mn-cs"/>
              </a:rPr>
              <a:t>RingSNN</a:t>
            </a:r>
            <a:r>
              <a:rPr lang="en-US" sz="1200" kern="1200" dirty="0">
                <a:solidFill>
                  <a:schemeClr val="tx1"/>
                </a:solidFill>
                <a:effectLst/>
                <a:latin typeface="+mn-lt"/>
                <a:ea typeface="+mn-ea"/>
                <a:cs typeface="+mn-cs"/>
              </a:rPr>
              <a:t> model for all datasets with Idle, Active, and Spike Driven energy states. The spike-related component corresponds specifically to event-driven neural firing.</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You can see that idle energy remains constant across all evaluated datasets. However, noticeable variations appear in the spike-dependent energy. The Sunspot dataset exhibits higher spike-related energy consumption while the Solar Production dataset is the lowest. As I discussed with the Spike Raster Plots, this is due to the fewer spikes produced for Solar Production. The sparsity reduces energy usage and limits the expressiveness of the encoded signal and affect decoder performance. On the other hand, the Sunspot dataset produces increased spike-driven energy consumption due to the more frequent and varied spikes and higher temporal variability. As I mentioned before, the active energy component accounts for general processing tasks like memory operations and data routing. You can also see that with a higher spike-driven energy also come with a high active energy due to memory-access and routing energy associated with synaptic fan-out.</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Data routing</a:t>
            </a:r>
            <a:r>
              <a:rPr lang="en-US" sz="1200" kern="1200" dirty="0">
                <a:solidFill>
                  <a:schemeClr val="tx1"/>
                </a:solidFill>
                <a:effectLst/>
                <a:latin typeface="+mn-lt"/>
                <a:ea typeface="+mn-ea"/>
                <a:cs typeface="+mn-cs"/>
              </a:rPr>
              <a:t> is the process of moving information from one place in the hardware to another using a predefined map of where that information needs to go.)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5331223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ED397C2B-DB53-3BA1-4F89-85C98818D454}"/>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62BDEA9B-FEA3-CC8B-C0C8-1D78E16B8A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B690A64F-AE16-D88F-E7EF-C35D8475A15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Here is the decomposition of the energy states for the ANN Baseline Power Consumption. I mentioned before that GPU‑based ANN baselines completed each epoch in 3–5 milliseconds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When operated for 10 epochs, this would take between 30-50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Taking the average of this would mean 40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to complete the training. After finding the total GPU energy for the ANNs, it was divided by 40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to obtain the power consumption in Watts (W). You can see that Sunspot dataset requires less energy for ANN processing compared to the other datasets. This can be explained by differences in dataset size: the Sunspot dataset contains fewer samples, leading to fewer computations per epoch. Despite identical network architectures, the reduced number of multiply-accumulate (MAC) operations results in lower overall energy usage. ANN energy depends on dataset size and MAC operations. SNN energy depends on spike events, which are driven by temporal variability. Sunspot has few samples (low ANN energy) but highly irregular dynamics (high SNN spike count).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(Multiply–accumulate operation (MAC) is a basic computation where two numbers (</a:t>
            </a:r>
            <a:r>
              <a:rPr lang="en-US" sz="1200" kern="1200" dirty="0" err="1">
                <a:solidFill>
                  <a:schemeClr val="tx1"/>
                </a:solidFill>
                <a:effectLst/>
                <a:latin typeface="+mn-lt"/>
                <a:ea typeface="+mn-ea"/>
                <a:cs typeface="+mn-cs"/>
              </a:rPr>
              <a:t>AxB</a:t>
            </a:r>
            <a:r>
              <a:rPr lang="en-US" sz="1200" kern="1200" dirty="0">
                <a:solidFill>
                  <a:schemeClr val="tx1"/>
                </a:solidFill>
                <a:effectLst/>
                <a:latin typeface="+mn-lt"/>
                <a:ea typeface="+mn-ea"/>
                <a:cs typeface="+mn-cs"/>
              </a:rPr>
              <a:t>) are multiplied and then add the result to an accumulator (+C).)</a:t>
            </a:r>
          </a:p>
        </p:txBody>
      </p:sp>
    </p:spTree>
    <p:extLst>
      <p:ext uri="{BB962C8B-B14F-4D97-AF65-F5344CB8AC3E}">
        <p14:creationId xmlns:p14="http://schemas.microsoft.com/office/powerpoint/2010/main" val="23719404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9A5FF442-61C1-653B-EBDF-534B6A409C6B}"/>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443A7DD6-795E-2729-F88C-B044A47B7D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95F1870F-79F3-7F00-A1AD-62B9D73377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We finally look at the hardware-validated benchmarking analysis on the </a:t>
            </a:r>
            <a:r>
              <a:rPr lang="en-US" sz="1200" kern="1200" dirty="0" err="1">
                <a:solidFill>
                  <a:schemeClr val="tx1"/>
                </a:solidFill>
                <a:effectLst/>
                <a:latin typeface="+mn-lt"/>
                <a:ea typeface="+mn-ea"/>
                <a:cs typeface="+mn-cs"/>
              </a:rPr>
              <a:t>Loihi</a:t>
            </a:r>
            <a:r>
              <a:rPr lang="en-US" sz="1200" kern="1200" dirty="0">
                <a:solidFill>
                  <a:schemeClr val="tx1"/>
                </a:solidFill>
                <a:effectLst/>
                <a:latin typeface="+mn-lt"/>
                <a:ea typeface="+mn-ea"/>
                <a:cs typeface="+mn-cs"/>
              </a:rPr>
              <a:t> 2  and GPU platforms with two of the most closely related papers I showed in the beginning. While </a:t>
            </a:r>
            <a:r>
              <a:rPr lang="en-US" sz="1200" kern="1200" dirty="0" err="1">
                <a:solidFill>
                  <a:schemeClr val="tx1"/>
                </a:solidFill>
                <a:effectLst/>
                <a:latin typeface="+mn-lt"/>
                <a:ea typeface="+mn-ea"/>
                <a:cs typeface="+mn-cs"/>
              </a:rPr>
              <a:t>Lv’s</a:t>
            </a:r>
            <a:r>
              <a:rPr lang="en-US" sz="1200" kern="1200" dirty="0">
                <a:solidFill>
                  <a:schemeClr val="tx1"/>
                </a:solidFill>
                <a:effectLst/>
                <a:latin typeface="+mn-lt"/>
                <a:ea typeface="+mn-ea"/>
                <a:cs typeface="+mn-cs"/>
              </a:rPr>
              <a:t> paper on Efficient and Effective Time-Series Forecasting demonstrated that carefully designed SNNs can achieve competitive forecasting accuracy in simulation, our study evaluates how decoder pipelines perform on actual neuromorphic hardware (</a:t>
            </a:r>
            <a:r>
              <a:rPr lang="en-US" sz="1200" kern="1200" dirty="0" err="1">
                <a:solidFill>
                  <a:schemeClr val="tx1"/>
                </a:solidFill>
                <a:effectLst/>
                <a:latin typeface="+mn-lt"/>
                <a:ea typeface="+mn-ea"/>
                <a:cs typeface="+mn-cs"/>
              </a:rPr>
              <a:t>Loihi</a:t>
            </a:r>
            <a:r>
              <a:rPr lang="en-US" sz="1200" kern="1200" dirty="0">
                <a:solidFill>
                  <a:schemeClr val="tx1"/>
                </a:solidFill>
                <a:effectLst/>
                <a:latin typeface="+mn-lt"/>
                <a:ea typeface="+mn-ea"/>
                <a:cs typeface="+mn-cs"/>
              </a:rPr>
              <a:t> 2) and GPU baselines across solar, AEP, and sunspot datasets. By recording per‑epoch runtime, spike counts, and accuracy, we generate energy-accuracy trade‑off curves that reveal the practical efficiency of neuromorphic computing for sustainability‑focused forecasting tasks. Overall, this comparison shows that contribution lies not only in validating SNNs for time‑series forecasting but also in demonstrating their efficiency on real hardware platforms, thereby bridging the gap between algorithmic advances and hardware‑level application benchmarks.  </a:t>
            </a:r>
          </a:p>
        </p:txBody>
      </p:sp>
    </p:spTree>
    <p:extLst>
      <p:ext uri="{BB962C8B-B14F-4D97-AF65-F5344CB8AC3E}">
        <p14:creationId xmlns:p14="http://schemas.microsoft.com/office/powerpoint/2010/main" val="7800997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B3DC6A35-5F73-A36B-40A3-5E824A866FC9}"/>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1722FCBC-4F37-54BC-8A73-F2F24C9D0A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7384A289-1B77-8E1C-E64F-5F6AAC0382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In addition, the results were compared to Nagy’s paper (</a:t>
            </a:r>
            <a:r>
              <a:rPr lang="en-US" sz="1200" dirty="0"/>
              <a:t>Analyzing energy consumption of </a:t>
            </a:r>
            <a:r>
              <a:rPr lang="en-US" sz="1200" dirty="0" err="1"/>
              <a:t>Loihi</a:t>
            </a:r>
            <a:r>
              <a:rPr lang="en-US" sz="1200" dirty="0"/>
              <a:t> 2 neuromorphic chip in a self-driving use-case</a:t>
            </a:r>
            <a:r>
              <a:rPr lang="en-US" sz="1200" dirty="0">
                <a:highlight>
                  <a:srgbClr val="FFFF00"/>
                </a:highlight>
              </a:rPr>
              <a:t>) </a:t>
            </a:r>
            <a:r>
              <a:rPr lang="en-US" sz="1200" kern="1200" dirty="0">
                <a:solidFill>
                  <a:schemeClr val="tx1"/>
                </a:solidFill>
                <a:effectLst/>
                <a:highlight>
                  <a:srgbClr val="FFFF00"/>
                </a:highlight>
                <a:latin typeface="+mn-lt"/>
                <a:ea typeface="+mn-ea"/>
                <a:cs typeface="+mn-cs"/>
              </a:rPr>
              <a:t>which benchmarked </a:t>
            </a:r>
            <a:r>
              <a:rPr lang="en-US" sz="1200" kern="1200" dirty="0" err="1">
                <a:solidFill>
                  <a:schemeClr val="tx1"/>
                </a:solidFill>
                <a:effectLst/>
                <a:highlight>
                  <a:srgbClr val="FFFF00"/>
                </a:highlight>
                <a:latin typeface="+mn-lt"/>
                <a:ea typeface="+mn-ea"/>
                <a:cs typeface="+mn-cs"/>
              </a:rPr>
              <a:t>Loihi</a:t>
            </a:r>
            <a:r>
              <a:rPr lang="en-US" sz="1200" kern="1200" dirty="0">
                <a:solidFill>
                  <a:schemeClr val="tx1"/>
                </a:solidFill>
                <a:effectLst/>
                <a:highlight>
                  <a:srgbClr val="FFFF00"/>
                </a:highlight>
                <a:latin typeface="+mn-lt"/>
                <a:ea typeface="+mn-ea"/>
                <a:cs typeface="+mn-cs"/>
              </a:rPr>
              <a:t> 2 against GPUs in a self-driving use case</a:t>
            </a:r>
            <a:r>
              <a:rPr lang="en-US" sz="1200" kern="1200" dirty="0">
                <a:solidFill>
                  <a:schemeClr val="tx1"/>
                </a:solidFill>
                <a:effectLst/>
                <a:latin typeface="+mn-lt"/>
                <a:ea typeface="+mn-ea"/>
                <a:cs typeface="+mn-cs"/>
              </a:rPr>
              <a:t>. This shows that </a:t>
            </a:r>
            <a:r>
              <a:rPr lang="en-US" sz="1200" kern="1200" dirty="0" err="1">
                <a:solidFill>
                  <a:schemeClr val="tx1"/>
                </a:solidFill>
                <a:effectLst/>
                <a:latin typeface="+mn-lt"/>
                <a:ea typeface="+mn-ea"/>
                <a:cs typeface="+mn-cs"/>
              </a:rPr>
              <a:t>Loihi</a:t>
            </a:r>
            <a:r>
              <a:rPr lang="en-US" sz="1200" kern="1200" dirty="0">
                <a:solidFill>
                  <a:schemeClr val="tx1"/>
                </a:solidFill>
                <a:effectLst/>
                <a:latin typeface="+mn-lt"/>
                <a:ea typeface="+mn-ea"/>
                <a:cs typeface="+mn-cs"/>
              </a:rPr>
              <a:t> 2 achieves comparable accuracy with considerably lower energy consumption as shown in the above table. Our work extends this hardware benchmarking into the sustainability domain, evaluating decoder pipelines on </a:t>
            </a:r>
            <a:r>
              <a:rPr lang="en-US" sz="1200" kern="1200" dirty="0" err="1">
                <a:solidFill>
                  <a:schemeClr val="tx1"/>
                </a:solidFill>
                <a:effectLst/>
                <a:latin typeface="+mn-lt"/>
                <a:ea typeface="+mn-ea"/>
                <a:cs typeface="+mn-cs"/>
              </a:rPr>
              <a:t>Loihi</a:t>
            </a:r>
            <a:r>
              <a:rPr lang="en-US" sz="1200" kern="1200" dirty="0">
                <a:solidFill>
                  <a:schemeClr val="tx1"/>
                </a:solidFill>
                <a:effectLst/>
                <a:latin typeface="+mn-lt"/>
                <a:ea typeface="+mn-ea"/>
                <a:cs typeface="+mn-cs"/>
              </a:rPr>
              <a:t> 2 and GPUs for solar, AEP load, and sunspot forecasting tasks. By reporting per epoch runtime, spike counts, and accuracy, we provide energy vs. accuracy trade-off plots that complement Nagy’s vehicular study. Collectively, these results demonstrate that neuromorphic computing offers efficiency advantages across diverse real-world applications, spanning autonomous driving to renewable energy forecasting.</a:t>
            </a:r>
          </a:p>
        </p:txBody>
      </p:sp>
    </p:spTree>
    <p:extLst>
      <p:ext uri="{BB962C8B-B14F-4D97-AF65-F5344CB8AC3E}">
        <p14:creationId xmlns:p14="http://schemas.microsoft.com/office/powerpoint/2010/main" val="19878823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CCC125E4-739C-15CC-5171-CA437F70298E}"/>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ACD8A8DD-7438-FFAC-9BE3-FBC2E78C73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5BF09E17-72E9-6896-CD2C-8641EA2B6D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b="0" dirty="0"/>
              <a:t>(Read off slides with Explanations)</a:t>
            </a:r>
            <a:endParaRPr b="0" dirty="0"/>
          </a:p>
        </p:txBody>
      </p:sp>
    </p:spTree>
    <p:extLst>
      <p:ext uri="{BB962C8B-B14F-4D97-AF65-F5344CB8AC3E}">
        <p14:creationId xmlns:p14="http://schemas.microsoft.com/office/powerpoint/2010/main" val="8363906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B96C7F9-C02F-A6B4-1DA0-DB2C374EE09E}"/>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D6C04A9B-EDB3-6170-9496-F707C33418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0BC5E4C7-64D6-FBBB-6977-DD51C480B9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(Read off slides with Explanations)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findings motivate further exploration into hybrid architectures and decoder optimization strategies that could bridge the gap between energy efficiency and predictive accuracy.</a:t>
            </a:r>
            <a:endParaRPr lang="en-US" b="0" dirty="0"/>
          </a:p>
          <a:p>
            <a:r>
              <a:rPr lang="en-US" b="0" dirty="0"/>
              <a:t>(3</a:t>
            </a:r>
            <a:r>
              <a:rPr lang="en-US" b="0" baseline="30000" dirty="0"/>
              <a:t>rd</a:t>
            </a:r>
            <a:r>
              <a:rPr lang="en-US" b="0" dirty="0"/>
              <a:t> Bullet Pt.): (Other examples include Solar or Wind Power Forecasting on Edge Devices, Smart Meters and Grid‑Edge Forecasting, </a:t>
            </a:r>
            <a:r>
              <a:rPr lang="en-US" dirty="0"/>
              <a:t>Wearable Health Monitoring, Industrial IoT Sensors (Vibration, Pressure, Fault Detection))</a:t>
            </a:r>
            <a:endParaRPr b="0" dirty="0"/>
          </a:p>
        </p:txBody>
      </p:sp>
    </p:spTree>
    <p:extLst>
      <p:ext uri="{BB962C8B-B14F-4D97-AF65-F5344CB8AC3E}">
        <p14:creationId xmlns:p14="http://schemas.microsoft.com/office/powerpoint/2010/main" val="4603860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786DDA8E-4005-F387-F2A1-D4DD17D7503C}"/>
            </a:ext>
          </a:extLst>
        </p:cNvPr>
        <p:cNvGrpSpPr/>
        <p:nvPr/>
      </p:nvGrpSpPr>
      <p:grpSpPr>
        <a:xfrm>
          <a:off x="0" y="0"/>
          <a:ext cx="0" cy="0"/>
          <a:chOff x="0" y="0"/>
          <a:chExt cx="0" cy="0"/>
        </a:xfrm>
      </p:grpSpPr>
      <p:sp>
        <p:nvSpPr>
          <p:cNvPr id="255" name="Google Shape;255;p47:notes">
            <a:extLst>
              <a:ext uri="{FF2B5EF4-FFF2-40B4-BE49-F238E27FC236}">
                <a16:creationId xmlns:a16="http://schemas.microsoft.com/office/drawing/2014/main" id="{E0DE9406-CB20-F2D6-0C48-BD0521A5D9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7:notes">
            <a:extLst>
              <a:ext uri="{FF2B5EF4-FFF2-40B4-BE49-F238E27FC236}">
                <a16:creationId xmlns:a16="http://schemas.microsoft.com/office/drawing/2014/main" id="{19A8155B-2753-37B2-F3DE-B80365430E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200" kern="1200" dirty="0">
                <a:solidFill>
                  <a:schemeClr val="tx1"/>
                </a:solidFill>
                <a:effectLst/>
                <a:latin typeface="+mn-lt"/>
                <a:ea typeface="+mn-ea"/>
                <a:cs typeface="+mn-cs"/>
              </a:rPr>
              <a:t>(Read off Future works and updates and mention the following)</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Improving encoding strategies</a:t>
            </a:r>
            <a:r>
              <a:rPr lang="en-US" sz="1200" kern="1200" dirty="0">
                <a:solidFill>
                  <a:schemeClr val="tx1"/>
                </a:solidFill>
                <a:effectLst/>
                <a:latin typeface="+mn-lt"/>
                <a:ea typeface="+mn-ea"/>
                <a:cs typeface="+mn-cs"/>
              </a:rPr>
              <a:t> making spike trains more informative, stable, and consistent across datasets.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Adapting decoder mechanisms</a:t>
            </a:r>
            <a:r>
              <a:rPr lang="en-US" sz="1200" kern="1200" dirty="0">
                <a:solidFill>
                  <a:schemeClr val="tx1"/>
                </a:solidFill>
                <a:effectLst/>
                <a:latin typeface="+mn-lt"/>
                <a:ea typeface="+mn-ea"/>
                <a:cs typeface="+mn-cs"/>
              </a:rPr>
              <a:t> = making the decoder robust to spike variability and align with the encoded representation.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Currently working on Adding Gated Ring structures and Residual Readouts to </a:t>
            </a:r>
            <a:r>
              <a:rPr lang="en-US" sz="1200" kern="1200" dirty="0" err="1">
                <a:solidFill>
                  <a:schemeClr val="tx1"/>
                </a:solidFill>
                <a:effectLst/>
                <a:latin typeface="+mn-lt"/>
                <a:ea typeface="+mn-ea"/>
                <a:cs typeface="+mn-cs"/>
              </a:rPr>
              <a:t>RingSNN</a:t>
            </a:r>
            <a:r>
              <a:rPr lang="en-US" sz="1200" kern="1200" dirty="0">
                <a:solidFill>
                  <a:schemeClr val="tx1"/>
                </a:solidFill>
                <a:effectLst/>
                <a:latin typeface="+mn-lt"/>
                <a:ea typeface="+mn-ea"/>
                <a:cs typeface="+mn-cs"/>
              </a:rPr>
              <a:t> to make the MAE results comparable to other architectures</a:t>
            </a:r>
          </a:p>
          <a:p>
            <a:pPr marL="171450" lvl="0" indent="-171450">
              <a:buFont typeface="Arial" panose="020B0604020202020204" pitchFamily="34" charset="0"/>
              <a:buChar char="•"/>
            </a:pPr>
            <a:r>
              <a:rPr lang="en-US" dirty="0"/>
              <a:t>Residual over a simple baseline means the model predicts only the deviation from an easy baseline forecast, not the full value.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dirty="0"/>
              <a:t>Port the </a:t>
            </a:r>
            <a:r>
              <a:rPr lang="en-US" dirty="0" err="1"/>
              <a:t>RingSNN</a:t>
            </a:r>
            <a:r>
              <a:rPr lang="en-US" dirty="0"/>
              <a:t> architecture to other neuromorphic platforms such as Xylo and Akida to evaluate portability and hardware‑specific energy–latency tradeoffs.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I hope this presentation has given you a clear understanding of the architecture and the direction of my future work. Thank you again for your time and attention. I will now take questions.</a:t>
            </a:r>
          </a:p>
          <a:p>
            <a:pPr marL="0" marR="0" lvl="0" indent="0" algn="l" defTabSz="914400" rtl="0" eaLnBrk="1" fontAlgn="auto" latinLnBrk="0" hangingPunct="1">
              <a:lnSpc>
                <a:spcPct val="100000"/>
              </a:lnSpc>
              <a:spcBef>
                <a:spcPts val="0"/>
              </a:spcBef>
              <a:spcAft>
                <a:spcPts val="0"/>
              </a:spcAft>
              <a:buClrTx/>
              <a:buSzTx/>
              <a:buFontTx/>
              <a:buNone/>
              <a:tabLst/>
              <a:defRPr/>
            </a:pPr>
            <a:endParaRPr b="0" dirty="0"/>
          </a:p>
        </p:txBody>
      </p:sp>
    </p:spTree>
    <p:extLst>
      <p:ext uri="{BB962C8B-B14F-4D97-AF65-F5344CB8AC3E}">
        <p14:creationId xmlns:p14="http://schemas.microsoft.com/office/powerpoint/2010/main" val="240126623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20073A-D494-40E1-99D5-9D38DD8E94BC}" type="slidenum">
              <a:rPr lang="en-US" smtClean="0"/>
              <a:t>52</a:t>
            </a:fld>
            <a:endParaRPr lang="en-US"/>
          </a:p>
        </p:txBody>
      </p:sp>
    </p:spTree>
    <p:extLst>
      <p:ext uri="{BB962C8B-B14F-4D97-AF65-F5344CB8AC3E}">
        <p14:creationId xmlns:p14="http://schemas.microsoft.com/office/powerpoint/2010/main" val="22734280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20073A-D494-40E1-99D5-9D38DD8E94BC}" type="slidenum">
              <a:rPr lang="en-US" smtClean="0"/>
              <a:t>53</a:t>
            </a:fld>
            <a:endParaRPr lang="en-US"/>
          </a:p>
        </p:txBody>
      </p:sp>
    </p:spTree>
    <p:extLst>
      <p:ext uri="{BB962C8B-B14F-4D97-AF65-F5344CB8AC3E}">
        <p14:creationId xmlns:p14="http://schemas.microsoft.com/office/powerpoint/2010/main" val="4221286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CA5E-7B4E-3D15-B8C9-DF10FFD0EA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FA72F4-E262-B098-C4FF-D03BE154E1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BA3C55-D849-7CCA-8B75-57DB31168981}"/>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5" name="Footer Placeholder 4">
            <a:extLst>
              <a:ext uri="{FF2B5EF4-FFF2-40B4-BE49-F238E27FC236}">
                <a16:creationId xmlns:a16="http://schemas.microsoft.com/office/drawing/2014/main" id="{7457C039-5120-210D-AA8E-30C291AA68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D0D9DD-7B16-2E72-B287-AA87BA74FB0D}"/>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3295700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1953-E4CC-F99D-599A-4EB8C26DD1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935BE8-33E7-CADD-F8E5-E2EA83CAE7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78878-1D31-E19D-A852-C6245B8B5AD3}"/>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5" name="Footer Placeholder 4">
            <a:extLst>
              <a:ext uri="{FF2B5EF4-FFF2-40B4-BE49-F238E27FC236}">
                <a16:creationId xmlns:a16="http://schemas.microsoft.com/office/drawing/2014/main" id="{2A58E5C8-D747-7DA2-89BF-1C6FEFDBB0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2E8EC-18C2-FFF8-12FB-279E65855EAE}"/>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1441693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8CB2-0EBA-A06A-5BC7-D770C7E1E8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2743E9-70A6-5CB5-25BA-399D041B55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054DB-86D4-487E-5AFA-0F029A050014}"/>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5" name="Footer Placeholder 4">
            <a:extLst>
              <a:ext uri="{FF2B5EF4-FFF2-40B4-BE49-F238E27FC236}">
                <a16:creationId xmlns:a16="http://schemas.microsoft.com/office/drawing/2014/main" id="{C432AB2B-B586-77E2-B241-15629EA56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90DFC-D5C6-B879-73FD-94BDF6E0847C}"/>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3699593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4B3F9-5182-1613-52A2-DFA2E9ED4F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45179F-CAA4-CAAE-7E77-139BE1055F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E7ABA5-D445-B837-132B-D03943FEDD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2245FA-7FB0-4B3C-6726-5DFEDE5871D6}"/>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6" name="Footer Placeholder 5">
            <a:extLst>
              <a:ext uri="{FF2B5EF4-FFF2-40B4-BE49-F238E27FC236}">
                <a16:creationId xmlns:a16="http://schemas.microsoft.com/office/drawing/2014/main" id="{EA563FB5-AFBB-88D5-60F6-43DF2DFB0B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4DD9BB-1CC7-A351-BCF4-9E6024ECC965}"/>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3031483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EC413-9FFD-17E7-1D57-2338A9A357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197A4B-5A2D-DFF5-ABD0-1F24219E59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C665B8-5D13-C3A4-6589-1A89B27935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A79452-D245-4028-E807-9CB5A0FD67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61F5F1-1310-E28E-3A8F-2F5106FE26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4DC169-4A29-DEF6-1AE9-1966A0F0486F}"/>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8" name="Footer Placeholder 7">
            <a:extLst>
              <a:ext uri="{FF2B5EF4-FFF2-40B4-BE49-F238E27FC236}">
                <a16:creationId xmlns:a16="http://schemas.microsoft.com/office/drawing/2014/main" id="{08E6194A-5632-0118-A58A-B373D7A121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533C28-F579-8E69-98FA-69CA6ABA3480}"/>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3436427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C5C6-ADC7-ABDC-C6C7-949EDCD9C1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2F3D39-D2BE-6DAD-33DB-3A12EB24BA18}"/>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4" name="Footer Placeholder 3">
            <a:extLst>
              <a:ext uri="{FF2B5EF4-FFF2-40B4-BE49-F238E27FC236}">
                <a16:creationId xmlns:a16="http://schemas.microsoft.com/office/drawing/2014/main" id="{2A211385-D97F-7E91-CF51-969CA0BACC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B8F27F-9A21-F943-5F78-475FBE60C1A5}"/>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3583938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8CC1DA-AB90-3287-3527-9FB920BF109B}"/>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3" name="Footer Placeholder 2">
            <a:extLst>
              <a:ext uri="{FF2B5EF4-FFF2-40B4-BE49-F238E27FC236}">
                <a16:creationId xmlns:a16="http://schemas.microsoft.com/office/drawing/2014/main" id="{41910CFF-BFA0-FBED-8C7F-6DC8C3BC45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F74F30-2E6E-8823-FF00-F3C8DE828ABF}"/>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2463354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10C47-7485-F3A0-C03C-0368D7CBB1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E7813F-1E36-F6CB-0296-3C3D6178A0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2A1425-82C2-7DBB-A6A4-4EA2BDF48D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3DD17-F15C-8E29-4010-C790273CD24B}"/>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6" name="Footer Placeholder 5">
            <a:extLst>
              <a:ext uri="{FF2B5EF4-FFF2-40B4-BE49-F238E27FC236}">
                <a16:creationId xmlns:a16="http://schemas.microsoft.com/office/drawing/2014/main" id="{3A551887-4541-2A4E-3DAC-380A09522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0D95BC-771E-49FF-5CD4-2FF139941911}"/>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2327698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9C891-8EC9-88F4-1791-B54C2DCB3C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C83035-A915-1960-5FBE-1B04D5240C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008549-E722-ACC7-44D3-E438735472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CC797-05EF-887E-ECD2-E16629CD0B12}"/>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6" name="Footer Placeholder 5">
            <a:extLst>
              <a:ext uri="{FF2B5EF4-FFF2-40B4-BE49-F238E27FC236}">
                <a16:creationId xmlns:a16="http://schemas.microsoft.com/office/drawing/2014/main" id="{9207D0AB-FC3D-5116-2329-0CD878326B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8F2B13-30F4-44F7-BD65-B12153DA9357}"/>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4196613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740E0-8B15-B2CC-C827-931CBDE00E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CDEE1D-789F-5001-8FDF-CA8655842F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03E55A-8E4E-9C23-D303-093336A8845A}"/>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5" name="Footer Placeholder 4">
            <a:extLst>
              <a:ext uri="{FF2B5EF4-FFF2-40B4-BE49-F238E27FC236}">
                <a16:creationId xmlns:a16="http://schemas.microsoft.com/office/drawing/2014/main" id="{ECF008F2-4E0D-FEC9-8DCB-24AD391BD0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992EC-AB76-7E51-D96E-5B3F03F355FE}"/>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173820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8C838B-625A-B1F2-9B76-E347FB0355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C45591-792B-509E-F774-E148D78356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D7F42-1D04-0F8C-3310-F45EE9249A33}"/>
              </a:ext>
            </a:extLst>
          </p:cNvPr>
          <p:cNvSpPr>
            <a:spLocks noGrp="1"/>
          </p:cNvSpPr>
          <p:nvPr>
            <p:ph type="dt" sz="half" idx="10"/>
          </p:nvPr>
        </p:nvSpPr>
        <p:spPr/>
        <p:txBody>
          <a:bodyPr/>
          <a:lstStyle/>
          <a:p>
            <a:fld id="{DD60F3FA-927C-49A4-BCEA-125C2390290B}" type="datetimeFigureOut">
              <a:rPr lang="en-US" smtClean="0"/>
              <a:t>3/23/2026</a:t>
            </a:fld>
            <a:endParaRPr lang="en-US"/>
          </a:p>
        </p:txBody>
      </p:sp>
      <p:sp>
        <p:nvSpPr>
          <p:cNvPr id="5" name="Footer Placeholder 4">
            <a:extLst>
              <a:ext uri="{FF2B5EF4-FFF2-40B4-BE49-F238E27FC236}">
                <a16:creationId xmlns:a16="http://schemas.microsoft.com/office/drawing/2014/main" id="{7CCAC1E0-56E8-0CF2-B0ED-C1D3D37951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182EE-CE7A-A64D-2486-D91BB3893127}"/>
              </a:ext>
            </a:extLst>
          </p:cNvPr>
          <p:cNvSpPr>
            <a:spLocks noGrp="1"/>
          </p:cNvSpPr>
          <p:nvPr>
            <p:ph type="sldNum" sz="quarter" idx="12"/>
          </p:nvPr>
        </p:nvSpPr>
        <p:spPr/>
        <p:txBody>
          <a:bodyPr/>
          <a:lstStyle/>
          <a:p>
            <a:fld id="{D09122DD-F5A3-407E-ADDD-4451F49F04E8}" type="slidenum">
              <a:rPr lang="en-US" smtClean="0"/>
              <a:t>‹#›</a:t>
            </a:fld>
            <a:endParaRPr lang="en-US"/>
          </a:p>
        </p:txBody>
      </p:sp>
    </p:spTree>
    <p:extLst>
      <p:ext uri="{BB962C8B-B14F-4D97-AF65-F5344CB8AC3E}">
        <p14:creationId xmlns:p14="http://schemas.microsoft.com/office/powerpoint/2010/main" val="732946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723BE0-63FC-1E4A-6650-1C99991EDF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148CBB-77F3-5B5D-59F1-AB89D5F6A0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71489E-0AE7-0C21-CAEF-48A8642688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60F3FA-927C-49A4-BCEA-125C2390290B}" type="datetimeFigureOut">
              <a:rPr lang="en-US" smtClean="0"/>
              <a:t>3/23/2026</a:t>
            </a:fld>
            <a:endParaRPr lang="en-US"/>
          </a:p>
        </p:txBody>
      </p:sp>
      <p:sp>
        <p:nvSpPr>
          <p:cNvPr id="5" name="Footer Placeholder 4">
            <a:extLst>
              <a:ext uri="{FF2B5EF4-FFF2-40B4-BE49-F238E27FC236}">
                <a16:creationId xmlns:a16="http://schemas.microsoft.com/office/drawing/2014/main" id="{ACB68E7E-5058-7B16-6A9B-3EBB28AE5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3CC7A6-4A6F-4181-3CFA-F5DCEB678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122DD-F5A3-407E-ADDD-4451F49F04E8}" type="slidenum">
              <a:rPr lang="en-US" smtClean="0"/>
              <a:t>‹#›</a:t>
            </a:fld>
            <a:endParaRPr lang="en-US"/>
          </a:p>
        </p:txBody>
      </p:sp>
    </p:spTree>
    <p:extLst>
      <p:ext uri="{BB962C8B-B14F-4D97-AF65-F5344CB8AC3E}">
        <p14:creationId xmlns:p14="http://schemas.microsoft.com/office/powerpoint/2010/main" val="3295355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3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3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4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4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inpyjama.com/post/ring-buffer/" TargetMode="External"/><Relationship Id="rId2" Type="http://schemas.openxmlformats.org/officeDocument/2006/relationships/hyperlink" Target="https://arxiv.org/abs/2304.08925"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jmlr.org/papers/v15/srivastava14a.html"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202498" y="800101"/>
            <a:ext cx="9787003" cy="2628900"/>
          </a:xfrm>
          <a:prstGeom prst="rect">
            <a:avLst/>
          </a:prstGeom>
          <a:noFill/>
          <a:ln>
            <a:noFill/>
          </a:ln>
        </p:spPr>
        <p:txBody>
          <a:bodyPr spcFirstLastPara="1" wrap="square" lIns="91425" tIns="45700" rIns="91425" bIns="45700" anchor="b" anchorCtr="0">
            <a:normAutofit/>
          </a:bodyPr>
          <a:lstStyle/>
          <a:p>
            <a:pPr lvl="0">
              <a:spcBef>
                <a:spcPts val="0"/>
              </a:spcBef>
              <a:buClr>
                <a:schemeClr val="dk1"/>
              </a:buClr>
              <a:buSzPts val="6000"/>
            </a:pPr>
            <a:r>
              <a:rPr lang="en-US" dirty="0"/>
              <a:t>Energy–Accuracy Tradeoffs in Neuromorphic vs. GPU-Based Time-Series Forecasting </a:t>
            </a:r>
            <a:endParaRPr dirty="0"/>
          </a:p>
        </p:txBody>
      </p:sp>
      <p:sp>
        <p:nvSpPr>
          <p:cNvPr id="85" name="Google Shape;85;p1"/>
          <p:cNvSpPr txBox="1">
            <a:spLocks noGrp="1"/>
          </p:cNvSpPr>
          <p:nvPr>
            <p:ph type="subTitle" idx="1"/>
          </p:nvPr>
        </p:nvSpPr>
        <p:spPr>
          <a:xfrm>
            <a:off x="1456175" y="3626707"/>
            <a:ext cx="9279648" cy="177342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sz="2800" dirty="0"/>
              <a:t>Souvik Pramanik</a:t>
            </a:r>
          </a:p>
          <a:p>
            <a:pPr marL="0" lvl="0" indent="0" algn="ctr" rtl="0">
              <a:lnSpc>
                <a:spcPct val="90000"/>
              </a:lnSpc>
              <a:spcBef>
                <a:spcPts val="0"/>
              </a:spcBef>
              <a:spcAft>
                <a:spcPts val="0"/>
              </a:spcAft>
              <a:buClr>
                <a:schemeClr val="dk1"/>
              </a:buClr>
              <a:buSzPts val="2400"/>
              <a:buNone/>
            </a:pPr>
            <a:r>
              <a:rPr lang="en-US" sz="2800" dirty="0"/>
              <a:t>Advisor:  Yang (Cindy) Yi</a:t>
            </a:r>
          </a:p>
          <a:p>
            <a:pPr marL="0" lvl="0" indent="0" algn="ctr" rtl="0">
              <a:lnSpc>
                <a:spcPct val="90000"/>
              </a:lnSpc>
              <a:spcBef>
                <a:spcPts val="0"/>
              </a:spcBef>
              <a:spcAft>
                <a:spcPts val="0"/>
              </a:spcAft>
              <a:buClr>
                <a:schemeClr val="dk1"/>
              </a:buClr>
              <a:buSzPts val="2400"/>
              <a:buNone/>
            </a:pPr>
            <a:endParaRPr lang="en-US" sz="2800" dirty="0"/>
          </a:p>
          <a:p>
            <a:pPr marL="0" lvl="0" indent="0" algn="ctr" rtl="0">
              <a:lnSpc>
                <a:spcPct val="90000"/>
              </a:lnSpc>
              <a:spcBef>
                <a:spcPts val="0"/>
              </a:spcBef>
              <a:spcAft>
                <a:spcPts val="0"/>
              </a:spcAft>
              <a:buClr>
                <a:schemeClr val="dk1"/>
              </a:buClr>
              <a:buSzPts val="2400"/>
              <a:buNone/>
            </a:pPr>
            <a:r>
              <a:rPr lang="en-US" sz="2800" dirty="0"/>
              <a:t>March 23</a:t>
            </a:r>
            <a:r>
              <a:rPr lang="en-US" sz="2800" baseline="30000" dirty="0"/>
              <a:t>rd</a:t>
            </a:r>
            <a:r>
              <a:rPr lang="en-US" sz="2800" dirty="0"/>
              <a:t>, 2026</a:t>
            </a:r>
            <a:endParaRPr sz="2800" dirty="0"/>
          </a:p>
        </p:txBody>
      </p:sp>
      <p:sp>
        <p:nvSpPr>
          <p:cNvPr id="2" name="Footer Placeholder 1">
            <a:extLst>
              <a:ext uri="{FF2B5EF4-FFF2-40B4-BE49-F238E27FC236}">
                <a16:creationId xmlns:a16="http://schemas.microsoft.com/office/drawing/2014/main" id="{6E7A9A33-B5E8-DD60-8552-E3089F816B5D}"/>
              </a:ext>
            </a:extLst>
          </p:cNvPr>
          <p:cNvSpPr>
            <a:spLocks noGrp="1"/>
          </p:cNvSpPr>
          <p:nvPr>
            <p:ph type="ftr" sz="quarter" idx="11"/>
          </p:nvPr>
        </p:nvSpPr>
        <p:spPr>
          <a:xfrm>
            <a:off x="2075010" y="5400136"/>
            <a:ext cx="8041977" cy="1104181"/>
          </a:xfrm>
        </p:spPr>
        <p:txBody>
          <a:bodyPr/>
          <a:lstStyle/>
          <a:p>
            <a:r>
              <a:rPr lang="en-US" sz="1800" b="1" dirty="0">
                <a:solidFill>
                  <a:schemeClr val="tx1"/>
                </a:solidFill>
              </a:rPr>
              <a:t>This work has been submitted to IEEE TETC and is currently under Review. </a:t>
            </a:r>
          </a:p>
          <a:p>
            <a:r>
              <a:rPr lang="en-US" sz="1800" b="1" dirty="0">
                <a:solidFill>
                  <a:schemeClr val="tx1"/>
                </a:solidFill>
              </a:rPr>
              <a:t>Portions of this work were taken from A Novel Approach to Prediction of the Measurement of Freeway Performance have been submitted to ACM-JDS.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4"/>
          <p:cNvSpPr txBox="1">
            <a:spLocks noGrp="1"/>
          </p:cNvSpPr>
          <p:nvPr>
            <p:ph type="title"/>
          </p:nvPr>
        </p:nvSpPr>
        <p:spPr>
          <a:xfrm>
            <a:off x="379142" y="376576"/>
            <a:ext cx="5011455" cy="10252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Overview</a:t>
            </a:r>
            <a:endParaRPr dirty="0"/>
          </a:p>
        </p:txBody>
      </p:sp>
      <p:sp>
        <p:nvSpPr>
          <p:cNvPr id="91" name="Google Shape;91;p4"/>
          <p:cNvSpPr txBox="1">
            <a:spLocks noGrp="1"/>
          </p:cNvSpPr>
          <p:nvPr>
            <p:ph type="body" idx="1"/>
          </p:nvPr>
        </p:nvSpPr>
        <p:spPr>
          <a:xfrm>
            <a:off x="379142" y="1638171"/>
            <a:ext cx="7973122" cy="2744258"/>
          </a:xfrm>
          <a:prstGeom prst="rect">
            <a:avLst/>
          </a:prstGeom>
          <a:noFill/>
          <a:ln>
            <a:noFill/>
          </a:ln>
        </p:spPr>
        <p:txBody>
          <a:bodyPr spcFirstLastPara="1" wrap="square" lIns="91425" tIns="45700" rIns="91425" bIns="45700" anchor="t" anchorCtr="0">
            <a:normAutofit/>
          </a:bodyPr>
          <a:lstStyle/>
          <a:p>
            <a:pPr lvl="1" indent="0">
              <a:spcBef>
                <a:spcPts val="0"/>
              </a:spcBef>
              <a:buNone/>
            </a:pPr>
            <a:endParaRPr lang="en-US" dirty="0">
              <a:effectLst/>
              <a:latin typeface="Calibri" panose="020F0502020204030204" pitchFamily="34" charset="0"/>
              <a:ea typeface="SimSun" panose="02010600030101010101" pitchFamily="2" charset="-122"/>
              <a:cs typeface="Times New Roman" panose="02020603050405020304" pitchFamily="18" charset="0"/>
            </a:endParaRPr>
          </a:p>
          <a:p>
            <a:pPr marL="1485900" lvl="2" indent="-342900">
              <a:spcBef>
                <a:spcPts val="0"/>
              </a:spcBef>
            </a:pPr>
            <a:endParaRPr lang="en-US" dirty="0">
              <a:highlight>
                <a:schemeClr val="lt1"/>
              </a:highlight>
            </a:endParaRPr>
          </a:p>
        </p:txBody>
      </p:sp>
      <p:sp>
        <p:nvSpPr>
          <p:cNvPr id="3" name="TextBox 2">
            <a:extLst>
              <a:ext uri="{FF2B5EF4-FFF2-40B4-BE49-F238E27FC236}">
                <a16:creationId xmlns:a16="http://schemas.microsoft.com/office/drawing/2014/main" id="{59A9EE88-280C-A388-8F61-5B1361E177EE}"/>
              </a:ext>
            </a:extLst>
          </p:cNvPr>
          <p:cNvSpPr txBox="1"/>
          <p:nvPr/>
        </p:nvSpPr>
        <p:spPr>
          <a:xfrm>
            <a:off x="379142" y="1486806"/>
            <a:ext cx="11433716" cy="3539430"/>
          </a:xfrm>
          <a:prstGeom prst="rect">
            <a:avLst/>
          </a:prstGeom>
          <a:noFill/>
        </p:spPr>
        <p:txBody>
          <a:bodyPr wrap="square" rtlCol="0">
            <a:spAutoFit/>
          </a:bodyPr>
          <a:lstStyle/>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Introduction</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SNN and ANN architectures</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Datasets</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Evaluation</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Results</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Hardware‑Validated Benchmarking Analysis on </a:t>
            </a:r>
            <a:r>
              <a:rPr lang="en-US" sz="2800" kern="100" dirty="0" err="1">
                <a:latin typeface="Calibri" panose="020F0502020204030204" pitchFamily="34" charset="0"/>
                <a:ea typeface="Calibri" panose="020F0502020204030204" pitchFamily="34" charset="0"/>
                <a:cs typeface="Times New Roman" panose="02020603050405020304" pitchFamily="18" charset="0"/>
              </a:rPr>
              <a:t>Loihi</a:t>
            </a:r>
            <a:r>
              <a:rPr lang="en-US" sz="2800" kern="100" dirty="0">
                <a:latin typeface="Calibri" panose="020F0502020204030204" pitchFamily="34" charset="0"/>
                <a:ea typeface="Calibri" panose="020F0502020204030204" pitchFamily="34" charset="0"/>
                <a:cs typeface="Times New Roman" panose="02020603050405020304" pitchFamily="18" charset="0"/>
              </a:rPr>
              <a:t> 2 and GPU Platforms</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Conclusions</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Future Works and Current Updates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AEDEB9CA-BFA3-EDCF-353E-AD27E8B731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42B8A8-4572-9BE2-0E37-9D420427B0C9}"/>
              </a:ext>
            </a:extLst>
          </p:cNvPr>
          <p:cNvSpPr>
            <a:spLocks noGrp="1"/>
          </p:cNvSpPr>
          <p:nvPr>
            <p:ph type="title"/>
          </p:nvPr>
        </p:nvSpPr>
        <p:spPr>
          <a:xfrm>
            <a:off x="463985" y="341699"/>
            <a:ext cx="3107890" cy="858451"/>
          </a:xfrm>
        </p:spPr>
        <p:txBody>
          <a:bodyPr/>
          <a:lstStyle/>
          <a:p>
            <a:r>
              <a:rPr lang="en-US" dirty="0"/>
              <a:t>Introduction</a:t>
            </a:r>
          </a:p>
        </p:txBody>
      </p:sp>
      <p:sp>
        <p:nvSpPr>
          <p:cNvPr id="4" name="AutoShape 2" descr="Uploaded image">
            <a:extLst>
              <a:ext uri="{FF2B5EF4-FFF2-40B4-BE49-F238E27FC236}">
                <a16:creationId xmlns:a16="http://schemas.microsoft.com/office/drawing/2014/main" id="{01287A2C-186B-D6CF-7AC8-DCF202BF5D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A8A6B588-1F9F-C3BB-EC87-F8CFA261F258}"/>
              </a:ext>
            </a:extLst>
          </p:cNvPr>
          <p:cNvSpPr txBox="1"/>
          <p:nvPr/>
        </p:nvSpPr>
        <p:spPr>
          <a:xfrm>
            <a:off x="338744" y="1200150"/>
            <a:ext cx="11209711" cy="3970318"/>
          </a:xfrm>
          <a:prstGeom prst="rect">
            <a:avLst/>
          </a:prstGeom>
          <a:noFill/>
        </p:spPr>
        <p:txBody>
          <a:bodyPr wrap="square">
            <a:spAutoFit/>
          </a:bodyPr>
          <a:lstStyle/>
          <a:p>
            <a:pPr marL="285750" indent="-285750">
              <a:buFont typeface="Arial" panose="020B0604020202020204" pitchFamily="34" charset="0"/>
              <a:buChar char="•"/>
            </a:pPr>
            <a:r>
              <a:rPr lang="en-US" sz="2800" dirty="0"/>
              <a:t>Spiking Neural Networks (SNN) Overview</a:t>
            </a:r>
          </a:p>
          <a:p>
            <a:pPr marL="285750" indent="-285750">
              <a:buFont typeface="Arial" panose="020B0604020202020204" pitchFamily="34" charset="0"/>
              <a:buChar char="•"/>
            </a:pPr>
            <a:r>
              <a:rPr lang="en-US" sz="2800" dirty="0" err="1"/>
              <a:t>Loihi</a:t>
            </a:r>
            <a:r>
              <a:rPr lang="en-US" sz="2800" dirty="0"/>
              <a:t> 2 Overview</a:t>
            </a:r>
          </a:p>
          <a:p>
            <a:pPr marL="285750" indent="-285750">
              <a:buFont typeface="Arial" panose="020B0604020202020204" pitchFamily="34" charset="0"/>
              <a:buChar char="•"/>
            </a:pPr>
            <a:r>
              <a:rPr lang="en-US" sz="2800" dirty="0"/>
              <a:t>Literature Review</a:t>
            </a:r>
          </a:p>
          <a:p>
            <a:pPr marL="285750" indent="-285750">
              <a:buFont typeface="Arial" panose="020B0604020202020204" pitchFamily="34" charset="0"/>
              <a:buChar char="•"/>
            </a:pPr>
            <a:r>
              <a:rPr lang="en-US" sz="2800" dirty="0"/>
              <a:t>Problem Statement</a:t>
            </a:r>
          </a:p>
          <a:p>
            <a:pPr marL="285750" indent="-285750">
              <a:buFont typeface="Arial" panose="020B0604020202020204" pitchFamily="34" charset="0"/>
              <a:buChar char="•"/>
            </a:pPr>
            <a:r>
              <a:rPr lang="en-US" sz="2800" dirty="0"/>
              <a:t>What is Ring Buffer?</a:t>
            </a:r>
          </a:p>
          <a:p>
            <a:pPr marL="285750" indent="-285750">
              <a:buFont typeface="Arial" panose="020B0604020202020204" pitchFamily="34" charset="0"/>
              <a:buChar char="•"/>
            </a:pPr>
            <a:r>
              <a:rPr lang="en-US" sz="2800" dirty="0"/>
              <a:t>Why Ring Buffer?</a:t>
            </a:r>
          </a:p>
          <a:p>
            <a:pPr marL="285750" indent="-285750">
              <a:buFont typeface="Arial" panose="020B0604020202020204" pitchFamily="34" charset="0"/>
              <a:buChar char="•"/>
            </a:pPr>
            <a:r>
              <a:rPr lang="en-US" sz="2800" dirty="0"/>
              <a:t>Ring Buffer Visualization</a:t>
            </a:r>
          </a:p>
          <a:p>
            <a:pPr marL="285750" indent="-285750">
              <a:buFont typeface="Arial" panose="020B0604020202020204" pitchFamily="34" charset="0"/>
              <a:buChar char="•"/>
            </a:pPr>
            <a:r>
              <a:rPr lang="en-US" sz="2800" dirty="0"/>
              <a:t>Main Contributions</a:t>
            </a:r>
          </a:p>
          <a:p>
            <a:pPr marL="285750" indent="-285750">
              <a:buFont typeface="Arial" panose="020B0604020202020204" pitchFamily="34" charset="0"/>
              <a:buChar char="•"/>
            </a:pPr>
            <a:r>
              <a:rPr lang="en-US" sz="2800" dirty="0" err="1"/>
              <a:t>RingSNN</a:t>
            </a:r>
            <a:r>
              <a:rPr lang="en-US" sz="2800" dirty="0"/>
              <a:t> Approach</a:t>
            </a:r>
          </a:p>
        </p:txBody>
      </p:sp>
    </p:spTree>
    <p:extLst>
      <p:ext uri="{BB962C8B-B14F-4D97-AF65-F5344CB8AC3E}">
        <p14:creationId xmlns:p14="http://schemas.microsoft.com/office/powerpoint/2010/main" val="1178240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E94159CF-6AEC-6410-E86A-961F9736C1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938A52-E9B8-3363-FFB3-7E4322464C91}"/>
              </a:ext>
            </a:extLst>
          </p:cNvPr>
          <p:cNvSpPr>
            <a:spLocks noGrp="1"/>
          </p:cNvSpPr>
          <p:nvPr>
            <p:ph type="title"/>
          </p:nvPr>
        </p:nvSpPr>
        <p:spPr>
          <a:xfrm>
            <a:off x="463985" y="341699"/>
            <a:ext cx="3402162" cy="858451"/>
          </a:xfrm>
        </p:spPr>
        <p:txBody>
          <a:bodyPr>
            <a:normAutofit/>
          </a:bodyPr>
          <a:lstStyle/>
          <a:p>
            <a:r>
              <a:rPr lang="en-US" dirty="0"/>
              <a:t>SNN Overview</a:t>
            </a:r>
          </a:p>
        </p:txBody>
      </p:sp>
      <p:sp>
        <p:nvSpPr>
          <p:cNvPr id="4" name="AutoShape 2" descr="Uploaded image">
            <a:extLst>
              <a:ext uri="{FF2B5EF4-FFF2-40B4-BE49-F238E27FC236}">
                <a16:creationId xmlns:a16="http://schemas.microsoft.com/office/drawing/2014/main" id="{D0B1216B-126B-0A08-6C42-16AD9EC470B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F7EFEE1C-B604-ECD2-DCA7-4C8683685DD9}"/>
              </a:ext>
            </a:extLst>
          </p:cNvPr>
          <p:cNvSpPr txBox="1"/>
          <p:nvPr/>
        </p:nvSpPr>
        <p:spPr>
          <a:xfrm>
            <a:off x="321772" y="1078409"/>
            <a:ext cx="11548456" cy="5693866"/>
          </a:xfrm>
          <a:prstGeom prst="rect">
            <a:avLst/>
          </a:prstGeom>
          <a:noFill/>
        </p:spPr>
        <p:txBody>
          <a:bodyPr wrap="square">
            <a:spAutoFit/>
          </a:bodyPr>
          <a:lstStyle/>
          <a:p>
            <a:pPr marL="285750" indent="-285750">
              <a:buFont typeface="Arial" panose="020B0604020202020204" pitchFamily="34" charset="0"/>
              <a:buChar char="•"/>
            </a:pPr>
            <a:r>
              <a:rPr lang="en-US" sz="2800" dirty="0"/>
              <a:t>Spiking Neural Networks (SNNs) resembles biological neurons by communicating through discrete time and event-driven, binary spikes rather than continuous values. </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Have emerged as an upcoming approach in </a:t>
            </a:r>
            <a:r>
              <a:rPr lang="en-US" sz="2800" dirty="0"/>
              <a:t>improved time-series forecasting by enabling modeling of complex temporal dependencies and perfecting prediction accuracy</a:t>
            </a:r>
            <a:r>
              <a:rPr lang="en-US" sz="2800" kern="100" dirty="0">
                <a:latin typeface="Calibri" panose="020F0502020204030204" pitchFamily="34" charset="0"/>
                <a:ea typeface="Calibri" panose="020F0502020204030204" pitchFamily="34" charset="0"/>
                <a:cs typeface="Times New Roman" panose="02020603050405020304" pitchFamily="18" charset="0"/>
              </a:rPr>
              <a:t> </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Designed to process temporal, sequential data through event‑driven spiking activity</a:t>
            </a:r>
          </a:p>
          <a:p>
            <a:pPr marL="285750" indent="-285750">
              <a:buFont typeface="Arial" panose="020B0604020202020204" pitchFamily="34" charset="0"/>
              <a:buChar char="•"/>
            </a:pPr>
            <a:r>
              <a:rPr lang="en-US" sz="2800" dirty="0"/>
              <a:t>Efficiently handles rare events with lower energy -&gt; enabling forecasting on resource-constrained devices</a:t>
            </a:r>
          </a:p>
          <a:p>
            <a:pPr marL="285750" indent="-285750">
              <a:buFont typeface="Arial" panose="020B0604020202020204" pitchFamily="34" charset="0"/>
              <a:buChar char="•"/>
            </a:pPr>
            <a:r>
              <a:rPr lang="en-US" sz="2800" dirty="0"/>
              <a:t>While SNNs offer biologically inspired event-driven computation, their application to regression-style time-series forecasting remains underexplored</a:t>
            </a:r>
          </a:p>
        </p:txBody>
      </p:sp>
    </p:spTree>
    <p:extLst>
      <p:ext uri="{BB962C8B-B14F-4D97-AF65-F5344CB8AC3E}">
        <p14:creationId xmlns:p14="http://schemas.microsoft.com/office/powerpoint/2010/main" val="2337523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F02E713E-21AA-5BFB-E0FD-4677B93EB25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397C69-7003-F7D7-B992-9E4572068E8D}"/>
              </a:ext>
            </a:extLst>
          </p:cNvPr>
          <p:cNvSpPr>
            <a:spLocks noGrp="1"/>
          </p:cNvSpPr>
          <p:nvPr>
            <p:ph type="title"/>
          </p:nvPr>
        </p:nvSpPr>
        <p:spPr>
          <a:xfrm>
            <a:off x="764022" y="457200"/>
            <a:ext cx="3775894" cy="968809"/>
          </a:xfrm>
        </p:spPr>
        <p:txBody>
          <a:bodyPr>
            <a:normAutofit fontScale="90000"/>
          </a:bodyPr>
          <a:lstStyle/>
          <a:p>
            <a:r>
              <a:rPr lang="en-US" dirty="0" err="1"/>
              <a:t>Loihi</a:t>
            </a:r>
            <a:r>
              <a:rPr lang="en-US" dirty="0"/>
              <a:t> 2 Overview</a:t>
            </a:r>
          </a:p>
        </p:txBody>
      </p:sp>
      <p:sp>
        <p:nvSpPr>
          <p:cNvPr id="2" name="Rectangle 4">
            <a:extLst>
              <a:ext uri="{FF2B5EF4-FFF2-40B4-BE49-F238E27FC236}">
                <a16:creationId xmlns:a16="http://schemas.microsoft.com/office/drawing/2014/main" id="{B56419CA-B360-73BD-26FE-B622F624E31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BBC10E6E-42B0-A2B5-8948-72C27715B4C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FDC3894D-5DB5-EED2-85E5-E4F437A3E41A}"/>
              </a:ext>
            </a:extLst>
          </p:cNvPr>
          <p:cNvSpPr txBox="1"/>
          <p:nvPr/>
        </p:nvSpPr>
        <p:spPr>
          <a:xfrm>
            <a:off x="491144" y="1506885"/>
            <a:ext cx="11209711" cy="3539430"/>
          </a:xfrm>
          <a:prstGeom prst="rect">
            <a:avLst/>
          </a:prstGeom>
          <a:noFill/>
        </p:spPr>
        <p:txBody>
          <a:bodyPr wrap="square">
            <a:spAutoFit/>
          </a:bodyPr>
          <a:lstStyle/>
          <a:p>
            <a:pPr marL="285750" indent="-285750">
              <a:buFont typeface="Arial" panose="020B0604020202020204" pitchFamily="34" charset="0"/>
              <a:buChar char="•"/>
            </a:pPr>
            <a:r>
              <a:rPr lang="en-US" sz="2800" dirty="0"/>
              <a:t>Recent advances in neuromorphic computing have further improved capabilities like Intel </a:t>
            </a:r>
            <a:r>
              <a:rPr lang="en-US" sz="2800" dirty="0" err="1"/>
              <a:t>Loihi</a:t>
            </a:r>
            <a:r>
              <a:rPr lang="en-US" sz="2800" dirty="0"/>
              <a:t> 2</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Research of SNNs implementation on </a:t>
            </a:r>
            <a:r>
              <a:rPr lang="en-US" sz="2800" kern="100" dirty="0" err="1">
                <a:latin typeface="Calibri" panose="020F0502020204030204" pitchFamily="34" charset="0"/>
                <a:ea typeface="Calibri" panose="020F0502020204030204" pitchFamily="34" charset="0"/>
                <a:cs typeface="Times New Roman" panose="02020603050405020304" pitchFamily="18" charset="0"/>
              </a:rPr>
              <a:t>Loihi</a:t>
            </a:r>
            <a:r>
              <a:rPr lang="en-US" sz="2800" kern="100" dirty="0">
                <a:latin typeface="Calibri" panose="020F0502020204030204" pitchFamily="34" charset="0"/>
                <a:ea typeface="Calibri" panose="020F0502020204030204" pitchFamily="34" charset="0"/>
                <a:cs typeface="Times New Roman" panose="02020603050405020304" pitchFamily="18" charset="0"/>
              </a:rPr>
              <a:t> 2 did not address practical</a:t>
            </a:r>
            <a:r>
              <a:rPr lang="en-US" sz="2800" dirty="0"/>
              <a:t> bottlenecks such as memory access, idle vs. active power states, communication overhead, and hardware inefficiencies [2]</a:t>
            </a:r>
          </a:p>
          <a:p>
            <a:pPr marL="285750" indent="-285750">
              <a:buFont typeface="Arial" panose="020B0604020202020204" pitchFamily="34" charset="0"/>
              <a:buChar char="•"/>
            </a:pPr>
            <a:r>
              <a:rPr lang="en-US" sz="2800" dirty="0"/>
              <a:t>Recent studies emphasize the need for reproducible, hardware-validated benchmarking protocols that account for decomposed energy states and task-specific performance metrics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4602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0CC4360C-1F2A-6F1B-93B4-1E7A1576C6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5E1AF9-5F8D-CBE4-B689-5646D75789A8}"/>
              </a:ext>
            </a:extLst>
          </p:cNvPr>
          <p:cNvSpPr>
            <a:spLocks noGrp="1"/>
          </p:cNvSpPr>
          <p:nvPr>
            <p:ph type="title"/>
          </p:nvPr>
        </p:nvSpPr>
        <p:spPr>
          <a:xfrm>
            <a:off x="491145" y="311727"/>
            <a:ext cx="4161066" cy="968809"/>
          </a:xfrm>
        </p:spPr>
        <p:txBody>
          <a:bodyPr>
            <a:normAutofit/>
          </a:bodyPr>
          <a:lstStyle/>
          <a:p>
            <a:r>
              <a:rPr lang="en-US" dirty="0"/>
              <a:t>Literature Review</a:t>
            </a:r>
          </a:p>
        </p:txBody>
      </p:sp>
      <p:sp>
        <p:nvSpPr>
          <p:cNvPr id="2" name="Rectangle 4">
            <a:extLst>
              <a:ext uri="{FF2B5EF4-FFF2-40B4-BE49-F238E27FC236}">
                <a16:creationId xmlns:a16="http://schemas.microsoft.com/office/drawing/2014/main" id="{D1219682-6E3D-A1AD-8B19-AD53ED59720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6428C24C-E150-5ACC-3E20-F8F54E2072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17C9413F-EF48-DC61-5347-FAA120309908}"/>
              </a:ext>
            </a:extLst>
          </p:cNvPr>
          <p:cNvSpPr txBox="1"/>
          <p:nvPr/>
        </p:nvSpPr>
        <p:spPr>
          <a:xfrm>
            <a:off x="491145" y="1283294"/>
            <a:ext cx="11209711" cy="5262979"/>
          </a:xfrm>
          <a:prstGeom prst="rect">
            <a:avLst/>
          </a:prstGeom>
          <a:noFill/>
        </p:spPr>
        <p:txBody>
          <a:bodyPr wrap="square">
            <a:spAutoFit/>
          </a:bodyPr>
          <a:lstStyle/>
          <a:p>
            <a:pPr marL="342900" indent="-342900">
              <a:buFont typeface="Arial" panose="020B0604020202020204" pitchFamily="34" charset="0"/>
              <a:buChar char="•"/>
            </a:pPr>
            <a:r>
              <a:rPr lang="en-US" sz="2400" dirty="0"/>
              <a:t>Davies in [2] introduced the </a:t>
            </a:r>
            <a:r>
              <a:rPr lang="en-US" sz="2400" dirty="0" err="1"/>
              <a:t>Loihi</a:t>
            </a:r>
            <a:r>
              <a:rPr lang="en-US" sz="2400" dirty="0"/>
              <a:t> neuromorphic processor and demonstrated its on‑chip learning capabilities, but their focus was primarily on classification and optimization tasks rather than regression‑style forecasting</a:t>
            </a:r>
          </a:p>
          <a:p>
            <a:pPr marL="285750" indent="-285750">
              <a:buFont typeface="Arial" panose="020B0604020202020204" pitchFamily="34" charset="0"/>
              <a:buChar char="•"/>
            </a:pPr>
            <a:r>
              <a:rPr lang="en-US" sz="2400" dirty="0"/>
              <a:t>Other research using </a:t>
            </a:r>
            <a:r>
              <a:rPr lang="en-US" sz="2400" dirty="0" err="1"/>
              <a:t>Loihi</a:t>
            </a:r>
            <a:r>
              <a:rPr lang="en-US" sz="2400" dirty="0"/>
              <a:t> processors has demonstrated significant gains in speed and energy efficiency for relevant workloads compared to conventional CPUs and GPUs like Matsuo et. al. in [3]; however, the authors in [3] did not extend into forecasting with benchmarking. </a:t>
            </a:r>
          </a:p>
          <a:p>
            <a:pPr marL="285750" indent="-285750">
              <a:buFont typeface="Arial" panose="020B0604020202020204" pitchFamily="34" charset="0"/>
              <a:buChar char="•"/>
            </a:pPr>
            <a:r>
              <a:rPr lang="en-US" sz="2400" dirty="0"/>
              <a:t>Bhattacharjee et. al. in [4] challenges prevailing assumptions about the energy efficiency of SNNs in their work, showing that algorithmic claims overlook the bottlenecks like hardware limitations and memory access; t</a:t>
            </a:r>
            <a:r>
              <a:rPr lang="en-US" sz="2400" kern="100" dirty="0">
                <a:latin typeface="Calibri" panose="020F0502020204030204" pitchFamily="34" charset="0"/>
                <a:ea typeface="Calibri" panose="020F0502020204030204" pitchFamily="34" charset="0"/>
                <a:cs typeface="Times New Roman" panose="02020603050405020304" pitchFamily="18" charset="0"/>
              </a:rPr>
              <a:t>he findings </a:t>
            </a:r>
            <a:r>
              <a:rPr lang="en-US" sz="2400" dirty="0"/>
              <a:t>emphasize the need for hardware-specific protocols and caution against relying solely on algorithmic sparsity or spike-count metrics; however, while they highlight systemic hardware challenges, they did not demonstrate how neuromorphic platforms perform in practice for real-world predictive tasks</a:t>
            </a:r>
          </a:p>
        </p:txBody>
      </p:sp>
    </p:spTree>
    <p:extLst>
      <p:ext uri="{BB962C8B-B14F-4D97-AF65-F5344CB8AC3E}">
        <p14:creationId xmlns:p14="http://schemas.microsoft.com/office/powerpoint/2010/main" val="420660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E4FD8F71-8DDB-A333-9630-A198A15F3A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9BC719-56E0-0448-F46B-E16517A2B620}"/>
              </a:ext>
            </a:extLst>
          </p:cNvPr>
          <p:cNvSpPr>
            <a:spLocks noGrp="1"/>
          </p:cNvSpPr>
          <p:nvPr>
            <p:ph type="title"/>
          </p:nvPr>
        </p:nvSpPr>
        <p:spPr>
          <a:xfrm>
            <a:off x="764022" y="457200"/>
            <a:ext cx="4252822" cy="968809"/>
          </a:xfrm>
        </p:spPr>
        <p:txBody>
          <a:bodyPr>
            <a:normAutofit/>
          </a:bodyPr>
          <a:lstStyle/>
          <a:p>
            <a:r>
              <a:rPr lang="en-US" dirty="0"/>
              <a:t>Literature Review</a:t>
            </a:r>
          </a:p>
        </p:txBody>
      </p:sp>
      <p:sp>
        <p:nvSpPr>
          <p:cNvPr id="2" name="Rectangle 4">
            <a:extLst>
              <a:ext uri="{FF2B5EF4-FFF2-40B4-BE49-F238E27FC236}">
                <a16:creationId xmlns:a16="http://schemas.microsoft.com/office/drawing/2014/main" id="{47A971C8-4FF4-4C45-9AC9-50EED11412E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8D5B72F2-926C-555F-9AA0-11B6237A07E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35AC0965-C7D1-228B-9239-B3B0FAB9165A}"/>
              </a:ext>
            </a:extLst>
          </p:cNvPr>
          <p:cNvSpPr txBox="1"/>
          <p:nvPr/>
        </p:nvSpPr>
        <p:spPr>
          <a:xfrm>
            <a:off x="491144" y="1224318"/>
            <a:ext cx="11209711" cy="4154984"/>
          </a:xfrm>
          <a:prstGeom prst="rect">
            <a:avLst/>
          </a:prstGeom>
          <a:noFill/>
        </p:spPr>
        <p:txBody>
          <a:bodyPr wrap="square">
            <a:spAutoFit/>
          </a:bodyPr>
          <a:lstStyle/>
          <a:p>
            <a:pPr marL="342900" indent="-342900">
              <a:buFont typeface="Arial" panose="020B0604020202020204" pitchFamily="34" charset="0"/>
              <a:buChar char="•"/>
            </a:pPr>
            <a:r>
              <a:rPr lang="en-US" sz="2400" dirty="0"/>
              <a:t>In the paper presented by Yan et. al. [8], the authors evaluate SNN energy efficiency but focus on total energy consumption rather than decomposed energy states like idle, active, and spike‑driven</a:t>
            </a:r>
          </a:p>
          <a:p>
            <a:pPr marL="342900" indent="-342900">
              <a:buFont typeface="Arial" panose="020B0604020202020204" pitchFamily="34" charset="0"/>
              <a:buChar char="•"/>
            </a:pPr>
            <a:r>
              <a:rPr lang="en-US" sz="2400" dirty="0"/>
              <a:t>Prior work on SNNs has highlighted hardware bottlenecks [7], theoretical efficiency bounds ([5], [8]), algorithmic innovations like pruning and hybrid architectures [9], and application benchmarks in  domains like self‑driving [6] and time‑series forecasting [1]</a:t>
            </a:r>
          </a:p>
          <a:p>
            <a:pPr marL="342900" indent="-342900">
              <a:buFont typeface="Arial" panose="020B0604020202020204" pitchFamily="34" charset="0"/>
              <a:buChar char="•"/>
            </a:pPr>
            <a:r>
              <a:rPr lang="en-US" sz="2400" dirty="0"/>
              <a:t>Overall, prior research has concentrated on classification tasks, optimization problems, continuous‑valued predictions, theoretical energy bounds, memory‑access, and hardware limitation issues. </a:t>
            </a:r>
          </a:p>
          <a:p>
            <a:pPr marL="342900" indent="-342900">
              <a:buFont typeface="Arial" panose="020B0604020202020204" pitchFamily="34" charset="0"/>
              <a:buChar char="•"/>
            </a:pPr>
            <a:r>
              <a:rPr lang="en-US" sz="2400" dirty="0"/>
              <a:t>None have benchmarked regression‑style forecasting on </a:t>
            </a:r>
            <a:r>
              <a:rPr lang="en-US" sz="2400" dirty="0" err="1"/>
              <a:t>Loihi</a:t>
            </a:r>
            <a:r>
              <a:rPr lang="en-US" sz="2400" dirty="0"/>
              <a:t> 2 with energy measurement protocols that explicitly account for decomposed energy states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95005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AC0752B8-C36D-1A12-578D-63EC9C6DE6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5956B1-2B47-5D80-44A2-70BF1153AE92}"/>
              </a:ext>
            </a:extLst>
          </p:cNvPr>
          <p:cNvSpPr>
            <a:spLocks noGrp="1"/>
          </p:cNvSpPr>
          <p:nvPr>
            <p:ph type="title"/>
          </p:nvPr>
        </p:nvSpPr>
        <p:spPr>
          <a:xfrm>
            <a:off x="491144" y="228600"/>
            <a:ext cx="4593790" cy="983096"/>
          </a:xfrm>
        </p:spPr>
        <p:txBody>
          <a:bodyPr/>
          <a:lstStyle/>
          <a:p>
            <a:r>
              <a:rPr lang="en-US" dirty="0"/>
              <a:t>Problem Statement</a:t>
            </a:r>
          </a:p>
        </p:txBody>
      </p:sp>
      <p:sp>
        <p:nvSpPr>
          <p:cNvPr id="2" name="Rectangle 4">
            <a:extLst>
              <a:ext uri="{FF2B5EF4-FFF2-40B4-BE49-F238E27FC236}">
                <a16:creationId xmlns:a16="http://schemas.microsoft.com/office/drawing/2014/main" id="{8FAE5B42-BF03-14EB-DD1D-F04E0505196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137EA7FB-D917-EB6F-BAC2-4D1B468B92F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FDEF1011-0EF9-AEAD-07B9-6F8C30B4B09F}"/>
              </a:ext>
            </a:extLst>
          </p:cNvPr>
          <p:cNvSpPr txBox="1"/>
          <p:nvPr/>
        </p:nvSpPr>
        <p:spPr>
          <a:xfrm>
            <a:off x="491144" y="1171576"/>
            <a:ext cx="11209711" cy="5262979"/>
          </a:xfrm>
          <a:prstGeom prst="rect">
            <a:avLst/>
          </a:prstGeom>
          <a:noFill/>
        </p:spPr>
        <p:txBody>
          <a:bodyPr wrap="square">
            <a:spAutoFit/>
          </a:bodyPr>
          <a:lstStyle/>
          <a:p>
            <a:pPr marL="285750" indent="-285750">
              <a:buFont typeface="Arial" panose="020B0604020202020204" pitchFamily="34" charset="0"/>
              <a:buChar char="•"/>
            </a:pPr>
            <a:r>
              <a:rPr lang="en-US" sz="2800" dirty="0"/>
              <a:t>Analyze the energy–accuracy tradeoffs between </a:t>
            </a:r>
            <a:r>
              <a:rPr lang="en-US" sz="2800" dirty="0" err="1"/>
              <a:t>Loihi</a:t>
            </a:r>
            <a:r>
              <a:rPr lang="en-US" sz="2800" dirty="0"/>
              <a:t>-style SNNs and GPU-based ANNs for regression-style time-series forecasting tasks</a:t>
            </a:r>
          </a:p>
          <a:p>
            <a:pPr marL="285750" indent="-285750">
              <a:buFont typeface="Arial" panose="020B0604020202020204" pitchFamily="34" charset="0"/>
              <a:buChar char="•"/>
            </a:pPr>
            <a:r>
              <a:rPr lang="en-US" sz="2800" dirty="0"/>
              <a:t>Investigate the following:</a:t>
            </a:r>
          </a:p>
          <a:p>
            <a:pPr marL="742950" lvl="1" indent="-285750">
              <a:buFont typeface="Arial" panose="020B0604020202020204" pitchFamily="34" charset="0"/>
              <a:buChar char="•"/>
            </a:pPr>
            <a:r>
              <a:rPr lang="en-US" sz="2800" dirty="0"/>
              <a:t>A Ring-Buffer-based SNN encoder/decoder pipeline suitable for continuous prediction</a:t>
            </a:r>
          </a:p>
          <a:p>
            <a:pPr marL="742950" lvl="1" indent="-285750">
              <a:buFont typeface="Arial" panose="020B0604020202020204" pitchFamily="34" charset="0"/>
              <a:buChar char="•"/>
            </a:pPr>
            <a:r>
              <a:rPr lang="en-US" sz="2800" dirty="0"/>
              <a:t>A comparable ANN baseline implemented on a GPU </a:t>
            </a:r>
          </a:p>
          <a:p>
            <a:pPr marL="742950" lvl="1" indent="-285750">
              <a:buFont typeface="Arial" panose="020B0604020202020204" pitchFamily="34" charset="0"/>
              <a:buChar char="•"/>
            </a:pPr>
            <a:r>
              <a:rPr lang="en-US" sz="2800" dirty="0"/>
              <a:t>Logged measurements</a:t>
            </a:r>
          </a:p>
          <a:p>
            <a:pPr marL="1200150" lvl="2" indent="-285750">
              <a:buFont typeface="Arial" panose="020B0604020202020204" pitchFamily="34" charset="0"/>
              <a:buChar char="•"/>
            </a:pPr>
            <a:r>
              <a:rPr lang="en-US" sz="2800" dirty="0"/>
              <a:t>Runtime per Epoch</a:t>
            </a:r>
          </a:p>
          <a:p>
            <a:pPr marL="1200150" lvl="2" indent="-285750">
              <a:buFont typeface="Arial" panose="020B0604020202020204" pitchFamily="34" charset="0"/>
              <a:buChar char="•"/>
            </a:pPr>
            <a:r>
              <a:rPr lang="en-US" sz="2800" dirty="0"/>
              <a:t>Spike Counts </a:t>
            </a:r>
          </a:p>
          <a:p>
            <a:pPr marL="1200150" lvl="2" indent="-285750">
              <a:buFont typeface="Arial" panose="020B0604020202020204" pitchFamily="34" charset="0"/>
              <a:buChar char="•"/>
            </a:pPr>
            <a:r>
              <a:rPr lang="en-US" sz="2800" dirty="0"/>
              <a:t>Accuracy Metrics</a:t>
            </a:r>
          </a:p>
          <a:p>
            <a:pPr marL="1200150" lvl="2" indent="-285750">
              <a:buFont typeface="Arial" panose="020B0604020202020204" pitchFamily="34" charset="0"/>
              <a:buChar char="•"/>
            </a:pPr>
            <a:r>
              <a:rPr lang="en-US" sz="2800" dirty="0"/>
              <a:t>Decomposed energy states (idle, active, spike-driven for </a:t>
            </a:r>
            <a:r>
              <a:rPr lang="en-US" sz="2800" dirty="0" err="1"/>
              <a:t>Loihi</a:t>
            </a:r>
            <a:r>
              <a:rPr lang="en-US" sz="2800" dirty="0"/>
              <a:t>; power-draw logs from Nvidia-SMI for the GPU)</a:t>
            </a:r>
          </a:p>
        </p:txBody>
      </p:sp>
    </p:spTree>
    <p:extLst>
      <p:ext uri="{BB962C8B-B14F-4D97-AF65-F5344CB8AC3E}">
        <p14:creationId xmlns:p14="http://schemas.microsoft.com/office/powerpoint/2010/main" val="4119532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4EABABFC-15F7-5E9C-45FB-9A79DBB9BB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C19434-F8C5-1DD9-CE21-5BC192217A15}"/>
              </a:ext>
            </a:extLst>
          </p:cNvPr>
          <p:cNvSpPr>
            <a:spLocks noGrp="1"/>
          </p:cNvSpPr>
          <p:nvPr>
            <p:ph type="title"/>
          </p:nvPr>
        </p:nvSpPr>
        <p:spPr>
          <a:xfrm>
            <a:off x="349684" y="188479"/>
            <a:ext cx="6563733" cy="1139825"/>
          </a:xfrm>
        </p:spPr>
        <p:txBody>
          <a:bodyPr>
            <a:normAutofit/>
          </a:bodyPr>
          <a:lstStyle/>
          <a:p>
            <a:r>
              <a:rPr lang="en-US" dirty="0"/>
              <a:t>What is Ring Buffer?</a:t>
            </a:r>
          </a:p>
        </p:txBody>
      </p:sp>
      <p:sp>
        <p:nvSpPr>
          <p:cNvPr id="2" name="Rectangle 4">
            <a:extLst>
              <a:ext uri="{FF2B5EF4-FFF2-40B4-BE49-F238E27FC236}">
                <a16:creationId xmlns:a16="http://schemas.microsoft.com/office/drawing/2014/main" id="{3E235DE3-0C29-7E71-7C39-F6D2F826AC1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D6D1DD9A-517F-CC45-327D-D0BD5159A6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E8C7C901-F1FA-459B-5A6A-5A6A81C5CEB2}"/>
              </a:ext>
            </a:extLst>
          </p:cNvPr>
          <p:cNvSpPr txBox="1"/>
          <p:nvPr/>
        </p:nvSpPr>
        <p:spPr>
          <a:xfrm>
            <a:off x="349685" y="1328304"/>
            <a:ext cx="11209711" cy="4154984"/>
          </a:xfrm>
          <a:prstGeom prst="rect">
            <a:avLst/>
          </a:prstGeom>
          <a:noFill/>
        </p:spPr>
        <p:txBody>
          <a:bodyPr wrap="square">
            <a:spAutoFit/>
          </a:bodyPr>
          <a:lstStyle/>
          <a:p>
            <a:pPr marL="285750" indent="-285750">
              <a:buFont typeface="Arial" panose="020B0604020202020204" pitchFamily="34" charset="0"/>
              <a:buChar char="•"/>
            </a:pPr>
            <a:r>
              <a:rPr lang="en-US" sz="2400" dirty="0"/>
              <a:t>Ring Buffer is a data structure that works efficiently by continuously overwriting old data by new ones when the buffer is full</a:t>
            </a:r>
          </a:p>
          <a:p>
            <a:pPr marL="285750" indent="-285750">
              <a:buFont typeface="Arial" panose="020B0604020202020204" pitchFamily="34" charset="0"/>
              <a:buChar char="•"/>
            </a:pPr>
            <a:r>
              <a:rPr lang="en-US" sz="2400" dirty="0"/>
              <a:t>It is a circular queue, efficiently managing data in a fixed-size buffer c</a:t>
            </a:r>
            <a:r>
              <a:rPr lang="en-US" sz="2400" kern="100" dirty="0">
                <a:latin typeface="Calibri" panose="020F0502020204030204" pitchFamily="34" charset="0"/>
                <a:ea typeface="Calibri" panose="020F0502020204030204" pitchFamily="34" charset="0"/>
                <a:cs typeface="Times New Roman" panose="02020603050405020304" pitchFamily="18" charset="0"/>
              </a:rPr>
              <a:t>ontaining read and write position</a:t>
            </a:r>
          </a:p>
          <a:p>
            <a:pPr marL="285750" indent="-285750">
              <a:buFont typeface="Arial" panose="020B0604020202020204" pitchFamily="34" charset="0"/>
              <a:buChar char="•"/>
            </a:pPr>
            <a:r>
              <a:rPr lang="en-US" sz="2400" dirty="0"/>
              <a:t>It is often employed in roles for managing and processing data, particularly in scenarios involving streaming data or limited memory resources [2]</a:t>
            </a:r>
          </a:p>
          <a:p>
            <a:pPr marL="285750" indent="-285750">
              <a:buFont typeface="Arial" panose="020B0604020202020204" pitchFamily="34" charset="0"/>
              <a:buChar char="•"/>
            </a:pPr>
            <a:r>
              <a:rPr lang="en-US" sz="2400" dirty="0"/>
              <a:t>Ring Buffers have been used in Neural Networks for the following processes</a:t>
            </a:r>
          </a:p>
          <a:p>
            <a:pPr marL="742950" lvl="1" indent="-285750">
              <a:buFont typeface="Arial" panose="020B0604020202020204" pitchFamily="34" charset="0"/>
              <a:buChar char="•"/>
            </a:pPr>
            <a:r>
              <a:rPr lang="en-US" sz="2400" dirty="0"/>
              <a:t>Data Preprocessing and Augmentation [12, 13]</a:t>
            </a:r>
          </a:p>
          <a:p>
            <a:pPr marL="742950" lvl="1" indent="-285750">
              <a:buFont typeface="Arial" panose="020B0604020202020204" pitchFamily="34" charset="0"/>
              <a:buChar char="•"/>
            </a:pPr>
            <a:r>
              <a:rPr lang="en-US" sz="2400" dirty="0"/>
              <a:t>Experience Replay in Reinforcement Learning [14, 31]</a:t>
            </a:r>
          </a:p>
          <a:p>
            <a:pPr marL="742950" lvl="1" indent="-285750">
              <a:buFont typeface="Arial" panose="020B0604020202020204" pitchFamily="34" charset="0"/>
              <a:buChar char="•"/>
            </a:pPr>
            <a:r>
              <a:rPr lang="en-US" sz="2400" dirty="0"/>
              <a:t>Logging and Monitoring [12]</a:t>
            </a:r>
          </a:p>
          <a:p>
            <a:pPr marL="742950" lvl="1" indent="-285750">
              <a:buFont typeface="Arial" panose="020B0604020202020204" pitchFamily="34" charset="0"/>
              <a:buChar char="•"/>
            </a:pPr>
            <a:r>
              <a:rPr lang="en-US" sz="2400" dirty="0"/>
              <a:t>Real-time Inference with Limited Memory [2, 13]</a:t>
            </a:r>
          </a:p>
        </p:txBody>
      </p:sp>
    </p:spTree>
    <p:extLst>
      <p:ext uri="{BB962C8B-B14F-4D97-AF65-F5344CB8AC3E}">
        <p14:creationId xmlns:p14="http://schemas.microsoft.com/office/powerpoint/2010/main" val="555758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6F03A2FA-E7EC-5F27-EE79-56FE1BF06DF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37694E-D446-CD8E-045B-C1BDA191AF5C}"/>
              </a:ext>
            </a:extLst>
          </p:cNvPr>
          <p:cNvSpPr>
            <a:spLocks noGrp="1"/>
          </p:cNvSpPr>
          <p:nvPr>
            <p:ph type="title"/>
          </p:nvPr>
        </p:nvSpPr>
        <p:spPr>
          <a:xfrm>
            <a:off x="491144" y="500063"/>
            <a:ext cx="6159038" cy="1013979"/>
          </a:xfrm>
        </p:spPr>
        <p:txBody>
          <a:bodyPr>
            <a:normAutofit/>
          </a:bodyPr>
          <a:lstStyle/>
          <a:p>
            <a:r>
              <a:rPr lang="en-US" dirty="0"/>
              <a:t>Why Ring Buffer?</a:t>
            </a:r>
          </a:p>
        </p:txBody>
      </p:sp>
      <p:sp>
        <p:nvSpPr>
          <p:cNvPr id="4" name="AutoShape 2" descr="Uploaded image">
            <a:extLst>
              <a:ext uri="{FF2B5EF4-FFF2-40B4-BE49-F238E27FC236}">
                <a16:creationId xmlns:a16="http://schemas.microsoft.com/office/drawing/2014/main" id="{E644C792-0B5D-105E-B23F-8BFBC95A71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9A9881BC-5971-C20E-7278-8287DE69C006}"/>
              </a:ext>
            </a:extLst>
          </p:cNvPr>
          <p:cNvSpPr txBox="1"/>
          <p:nvPr/>
        </p:nvSpPr>
        <p:spPr>
          <a:xfrm>
            <a:off x="491144" y="1514042"/>
            <a:ext cx="11209711" cy="3539430"/>
          </a:xfrm>
          <a:prstGeom prst="rect">
            <a:avLst/>
          </a:prstGeom>
          <a:noFill/>
        </p:spPr>
        <p:txBody>
          <a:bodyPr wrap="square">
            <a:spAutoFit/>
          </a:bodyPr>
          <a:lstStyle/>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Advantages of </a:t>
            </a:r>
            <a:r>
              <a:rPr lang="en-US" sz="2800" kern="100" dirty="0" err="1">
                <a:latin typeface="Calibri" panose="020F0502020204030204" pitchFamily="34" charset="0"/>
                <a:ea typeface="Calibri" panose="020F0502020204030204" pitchFamily="34" charset="0"/>
                <a:cs typeface="Times New Roman" panose="02020603050405020304" pitchFamily="18" charset="0"/>
              </a:rPr>
              <a:t>RingBuffer</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Fixed Memory Footprint</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First-In-First-Out (FIFO) behavior with automatic overwriting of old data</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Previously </a:t>
            </a:r>
            <a:r>
              <a:rPr lang="en-US" sz="2800" kern="100" dirty="0" err="1">
                <a:latin typeface="Calibri" panose="020F0502020204030204" pitchFamily="34" charset="0"/>
                <a:ea typeface="Calibri" panose="020F0502020204030204" pitchFamily="34" charset="0"/>
                <a:cs typeface="Times New Roman" panose="02020603050405020304" pitchFamily="18" charset="0"/>
              </a:rPr>
              <a:t>RingBuffers</a:t>
            </a:r>
            <a:r>
              <a:rPr lang="en-US" sz="2800" kern="100" dirty="0">
                <a:latin typeface="Calibri" panose="020F0502020204030204" pitchFamily="34" charset="0"/>
                <a:ea typeface="Calibri" panose="020F0502020204030204" pitchFamily="34" charset="0"/>
                <a:cs typeface="Times New Roman" panose="02020603050405020304" pitchFamily="18" charset="0"/>
              </a:rPr>
              <a:t> have been used for Classification or Event-Based Tasks</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Adapted for Time-Series Forecasting for the first time based on literature review</a:t>
            </a:r>
          </a:p>
        </p:txBody>
      </p:sp>
    </p:spTree>
    <p:extLst>
      <p:ext uri="{BB962C8B-B14F-4D97-AF65-F5344CB8AC3E}">
        <p14:creationId xmlns:p14="http://schemas.microsoft.com/office/powerpoint/2010/main" val="3403049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6B4F4695-4DE8-785F-F6A4-B8ACE9B816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7A6406-02E5-AFD4-1C73-87D5DD6AE475}"/>
              </a:ext>
            </a:extLst>
          </p:cNvPr>
          <p:cNvSpPr>
            <a:spLocks noGrp="1"/>
          </p:cNvSpPr>
          <p:nvPr>
            <p:ph type="title"/>
          </p:nvPr>
        </p:nvSpPr>
        <p:spPr>
          <a:xfrm>
            <a:off x="349685" y="188480"/>
            <a:ext cx="5593915" cy="1097396"/>
          </a:xfrm>
        </p:spPr>
        <p:txBody>
          <a:bodyPr>
            <a:normAutofit/>
          </a:bodyPr>
          <a:lstStyle/>
          <a:p>
            <a:r>
              <a:rPr lang="en-US" dirty="0"/>
              <a:t>Ring Buffer Visualization</a:t>
            </a:r>
          </a:p>
        </p:txBody>
      </p:sp>
      <p:sp>
        <p:nvSpPr>
          <p:cNvPr id="2" name="Rectangle 4">
            <a:extLst>
              <a:ext uri="{FF2B5EF4-FFF2-40B4-BE49-F238E27FC236}">
                <a16:creationId xmlns:a16="http://schemas.microsoft.com/office/drawing/2014/main" id="{D7A67CCE-33CF-1483-090F-766704CA0B8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A01AAD20-DE96-B92C-549C-665E0CC34B8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5B596B60-B37A-55C5-06AE-0E73BD5102F4}"/>
              </a:ext>
            </a:extLst>
          </p:cNvPr>
          <p:cNvPicPr>
            <a:picLocks noChangeAspect="1"/>
          </p:cNvPicPr>
          <p:nvPr/>
        </p:nvPicPr>
        <p:blipFill>
          <a:blip r:embed="rId3"/>
          <a:stretch>
            <a:fillRect/>
          </a:stretch>
        </p:blipFill>
        <p:spPr>
          <a:xfrm>
            <a:off x="597076" y="1398784"/>
            <a:ext cx="5010409" cy="4060432"/>
          </a:xfrm>
          <a:prstGeom prst="rect">
            <a:avLst/>
          </a:prstGeom>
        </p:spPr>
      </p:pic>
      <p:sp>
        <p:nvSpPr>
          <p:cNvPr id="8" name="TextBox 7">
            <a:extLst>
              <a:ext uri="{FF2B5EF4-FFF2-40B4-BE49-F238E27FC236}">
                <a16:creationId xmlns:a16="http://schemas.microsoft.com/office/drawing/2014/main" id="{B0878FD4-B379-8096-5FA1-48C17F133A5B}"/>
              </a:ext>
            </a:extLst>
          </p:cNvPr>
          <p:cNvSpPr txBox="1"/>
          <p:nvPr/>
        </p:nvSpPr>
        <p:spPr>
          <a:xfrm>
            <a:off x="1343025" y="5459216"/>
            <a:ext cx="3128962" cy="369332"/>
          </a:xfrm>
          <a:prstGeom prst="rect">
            <a:avLst/>
          </a:prstGeom>
          <a:noFill/>
        </p:spPr>
        <p:txBody>
          <a:bodyPr wrap="square" rtlCol="0">
            <a:spAutoFit/>
          </a:bodyPr>
          <a:lstStyle/>
          <a:p>
            <a:pPr algn="ctr"/>
            <a:r>
              <a:rPr lang="en-US" kern="100" dirty="0">
                <a:latin typeface="Calibri" panose="020F0502020204030204" pitchFamily="34" charset="0"/>
                <a:ea typeface="Calibri" panose="020F0502020204030204" pitchFamily="34" charset="0"/>
                <a:cs typeface="Times New Roman" panose="02020603050405020304" pitchFamily="18" charset="0"/>
              </a:rPr>
              <a:t>Source: Taken from [13]. </a:t>
            </a:r>
          </a:p>
        </p:txBody>
      </p:sp>
      <p:pic>
        <p:nvPicPr>
          <p:cNvPr id="12" name="Picture 11">
            <a:extLst>
              <a:ext uri="{FF2B5EF4-FFF2-40B4-BE49-F238E27FC236}">
                <a16:creationId xmlns:a16="http://schemas.microsoft.com/office/drawing/2014/main" id="{E7C817CB-70B0-C0D4-5133-24D2C15321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98784"/>
            <a:ext cx="4457700" cy="3343275"/>
          </a:xfrm>
          <a:prstGeom prst="rect">
            <a:avLst/>
          </a:prstGeom>
        </p:spPr>
      </p:pic>
      <p:sp>
        <p:nvSpPr>
          <p:cNvPr id="13" name="TextBox 12">
            <a:extLst>
              <a:ext uri="{FF2B5EF4-FFF2-40B4-BE49-F238E27FC236}">
                <a16:creationId xmlns:a16="http://schemas.microsoft.com/office/drawing/2014/main" id="{99991EAE-0B59-3EEA-E4F8-69C498ED3C91}"/>
              </a:ext>
            </a:extLst>
          </p:cNvPr>
          <p:cNvSpPr txBox="1"/>
          <p:nvPr/>
        </p:nvSpPr>
        <p:spPr>
          <a:xfrm>
            <a:off x="7287346" y="5459216"/>
            <a:ext cx="2426133" cy="369332"/>
          </a:xfrm>
          <a:prstGeom prst="rect">
            <a:avLst/>
          </a:prstGeom>
          <a:noFill/>
        </p:spPr>
        <p:txBody>
          <a:bodyPr wrap="square" rtlCol="0">
            <a:spAutoFit/>
          </a:bodyPr>
          <a:lstStyle/>
          <a:p>
            <a:pPr algn="ctr"/>
            <a:r>
              <a:rPr lang="en-US" dirty="0"/>
              <a:t>Source: Taken from [38]</a:t>
            </a:r>
          </a:p>
        </p:txBody>
      </p:sp>
    </p:spTree>
    <p:extLst>
      <p:ext uri="{BB962C8B-B14F-4D97-AF65-F5344CB8AC3E}">
        <p14:creationId xmlns:p14="http://schemas.microsoft.com/office/powerpoint/2010/main" val="2934108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FCE0B830-EC18-1B26-0F44-053AA6F27CF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F03336-3C82-DBCF-858E-17D18DC49D48}"/>
              </a:ext>
            </a:extLst>
          </p:cNvPr>
          <p:cNvSpPr>
            <a:spLocks noGrp="1"/>
          </p:cNvSpPr>
          <p:nvPr>
            <p:ph type="title"/>
          </p:nvPr>
        </p:nvSpPr>
        <p:spPr>
          <a:xfrm>
            <a:off x="491144" y="214313"/>
            <a:ext cx="4679515" cy="1056842"/>
          </a:xfrm>
        </p:spPr>
        <p:txBody>
          <a:bodyPr/>
          <a:lstStyle/>
          <a:p>
            <a:r>
              <a:rPr lang="en-US" dirty="0"/>
              <a:t>Main Contributions</a:t>
            </a:r>
          </a:p>
        </p:txBody>
      </p:sp>
      <p:sp>
        <p:nvSpPr>
          <p:cNvPr id="4" name="AutoShape 2" descr="Uploaded image">
            <a:extLst>
              <a:ext uri="{FF2B5EF4-FFF2-40B4-BE49-F238E27FC236}">
                <a16:creationId xmlns:a16="http://schemas.microsoft.com/office/drawing/2014/main" id="{25C21BF9-0685-61DF-60FD-2075C654666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4354A4AB-251F-3FF8-5E4D-17C585A34337}"/>
              </a:ext>
            </a:extLst>
          </p:cNvPr>
          <p:cNvSpPr txBox="1"/>
          <p:nvPr/>
        </p:nvSpPr>
        <p:spPr>
          <a:xfrm>
            <a:off x="491144" y="1271155"/>
            <a:ext cx="11209711" cy="4524315"/>
          </a:xfrm>
          <a:prstGeom prst="rect">
            <a:avLst/>
          </a:prstGeom>
          <a:noFill/>
        </p:spPr>
        <p:txBody>
          <a:bodyPr wrap="square">
            <a:spAutoFit/>
          </a:bodyPr>
          <a:lstStyle/>
          <a:p>
            <a:pPr marL="285750" indent="-285750">
              <a:buFont typeface="Arial" panose="020B0604020202020204" pitchFamily="34" charset="0"/>
              <a:buChar char="•"/>
            </a:pPr>
            <a:r>
              <a:rPr lang="en-US" sz="2400" kern="100" dirty="0">
                <a:latin typeface="Calibri" panose="020F0502020204030204" pitchFamily="34" charset="0"/>
                <a:ea typeface="Calibri" panose="020F0502020204030204" pitchFamily="34" charset="0"/>
                <a:cs typeface="Times New Roman" panose="02020603050405020304" pitchFamily="18" charset="0"/>
              </a:rPr>
              <a:t>Design and implement a Ring Buffer-based SNN (</a:t>
            </a:r>
            <a:r>
              <a:rPr lang="en-US" sz="2400" kern="100" dirty="0" err="1">
                <a:latin typeface="Calibri" panose="020F0502020204030204" pitchFamily="34" charset="0"/>
                <a:ea typeface="Calibri" panose="020F0502020204030204" pitchFamily="34" charset="0"/>
                <a:cs typeface="Times New Roman" panose="02020603050405020304" pitchFamily="18" charset="0"/>
              </a:rPr>
              <a:t>RingSNNs</a:t>
            </a:r>
            <a:r>
              <a:rPr lang="en-US" sz="2400" kern="100" dirty="0">
                <a:latin typeface="Calibri" panose="020F0502020204030204" pitchFamily="34" charset="0"/>
                <a:ea typeface="Calibri" panose="020F0502020204030204" pitchFamily="34" charset="0"/>
                <a:cs typeface="Times New Roman" panose="02020603050405020304" pitchFamily="18" charset="0"/>
              </a:rPr>
              <a:t>) pipeline tailored for regression-style time-series forecasting, enabling efficient temporal encoding and continuous prediction.</a:t>
            </a:r>
          </a:p>
          <a:p>
            <a:pPr marL="285750" indent="-285750">
              <a:buFont typeface="Arial" panose="020B0604020202020204" pitchFamily="34" charset="0"/>
              <a:buChar char="•"/>
            </a:pPr>
            <a:r>
              <a:rPr lang="en-US" sz="2400" kern="100" dirty="0">
                <a:latin typeface="Calibri" panose="020F0502020204030204" pitchFamily="34" charset="0"/>
                <a:ea typeface="Calibri" panose="020F0502020204030204" pitchFamily="34" charset="0"/>
                <a:cs typeface="Times New Roman" panose="02020603050405020304" pitchFamily="18" charset="0"/>
              </a:rPr>
              <a:t>Propose a reproducible benchmarking methodology for jointly evaluating predictive accuracy and energy consumption in SNNs, enabling comparison between neuromorphic hardware (</a:t>
            </a:r>
            <a:r>
              <a:rPr lang="en-US" sz="2400" kern="100" dirty="0" err="1">
                <a:latin typeface="Calibri" panose="020F0502020204030204" pitchFamily="34" charset="0"/>
                <a:ea typeface="Calibri" panose="020F0502020204030204" pitchFamily="34" charset="0"/>
                <a:cs typeface="Times New Roman" panose="02020603050405020304" pitchFamily="18" charset="0"/>
              </a:rPr>
              <a:t>Loihi</a:t>
            </a:r>
            <a:r>
              <a:rPr lang="en-US" sz="2400" kern="100" dirty="0">
                <a:latin typeface="Calibri" panose="020F0502020204030204" pitchFamily="34" charset="0"/>
                <a:ea typeface="Calibri" panose="020F0502020204030204" pitchFamily="34" charset="0"/>
                <a:cs typeface="Times New Roman" panose="02020603050405020304" pitchFamily="18" charset="0"/>
              </a:rPr>
              <a:t> 2) and conventional GPU platforms.</a:t>
            </a:r>
          </a:p>
          <a:p>
            <a:pPr marL="285750" indent="-285750">
              <a:buFont typeface="Arial" panose="020B0604020202020204" pitchFamily="34" charset="0"/>
              <a:buChar char="•"/>
            </a:pPr>
            <a:r>
              <a:rPr lang="en-US" sz="2400" kern="100" dirty="0">
                <a:latin typeface="Calibri" panose="020F0502020204030204" pitchFamily="34" charset="0"/>
                <a:ea typeface="Calibri" panose="020F0502020204030204" pitchFamily="34" charset="0"/>
                <a:cs typeface="Times New Roman" panose="02020603050405020304" pitchFamily="18" charset="0"/>
              </a:rPr>
              <a:t>Introduce an energy measurement protocol that accounts for the addition of idle, active, and spike-driven power states to ensure fair and reproducible comparisons between </a:t>
            </a:r>
            <a:r>
              <a:rPr lang="en-US" sz="2400" kern="100" dirty="0" err="1">
                <a:latin typeface="Calibri" panose="020F0502020204030204" pitchFamily="34" charset="0"/>
                <a:ea typeface="Calibri" panose="020F0502020204030204" pitchFamily="34" charset="0"/>
                <a:cs typeface="Times New Roman" panose="02020603050405020304" pitchFamily="18" charset="0"/>
              </a:rPr>
              <a:t>Loihi</a:t>
            </a:r>
            <a:r>
              <a:rPr lang="en-US" sz="2400" kern="100" dirty="0">
                <a:latin typeface="Calibri" panose="020F0502020204030204" pitchFamily="34" charset="0"/>
                <a:ea typeface="Calibri" panose="020F0502020204030204" pitchFamily="34" charset="0"/>
                <a:cs typeface="Times New Roman" panose="02020603050405020304" pitchFamily="18" charset="0"/>
              </a:rPr>
              <a:t> 2 and GPU implementations.</a:t>
            </a:r>
          </a:p>
          <a:p>
            <a:pPr marL="285750" indent="-285750">
              <a:buFont typeface="Arial" panose="020B0604020202020204" pitchFamily="34" charset="0"/>
              <a:buChar char="•"/>
            </a:pPr>
            <a:r>
              <a:rPr lang="en-US" sz="2400" kern="100" dirty="0">
                <a:latin typeface="Calibri" panose="020F0502020204030204" pitchFamily="34" charset="0"/>
                <a:ea typeface="Calibri" panose="020F0502020204030204" pitchFamily="34" charset="0"/>
                <a:cs typeface="Times New Roman" panose="02020603050405020304" pitchFamily="18" charset="0"/>
              </a:rPr>
              <a:t>Establish that Ring Buffer SNNs are a viable solution for real-time forecasting in energy-constrained environments like IoT and edge devices by combining biologically inspired temporal memory with hardware-specific evaluation</a:t>
            </a:r>
          </a:p>
        </p:txBody>
      </p:sp>
    </p:spTree>
    <p:extLst>
      <p:ext uri="{BB962C8B-B14F-4D97-AF65-F5344CB8AC3E}">
        <p14:creationId xmlns:p14="http://schemas.microsoft.com/office/powerpoint/2010/main" val="398346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86ECBF4C-BA5C-1068-8983-EACAEDF6CF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867936-4F3A-B8B6-DF1F-F24A99F114CE}"/>
              </a:ext>
            </a:extLst>
          </p:cNvPr>
          <p:cNvSpPr>
            <a:spLocks noGrp="1"/>
          </p:cNvSpPr>
          <p:nvPr>
            <p:ph type="title"/>
          </p:nvPr>
        </p:nvSpPr>
        <p:spPr>
          <a:xfrm>
            <a:off x="349685" y="188479"/>
            <a:ext cx="4208460" cy="1140259"/>
          </a:xfrm>
        </p:spPr>
        <p:txBody>
          <a:bodyPr>
            <a:normAutofit fontScale="90000"/>
          </a:bodyPr>
          <a:lstStyle/>
          <a:p>
            <a:r>
              <a:rPr lang="en-US" dirty="0" err="1"/>
              <a:t>RingSNN</a:t>
            </a:r>
            <a:r>
              <a:rPr lang="en-US" dirty="0"/>
              <a:t> Approach</a:t>
            </a:r>
          </a:p>
        </p:txBody>
      </p:sp>
      <p:sp>
        <p:nvSpPr>
          <p:cNvPr id="2" name="Rectangle 4">
            <a:extLst>
              <a:ext uri="{FF2B5EF4-FFF2-40B4-BE49-F238E27FC236}">
                <a16:creationId xmlns:a16="http://schemas.microsoft.com/office/drawing/2014/main" id="{CF3893BE-A0B8-5530-A5D0-16136A30A13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65EB800F-A1D4-8B79-8730-326D79E0C75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66AFED28-7F07-C808-BC58-6355565B4FE6}"/>
              </a:ext>
            </a:extLst>
          </p:cNvPr>
          <p:cNvSpPr txBox="1"/>
          <p:nvPr/>
        </p:nvSpPr>
        <p:spPr>
          <a:xfrm>
            <a:off x="491144" y="1328738"/>
            <a:ext cx="11209711" cy="4493538"/>
          </a:xfrm>
          <a:prstGeom prst="rect">
            <a:avLst/>
          </a:prstGeom>
          <a:noFill/>
        </p:spPr>
        <p:txBody>
          <a:bodyPr wrap="square">
            <a:spAutoFit/>
          </a:bodyPr>
          <a:lstStyle/>
          <a:p>
            <a:pPr marL="285750" indent="-285750">
              <a:buFont typeface="Arial" panose="020B0604020202020204" pitchFamily="34" charset="0"/>
              <a:buChar char="•"/>
            </a:pPr>
            <a:r>
              <a:rPr lang="en-US" sz="2600" kern="100" dirty="0">
                <a:latin typeface="Calibri" panose="020F0502020204030204" pitchFamily="34" charset="0"/>
                <a:ea typeface="Calibri" panose="020F0502020204030204" pitchFamily="34" charset="0"/>
                <a:cs typeface="Times New Roman" panose="02020603050405020304" pitchFamily="18" charset="0"/>
              </a:rPr>
              <a:t>Have control over inputs and spike fluctuations in SNN hardware implementation</a:t>
            </a:r>
          </a:p>
          <a:p>
            <a:pPr marL="285750" indent="-285750">
              <a:buFont typeface="Arial" panose="020B0604020202020204" pitchFamily="34" charset="0"/>
              <a:buChar char="•"/>
            </a:pPr>
            <a:r>
              <a:rPr lang="en-US" sz="2600" kern="100" dirty="0">
                <a:latin typeface="Calibri" panose="020F0502020204030204" pitchFamily="34" charset="0"/>
                <a:ea typeface="Calibri" panose="020F0502020204030204" pitchFamily="34" charset="0"/>
                <a:cs typeface="Times New Roman" panose="02020603050405020304" pitchFamily="18" charset="0"/>
              </a:rPr>
              <a:t>Help maintain biologically inspired short-term memory of recent spike histories while simultaneously smoothing event-driven spike trains into real-valued outputs suitable for regression tasks</a:t>
            </a:r>
          </a:p>
          <a:p>
            <a:pPr marL="285750" indent="-285750">
              <a:buFont typeface="Arial" panose="020B0604020202020204" pitchFamily="34" charset="0"/>
              <a:buChar char="•"/>
            </a:pPr>
            <a:r>
              <a:rPr lang="en-US" sz="2600" kern="100" dirty="0">
                <a:latin typeface="Calibri" panose="020F0502020204030204" pitchFamily="34" charset="0"/>
                <a:ea typeface="Calibri" panose="020F0502020204030204" pitchFamily="34" charset="0"/>
                <a:cs typeface="Times New Roman" panose="02020603050405020304" pitchFamily="18" charset="0"/>
              </a:rPr>
              <a:t>Ring Buffer SNNs achieve efficient temporal representation through sparse, event-driven updates</a:t>
            </a:r>
          </a:p>
          <a:p>
            <a:pPr marL="285750" indent="-285750">
              <a:buFont typeface="Arial" panose="020B0604020202020204" pitchFamily="34" charset="0"/>
              <a:buChar char="•"/>
            </a:pPr>
            <a:r>
              <a:rPr lang="en-US" sz="2600" kern="100" dirty="0">
                <a:latin typeface="Calibri" panose="020F0502020204030204" pitchFamily="34" charset="0"/>
                <a:ea typeface="Calibri" panose="020F0502020204030204" pitchFamily="34" charset="0"/>
                <a:cs typeface="Times New Roman" panose="02020603050405020304" pitchFamily="18" charset="0"/>
              </a:rPr>
              <a:t>Design aligns with neuromorphic principles of energy-efficient computation and supports real-time forecasting in streaming environments where low latency and reduced power consumption are critical</a:t>
            </a:r>
          </a:p>
          <a:p>
            <a:pPr marL="285750" indent="-285750">
              <a:buFont typeface="Arial" panose="020B0604020202020204" pitchFamily="34" charset="0"/>
              <a:buChar char="•"/>
            </a:pPr>
            <a:r>
              <a:rPr lang="en-US" sz="2600" kern="100" dirty="0">
                <a:latin typeface="Calibri" panose="020F0502020204030204" pitchFamily="34" charset="0"/>
                <a:ea typeface="Calibri" panose="020F0502020204030204" pitchFamily="34" charset="0"/>
                <a:cs typeface="Times New Roman" panose="02020603050405020304" pitchFamily="18" charset="0"/>
              </a:rPr>
              <a:t>Work is focused on energy benchmarking and reproducibility</a:t>
            </a:r>
          </a:p>
        </p:txBody>
      </p:sp>
    </p:spTree>
    <p:extLst>
      <p:ext uri="{BB962C8B-B14F-4D97-AF65-F5344CB8AC3E}">
        <p14:creationId xmlns:p14="http://schemas.microsoft.com/office/powerpoint/2010/main" val="1909710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65148189-5BFF-0411-8750-46FF17B472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193383-CAAE-FAC2-0B77-B294EFCDB421}"/>
              </a:ext>
            </a:extLst>
          </p:cNvPr>
          <p:cNvSpPr>
            <a:spLocks noGrp="1"/>
          </p:cNvSpPr>
          <p:nvPr>
            <p:ph type="title"/>
          </p:nvPr>
        </p:nvSpPr>
        <p:spPr>
          <a:xfrm>
            <a:off x="349685" y="188479"/>
            <a:ext cx="10515600" cy="1325563"/>
          </a:xfrm>
        </p:spPr>
        <p:txBody>
          <a:bodyPr/>
          <a:lstStyle/>
          <a:p>
            <a:r>
              <a:rPr lang="en-US" dirty="0"/>
              <a:t>Datasets</a:t>
            </a:r>
          </a:p>
        </p:txBody>
      </p:sp>
      <p:sp>
        <p:nvSpPr>
          <p:cNvPr id="2" name="Rectangle 4">
            <a:extLst>
              <a:ext uri="{FF2B5EF4-FFF2-40B4-BE49-F238E27FC236}">
                <a16:creationId xmlns:a16="http://schemas.microsoft.com/office/drawing/2014/main" id="{F800955D-91FF-BBC1-4B84-2DDBF130268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69879E3B-3563-68EC-DB6E-2F6830B18A1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D5749239-9F07-3BB8-6C53-6376AC2EF5DE}"/>
              </a:ext>
            </a:extLst>
          </p:cNvPr>
          <p:cNvSpPr txBox="1"/>
          <p:nvPr/>
        </p:nvSpPr>
        <p:spPr>
          <a:xfrm>
            <a:off x="338744" y="1337608"/>
            <a:ext cx="11209711" cy="4401205"/>
          </a:xfrm>
          <a:prstGeom prst="rect">
            <a:avLst/>
          </a:prstGeom>
          <a:noFill/>
        </p:spPr>
        <p:txBody>
          <a:bodyPr wrap="square">
            <a:spAutoFit/>
          </a:bodyPr>
          <a:lstStyle/>
          <a:p>
            <a:pPr marL="285750" indent="-285750">
              <a:buFont typeface="Arial" panose="020B0604020202020204" pitchFamily="34" charset="0"/>
              <a:buChar char="•"/>
            </a:pPr>
            <a:r>
              <a:rPr lang="en-US" sz="2800" dirty="0"/>
              <a:t>National Renewable Energy Laboratory (NREL) solar generation profile (Solar Production) [15]</a:t>
            </a:r>
          </a:p>
          <a:p>
            <a:pPr marL="285750" indent="-285750">
              <a:buFont typeface="Arial" panose="020B0604020202020204" pitchFamily="34" charset="0"/>
              <a:buChar char="•"/>
            </a:pPr>
            <a:r>
              <a:rPr lang="en-US" sz="2800" dirty="0"/>
              <a:t>PJM Interconnection LLC (PJM) Hourly Energy Consumption [16]</a:t>
            </a:r>
          </a:p>
          <a:p>
            <a:pPr marL="285750" indent="-285750">
              <a:buFont typeface="Arial" panose="020B0604020202020204" pitchFamily="34" charset="0"/>
              <a:buChar char="•"/>
            </a:pPr>
            <a:r>
              <a:rPr lang="en-US" sz="2800" dirty="0"/>
              <a:t>Solar Influences Data Analysis Center (SIDC) Monthly Mean Total Sunspot Number datasets [17]</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All datasets perform the following</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Normalized </a:t>
            </a:r>
            <a:r>
              <a:rPr lang="en-US" sz="2800" dirty="0"/>
              <a:t>prior to training and are divided into training (first 80% rows) and testing sets (last 20% rows)</a:t>
            </a:r>
          </a:p>
          <a:p>
            <a:pPr marL="742950" lvl="1" indent="-285750">
              <a:buFont typeface="Arial" panose="020B0604020202020204" pitchFamily="34" charset="0"/>
              <a:buChar char="•"/>
            </a:pPr>
            <a:r>
              <a:rPr lang="en-US" sz="2800" dirty="0"/>
              <a:t>After compiling, training, testing, and evaluating the models, data is denormalized using Inverse Transform back to its original form.</a:t>
            </a:r>
          </a:p>
        </p:txBody>
      </p:sp>
    </p:spTree>
    <p:extLst>
      <p:ext uri="{BB962C8B-B14F-4D97-AF65-F5344CB8AC3E}">
        <p14:creationId xmlns:p14="http://schemas.microsoft.com/office/powerpoint/2010/main" val="4291031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3DBBEE84-11A6-544D-A499-C9B63F3E62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F0290E-FE80-2F2D-2ABF-195D0A1953BB}"/>
              </a:ext>
            </a:extLst>
          </p:cNvPr>
          <p:cNvSpPr>
            <a:spLocks noGrp="1"/>
          </p:cNvSpPr>
          <p:nvPr>
            <p:ph type="title"/>
          </p:nvPr>
        </p:nvSpPr>
        <p:spPr>
          <a:xfrm>
            <a:off x="407497" y="457200"/>
            <a:ext cx="11239071" cy="890337"/>
          </a:xfrm>
        </p:spPr>
        <p:txBody>
          <a:bodyPr>
            <a:normAutofit/>
          </a:bodyPr>
          <a:lstStyle/>
          <a:p>
            <a:r>
              <a:rPr lang="en-US" dirty="0"/>
              <a:t>NREL Solar generation profile (Solar Production) </a:t>
            </a:r>
          </a:p>
        </p:txBody>
      </p:sp>
      <p:sp>
        <p:nvSpPr>
          <p:cNvPr id="2" name="Rectangle 4">
            <a:extLst>
              <a:ext uri="{FF2B5EF4-FFF2-40B4-BE49-F238E27FC236}">
                <a16:creationId xmlns:a16="http://schemas.microsoft.com/office/drawing/2014/main" id="{D2772C3E-A4E8-D608-D7D9-16A356BF13A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ABDF656F-8644-E5CE-154D-D7E8263B05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BA2DC79-8293-63D1-A20F-63CF3B9F6BDB}"/>
              </a:ext>
            </a:extLst>
          </p:cNvPr>
          <p:cNvSpPr txBox="1"/>
          <p:nvPr/>
        </p:nvSpPr>
        <p:spPr>
          <a:xfrm>
            <a:off x="344905" y="1347537"/>
            <a:ext cx="11502190" cy="5262979"/>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datasets are provided for four U.S. Independent System Operator territories: ERCOT, NYISO, MISO, and SPP </a:t>
            </a:r>
          </a:p>
          <a:p>
            <a:pPr marL="742950" lvl="1" indent="-285750">
              <a:buFont typeface="Arial" panose="020B0604020202020204" pitchFamily="34" charset="0"/>
              <a:buChar char="•"/>
            </a:pPr>
            <a:r>
              <a:rPr lang="en-US" sz="2400" dirty="0"/>
              <a:t>ERCOT solar production data (5-minute resolution, 2017) was used</a:t>
            </a:r>
          </a:p>
          <a:p>
            <a:pPr marL="285750" indent="-285750">
              <a:buFont typeface="Arial" panose="020B0604020202020204" pitchFamily="34" charset="0"/>
              <a:buChar char="•"/>
            </a:pPr>
            <a:r>
              <a:rPr lang="en-US" sz="2400" u="sng" dirty="0"/>
              <a:t>Input Feature:</a:t>
            </a:r>
            <a:r>
              <a:rPr lang="en-US" sz="2400" dirty="0"/>
              <a:t>  </a:t>
            </a:r>
            <a:r>
              <a:rPr lang="en-US" sz="2400" dirty="0" err="1"/>
              <a:t>time_index</a:t>
            </a:r>
            <a:r>
              <a:rPr lang="en-US" sz="2400" dirty="0"/>
              <a:t> represents the time stamp</a:t>
            </a:r>
          </a:p>
          <a:p>
            <a:pPr marL="285750" indent="-285750">
              <a:buFont typeface="Arial" panose="020B0604020202020204" pitchFamily="34" charset="0"/>
              <a:buChar char="•"/>
            </a:pPr>
            <a:r>
              <a:rPr lang="en-US" sz="2400" u="sng" dirty="0"/>
              <a:t>Target Variable: </a:t>
            </a:r>
            <a:r>
              <a:rPr lang="en-US" sz="2400" dirty="0"/>
              <a:t>solar production gathered in megawatts (MW) or kilowatt hours (kWh) </a:t>
            </a:r>
          </a:p>
          <a:p>
            <a:pPr marL="285750" indent="-285750">
              <a:buFont typeface="Arial" panose="020B0604020202020204" pitchFamily="34" charset="0"/>
              <a:buChar char="•"/>
            </a:pPr>
            <a:r>
              <a:rPr lang="en-US" sz="2400" dirty="0"/>
              <a:t>Both actual and forecasted data have high temporal and spatial fidelity and the forecasted data includes both deterministic and probabilistic forecasts</a:t>
            </a:r>
          </a:p>
          <a:p>
            <a:pPr marL="285750" indent="-285750">
              <a:buFont typeface="Arial" panose="020B0604020202020204" pitchFamily="34" charset="0"/>
              <a:buChar char="•"/>
            </a:pPr>
            <a:r>
              <a:rPr lang="en-US" sz="2400" dirty="0"/>
              <a:t>Clean time-series format with no need for complex preprocessing and fits well with ANN and </a:t>
            </a:r>
            <a:r>
              <a:rPr lang="en-US" sz="2400" dirty="0" err="1"/>
              <a:t>RingSNN</a:t>
            </a:r>
            <a:r>
              <a:rPr lang="en-US" sz="2400" dirty="0"/>
              <a:t> models </a:t>
            </a:r>
          </a:p>
          <a:p>
            <a:pPr marL="285750" indent="-285750">
              <a:buFont typeface="Arial" panose="020B0604020202020204" pitchFamily="34" charset="0"/>
              <a:buChar char="•"/>
            </a:pPr>
            <a:r>
              <a:rPr lang="en-US" sz="2400" dirty="0"/>
              <a:t>Consistent sampling with uniform time intervals making the dataset easier to batch, normalize, and encode</a:t>
            </a:r>
          </a:p>
          <a:p>
            <a:pPr marL="285750" indent="-285750">
              <a:buFont typeface="Arial" panose="020B0604020202020204" pitchFamily="34" charset="0"/>
              <a:buChar char="•"/>
            </a:pPr>
            <a:r>
              <a:rPr lang="en-US" sz="2400" dirty="0"/>
              <a:t>Realistic solar generation patterns are captured including variability and ramp events and are useful for benchmarking energy vs. accuracy tradeoffs in neuromorphic vs. conventional models.</a:t>
            </a:r>
          </a:p>
        </p:txBody>
      </p:sp>
    </p:spTree>
    <p:extLst>
      <p:ext uri="{BB962C8B-B14F-4D97-AF65-F5344CB8AC3E}">
        <p14:creationId xmlns:p14="http://schemas.microsoft.com/office/powerpoint/2010/main" val="2677149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56A36EED-EE02-C130-3697-2C60F2ED52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9F7A51-7028-32A1-DFE5-22F6E07BD148}"/>
              </a:ext>
            </a:extLst>
          </p:cNvPr>
          <p:cNvSpPr>
            <a:spLocks noGrp="1"/>
          </p:cNvSpPr>
          <p:nvPr>
            <p:ph type="title"/>
          </p:nvPr>
        </p:nvSpPr>
        <p:spPr>
          <a:xfrm>
            <a:off x="349685" y="457200"/>
            <a:ext cx="9837052" cy="1056842"/>
          </a:xfrm>
        </p:spPr>
        <p:txBody>
          <a:bodyPr/>
          <a:lstStyle/>
          <a:p>
            <a:r>
              <a:rPr lang="en-US" dirty="0"/>
              <a:t>PJM Hourly Energy Consumption (AEP)</a:t>
            </a:r>
          </a:p>
        </p:txBody>
      </p:sp>
      <p:sp>
        <p:nvSpPr>
          <p:cNvPr id="2" name="Rectangle 4">
            <a:extLst>
              <a:ext uri="{FF2B5EF4-FFF2-40B4-BE49-F238E27FC236}">
                <a16:creationId xmlns:a16="http://schemas.microsoft.com/office/drawing/2014/main" id="{AAA745B1-0EF3-74A1-FE7B-D5C68F143C6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10161C23-19CD-54B8-23A6-EA18695475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BCF3D36-16C2-8B9F-6DB8-088646C3A184}"/>
              </a:ext>
            </a:extLst>
          </p:cNvPr>
          <p:cNvSpPr txBox="1"/>
          <p:nvPr/>
        </p:nvSpPr>
        <p:spPr>
          <a:xfrm>
            <a:off x="484505" y="1514042"/>
            <a:ext cx="11357810"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t>Provides estimated energy consumption for every hour from 2004-2018</a:t>
            </a:r>
          </a:p>
          <a:p>
            <a:pPr marL="285750" indent="-285750">
              <a:buFont typeface="Arial" panose="020B0604020202020204" pitchFamily="34" charset="0"/>
              <a:buChar char="•"/>
            </a:pPr>
            <a:r>
              <a:rPr lang="en-US" sz="2800" u="sng" dirty="0"/>
              <a:t>Input Feature:</a:t>
            </a:r>
            <a:r>
              <a:rPr lang="en-US" sz="2800" dirty="0"/>
              <a:t>  Datetime</a:t>
            </a:r>
          </a:p>
          <a:p>
            <a:pPr marL="285750" indent="-285750">
              <a:buFont typeface="Arial" panose="020B0604020202020204" pitchFamily="34" charset="0"/>
              <a:buChar char="•"/>
            </a:pPr>
            <a:r>
              <a:rPr lang="en-US" sz="2800" u="sng" dirty="0"/>
              <a:t>Target Variable:</a:t>
            </a:r>
            <a:r>
              <a:rPr lang="en-US" sz="2800" dirty="0"/>
              <a:t> American Energy Power Megawatts (AEP_MW) </a:t>
            </a:r>
          </a:p>
          <a:p>
            <a:pPr marL="285750" indent="-285750">
              <a:buFont typeface="Arial" panose="020B0604020202020204" pitchFamily="34" charset="0"/>
              <a:buChar char="•"/>
            </a:pPr>
            <a:r>
              <a:rPr lang="en-US" sz="2800" dirty="0"/>
              <a:t>Known for its hourly energy consumption measurements providing sufficient temporal granularity to model short-term demand variability as well as long-term seasonal trends</a:t>
            </a:r>
          </a:p>
          <a:p>
            <a:pPr marL="285750" indent="-285750">
              <a:buFont typeface="Arial" panose="020B0604020202020204" pitchFamily="34" charset="0"/>
              <a:buChar char="•"/>
            </a:pPr>
            <a:r>
              <a:rPr lang="en-US" sz="2800" dirty="0"/>
              <a:t>This pattern makes the dataset one of the best candidates for benchmarking purposes due to its connection to grid reliability, energy pricing, and sustainability planning. </a:t>
            </a:r>
          </a:p>
          <a:p>
            <a:pPr marL="285750" indent="-285750">
              <a:buFont typeface="Arial" panose="020B0604020202020204" pitchFamily="34" charset="0"/>
              <a:buChar char="•"/>
            </a:pPr>
            <a:r>
              <a:rPr lang="en-US" sz="2800" dirty="0"/>
              <a:t>The presence of weather-driven, seasonal, and behavior-dependent patterns makes the dataset suitable for evaluating forecasting models</a:t>
            </a:r>
          </a:p>
        </p:txBody>
      </p:sp>
    </p:spTree>
    <p:extLst>
      <p:ext uri="{BB962C8B-B14F-4D97-AF65-F5344CB8AC3E}">
        <p14:creationId xmlns:p14="http://schemas.microsoft.com/office/powerpoint/2010/main" val="1593144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EFEA088B-1114-43DE-1AD3-89190EAAC7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25C4D0-3721-5A6E-3AAE-9464DE20AD05}"/>
              </a:ext>
            </a:extLst>
          </p:cNvPr>
          <p:cNvSpPr>
            <a:spLocks noGrp="1"/>
          </p:cNvSpPr>
          <p:nvPr>
            <p:ph type="title"/>
          </p:nvPr>
        </p:nvSpPr>
        <p:spPr>
          <a:xfrm>
            <a:off x="338744" y="273655"/>
            <a:ext cx="10515600" cy="1325563"/>
          </a:xfrm>
        </p:spPr>
        <p:txBody>
          <a:bodyPr/>
          <a:lstStyle/>
          <a:p>
            <a:r>
              <a:rPr lang="en-US" dirty="0"/>
              <a:t>SIDC Monthly Mean Total Sunspot Number (Sunspot)</a:t>
            </a: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4">
            <a:extLst>
              <a:ext uri="{FF2B5EF4-FFF2-40B4-BE49-F238E27FC236}">
                <a16:creationId xmlns:a16="http://schemas.microsoft.com/office/drawing/2014/main" id="{32F84FEB-FB74-0BD9-798E-FC437DCCA4E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DB0C9C84-7518-09D6-1341-A34825D1BA2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CC41DAC-40BA-53DB-3208-B289B1D08C30}"/>
              </a:ext>
            </a:extLst>
          </p:cNvPr>
          <p:cNvSpPr txBox="1"/>
          <p:nvPr/>
        </p:nvSpPr>
        <p:spPr>
          <a:xfrm>
            <a:off x="685800" y="1628428"/>
            <a:ext cx="10515600"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Mean or average of the daily total sunspot number of all days at the end of each calendar month from 1749 – 2021</a:t>
            </a:r>
          </a:p>
          <a:p>
            <a:pPr marL="285750" indent="-285750">
              <a:buFont typeface="Arial" panose="020B0604020202020204" pitchFamily="34" charset="0"/>
              <a:buChar char="•"/>
            </a:pPr>
            <a:r>
              <a:rPr lang="en-US" sz="2800" dirty="0"/>
              <a:t>Input feature: Date; target variable: Monthly Mean Total Sunspot Number [17]</a:t>
            </a:r>
          </a:p>
          <a:p>
            <a:pPr marL="285750" indent="-285750">
              <a:buFont typeface="Arial" panose="020B0604020202020204" pitchFamily="34" charset="0"/>
              <a:buChar char="•"/>
            </a:pPr>
            <a:r>
              <a:rPr lang="en-US" sz="2800" dirty="0"/>
              <a:t>Dataset is particularly valuable due to its extensive historical coverage</a:t>
            </a:r>
          </a:p>
          <a:p>
            <a:pPr marL="285750" indent="-285750">
              <a:buFont typeface="Arial" panose="020B0604020202020204" pitchFamily="34" charset="0"/>
              <a:buChar char="•"/>
            </a:pPr>
            <a:r>
              <a:rPr lang="en-US" sz="2800" dirty="0"/>
              <a:t>Sunspot activity correlates with solar radiation and space weather, which in turn affects climate, satellite operations, and energy production [32]</a:t>
            </a:r>
          </a:p>
        </p:txBody>
      </p:sp>
    </p:spTree>
    <p:extLst>
      <p:ext uri="{BB962C8B-B14F-4D97-AF65-F5344CB8AC3E}">
        <p14:creationId xmlns:p14="http://schemas.microsoft.com/office/powerpoint/2010/main" val="4171580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E976948C-2DAD-F184-8FCB-389729B1C8A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1C8D385-401C-05D7-1211-3B7C5E28712E}"/>
              </a:ext>
            </a:extLst>
          </p:cNvPr>
          <p:cNvSpPr>
            <a:spLocks noGrp="1"/>
          </p:cNvSpPr>
          <p:nvPr>
            <p:ph type="title"/>
          </p:nvPr>
        </p:nvSpPr>
        <p:spPr>
          <a:xfrm>
            <a:off x="486319" y="188479"/>
            <a:ext cx="7732770" cy="1325563"/>
          </a:xfrm>
        </p:spPr>
        <p:txBody>
          <a:bodyPr>
            <a:normAutofit/>
          </a:bodyPr>
          <a:lstStyle/>
          <a:p>
            <a:r>
              <a:rPr lang="en-US" kern="100" dirty="0">
                <a:latin typeface="Calibri Light" panose="020F0302020204030204" pitchFamily="34" charset="0"/>
                <a:ea typeface="Calibri" panose="020F0502020204030204" pitchFamily="34" charset="0"/>
                <a:cs typeface="Calibri Light" panose="020F0302020204030204" pitchFamily="34" charset="0"/>
              </a:rPr>
              <a:t>SNN and ANN architectures</a:t>
            </a:r>
          </a:p>
        </p:txBody>
      </p:sp>
      <p:sp>
        <p:nvSpPr>
          <p:cNvPr id="4" name="AutoShape 2" descr="Uploaded image">
            <a:extLst>
              <a:ext uri="{FF2B5EF4-FFF2-40B4-BE49-F238E27FC236}">
                <a16:creationId xmlns:a16="http://schemas.microsoft.com/office/drawing/2014/main" id="{FEB93774-11EB-1B5C-B4DF-152D8E91171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4700ABD-A863-6184-D5AF-36837A87C582}"/>
              </a:ext>
            </a:extLst>
          </p:cNvPr>
          <p:cNvSpPr txBox="1"/>
          <p:nvPr/>
        </p:nvSpPr>
        <p:spPr>
          <a:xfrm>
            <a:off x="486319" y="1406542"/>
            <a:ext cx="10797032" cy="5262979"/>
          </a:xfrm>
          <a:prstGeom prst="rect">
            <a:avLst/>
          </a:prstGeom>
          <a:noFill/>
        </p:spPr>
        <p:txBody>
          <a:bodyPr wrap="square" rtlCol="0">
            <a:spAutoFit/>
          </a:bodyPr>
          <a:lstStyle/>
          <a:p>
            <a:pPr marL="285750" indent="-285750">
              <a:buFont typeface="Arial" panose="020B0604020202020204" pitchFamily="34" charset="0"/>
              <a:buChar char="•"/>
            </a:pPr>
            <a:r>
              <a:rPr lang="en-US" sz="2800" dirty="0"/>
              <a:t>Convolutional Neural Networks (CNN)</a:t>
            </a:r>
          </a:p>
          <a:p>
            <a:pPr marL="285750" indent="-285750">
              <a:buFont typeface="Arial" panose="020B0604020202020204" pitchFamily="34" charset="0"/>
              <a:buChar char="•"/>
            </a:pPr>
            <a:r>
              <a:rPr lang="en-US" sz="2800" dirty="0"/>
              <a:t>Long Short-Term Memory (LSTM) and Gated Recurrent Units (GRU)</a:t>
            </a:r>
          </a:p>
          <a:p>
            <a:pPr marL="742950" lvl="1" indent="-285750">
              <a:buFont typeface="Arial" panose="020B0604020202020204" pitchFamily="34" charset="0"/>
              <a:buChar char="•"/>
            </a:pPr>
            <a:r>
              <a:rPr lang="en-US" sz="2800" dirty="0"/>
              <a:t>Class of Recurrent Neural Networks (RNNs)</a:t>
            </a:r>
          </a:p>
          <a:p>
            <a:pPr marL="742950" lvl="1" indent="-285750">
              <a:buFont typeface="Arial" panose="020B0604020202020204" pitchFamily="34" charset="0"/>
              <a:buChar char="•"/>
            </a:pPr>
            <a:r>
              <a:rPr lang="en-US" sz="2800" dirty="0"/>
              <a:t>RNN: uses previous information to produce current output</a:t>
            </a:r>
          </a:p>
          <a:p>
            <a:pPr marL="742950" lvl="1" indent="-285750">
              <a:buFont typeface="Arial" panose="020B0604020202020204" pitchFamily="34" charset="0"/>
              <a:buChar char="•"/>
            </a:pPr>
            <a:r>
              <a:rPr lang="en-US" sz="2800" dirty="0"/>
              <a:t>LSTM:  special type of RNN with additional features to memorize the sequence of data. </a:t>
            </a:r>
          </a:p>
          <a:p>
            <a:pPr marL="742950" lvl="1" indent="-285750">
              <a:buFont typeface="Arial" panose="020B0604020202020204" pitchFamily="34" charset="0"/>
              <a:buChar char="•"/>
            </a:pPr>
            <a:r>
              <a:rPr lang="en-US" sz="2800" dirty="0"/>
              <a:t>GRU: Designed to model sequential data by allowing information to be selectively remembered or forgotten over time with fewer parameters than LSTM</a:t>
            </a:r>
          </a:p>
          <a:p>
            <a:pPr marL="285750" indent="-285750">
              <a:buFont typeface="Arial" panose="020B0604020202020204" pitchFamily="34" charset="0"/>
              <a:buChar char="•"/>
            </a:pPr>
            <a:r>
              <a:rPr lang="en-US" sz="2800" dirty="0"/>
              <a:t>Hybrid CNN-LSTM</a:t>
            </a:r>
          </a:p>
          <a:p>
            <a:pPr marL="285750" indent="-285750">
              <a:buFont typeface="Arial" panose="020B0604020202020204" pitchFamily="34" charset="0"/>
              <a:buChar char="•"/>
            </a:pPr>
            <a:r>
              <a:rPr lang="en-US" sz="2800" dirty="0" err="1"/>
              <a:t>RingSNN</a:t>
            </a:r>
            <a:r>
              <a:rPr lang="en-US" sz="2800" dirty="0"/>
              <a:t> Architecture</a:t>
            </a:r>
          </a:p>
          <a:p>
            <a:pPr marL="285750" indent="-285750">
              <a:buFont typeface="Arial" panose="020B0604020202020204" pitchFamily="34" charset="0"/>
              <a:buChar char="•"/>
            </a:pPr>
            <a:r>
              <a:rPr lang="en-US" sz="2800" dirty="0" err="1"/>
              <a:t>RingSNN</a:t>
            </a:r>
            <a:r>
              <a:rPr lang="en-US" sz="2800" dirty="0"/>
              <a:t> vs ANN Architectures</a:t>
            </a:r>
          </a:p>
        </p:txBody>
      </p:sp>
    </p:spTree>
    <p:extLst>
      <p:ext uri="{BB962C8B-B14F-4D97-AF65-F5344CB8AC3E}">
        <p14:creationId xmlns:p14="http://schemas.microsoft.com/office/powerpoint/2010/main" val="3165818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CC3C9B49-40D8-7AEA-F922-0606F3A0DD2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630D951-88B9-1D2B-D1FB-ED938002D884}"/>
              </a:ext>
            </a:extLst>
          </p:cNvPr>
          <p:cNvSpPr>
            <a:spLocks noGrp="1"/>
          </p:cNvSpPr>
          <p:nvPr>
            <p:ph type="title"/>
          </p:nvPr>
        </p:nvSpPr>
        <p:spPr>
          <a:xfrm>
            <a:off x="349685" y="188479"/>
            <a:ext cx="10515600" cy="1325563"/>
          </a:xfrm>
        </p:spPr>
        <p:txBody>
          <a:bodyPr/>
          <a:lstStyle/>
          <a:p>
            <a:r>
              <a:rPr lang="en-US" kern="100" dirty="0">
                <a:latin typeface="Calibri Light" panose="020F0302020204030204" pitchFamily="34" charset="0"/>
                <a:ea typeface="Calibri" panose="020F0502020204030204" pitchFamily="34" charset="0"/>
                <a:cs typeface="Calibri Light" panose="020F0302020204030204" pitchFamily="34" charset="0"/>
              </a:rPr>
              <a:t>CNN Architecture</a:t>
            </a:r>
          </a:p>
        </p:txBody>
      </p:sp>
      <p:sp>
        <p:nvSpPr>
          <p:cNvPr id="2" name="Rectangle 4">
            <a:extLst>
              <a:ext uri="{FF2B5EF4-FFF2-40B4-BE49-F238E27FC236}">
                <a16:creationId xmlns:a16="http://schemas.microsoft.com/office/drawing/2014/main" id="{2177A78A-26A4-F8B0-4FA9-ADED55CAE88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4053E4E3-E462-60F1-EF65-A7548F78BBD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6D9DF10E-73BB-C1D8-D719-AA4A6F8BE4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1135" y="1702521"/>
            <a:ext cx="9269730" cy="3714606"/>
          </a:xfrm>
          <a:prstGeom prst="rect">
            <a:avLst/>
          </a:prstGeom>
        </p:spPr>
      </p:pic>
    </p:spTree>
    <p:extLst>
      <p:ext uri="{BB962C8B-B14F-4D97-AF65-F5344CB8AC3E}">
        <p14:creationId xmlns:p14="http://schemas.microsoft.com/office/powerpoint/2010/main" val="2063368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C71E3198-85F9-B548-2890-9EB75E0FE3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0DB431-FEE2-D388-DE35-319632589895}"/>
              </a:ext>
            </a:extLst>
          </p:cNvPr>
          <p:cNvSpPr>
            <a:spLocks noGrp="1"/>
          </p:cNvSpPr>
          <p:nvPr>
            <p:ph type="title"/>
          </p:nvPr>
        </p:nvSpPr>
        <p:spPr>
          <a:xfrm>
            <a:off x="349686" y="228601"/>
            <a:ext cx="4205062" cy="944592"/>
          </a:xfrm>
        </p:spPr>
        <p:txBody>
          <a:bodyPr>
            <a:normAutofit fontScale="90000"/>
          </a:bodyPr>
          <a:lstStyle/>
          <a:p>
            <a:r>
              <a:rPr lang="en-US" dirty="0"/>
              <a:t>Hybrid CNN-LSTM</a:t>
            </a:r>
          </a:p>
        </p:txBody>
      </p:sp>
      <p:sp>
        <p:nvSpPr>
          <p:cNvPr id="2" name="Rectangle 4">
            <a:extLst>
              <a:ext uri="{FF2B5EF4-FFF2-40B4-BE49-F238E27FC236}">
                <a16:creationId xmlns:a16="http://schemas.microsoft.com/office/drawing/2014/main" id="{C76CD5FC-6F99-CAC1-2720-AEDE61A62D8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00764BD9-FDA2-E459-A40C-59816349BBD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08E84F06-C444-1239-7033-E436DED466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3789" y="1323489"/>
            <a:ext cx="9645232" cy="5057598"/>
          </a:xfrm>
          <a:prstGeom prst="rect">
            <a:avLst/>
          </a:prstGeom>
        </p:spPr>
      </p:pic>
    </p:spTree>
    <p:extLst>
      <p:ext uri="{BB962C8B-B14F-4D97-AF65-F5344CB8AC3E}">
        <p14:creationId xmlns:p14="http://schemas.microsoft.com/office/powerpoint/2010/main" val="1716118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4D78E1A5-E845-9BD0-B5F4-23EE591121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55BB7FA-E249-E1CB-13B5-1B3A72E84831}"/>
              </a:ext>
            </a:extLst>
          </p:cNvPr>
          <p:cNvSpPr>
            <a:spLocks noGrp="1"/>
          </p:cNvSpPr>
          <p:nvPr>
            <p:ph type="title"/>
          </p:nvPr>
        </p:nvSpPr>
        <p:spPr>
          <a:xfrm>
            <a:off x="602630" y="313892"/>
            <a:ext cx="10123053" cy="1325563"/>
          </a:xfrm>
        </p:spPr>
        <p:txBody>
          <a:bodyPr/>
          <a:lstStyle/>
          <a:p>
            <a:r>
              <a:rPr lang="en-US" kern="100" dirty="0" err="1">
                <a:latin typeface="Calibri Light" panose="020F0302020204030204" pitchFamily="34" charset="0"/>
                <a:ea typeface="Calibri" panose="020F0502020204030204" pitchFamily="34" charset="0"/>
                <a:cs typeface="Calibri Light" panose="020F0302020204030204" pitchFamily="34" charset="0"/>
              </a:rPr>
              <a:t>RingSNN</a:t>
            </a:r>
            <a:r>
              <a:rPr lang="en-US" kern="100" dirty="0">
                <a:latin typeface="Calibri Light" panose="020F0302020204030204" pitchFamily="34" charset="0"/>
                <a:ea typeface="Calibri" panose="020F0502020204030204" pitchFamily="34" charset="0"/>
                <a:cs typeface="Calibri Light" panose="020F0302020204030204" pitchFamily="34" charset="0"/>
              </a:rPr>
              <a:t> Architecture</a:t>
            </a:r>
          </a:p>
        </p:txBody>
      </p:sp>
      <p:sp>
        <p:nvSpPr>
          <p:cNvPr id="2" name="Rectangle 4">
            <a:extLst>
              <a:ext uri="{FF2B5EF4-FFF2-40B4-BE49-F238E27FC236}">
                <a16:creationId xmlns:a16="http://schemas.microsoft.com/office/drawing/2014/main" id="{051E2434-5024-571B-ECCB-26BD1F26A6B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a:extLst>
              <a:ext uri="{FF2B5EF4-FFF2-40B4-BE49-F238E27FC236}">
                <a16:creationId xmlns:a16="http://schemas.microsoft.com/office/drawing/2014/main" id="{A618B170-1CBF-971E-6550-85B8F3CCA0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25263" y="1639455"/>
            <a:ext cx="7156888" cy="3456368"/>
          </a:xfrm>
          <a:prstGeom prst="rect">
            <a:avLst/>
          </a:prstGeom>
        </p:spPr>
      </p:pic>
    </p:spTree>
    <p:extLst>
      <p:ext uri="{BB962C8B-B14F-4D97-AF65-F5344CB8AC3E}">
        <p14:creationId xmlns:p14="http://schemas.microsoft.com/office/powerpoint/2010/main" val="1467830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27879C8E-3DD2-7C05-DB9F-E8C8786319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60B348-6F48-28FB-0F8C-4CB58210D014}"/>
              </a:ext>
            </a:extLst>
          </p:cNvPr>
          <p:cNvSpPr>
            <a:spLocks noGrp="1"/>
          </p:cNvSpPr>
          <p:nvPr>
            <p:ph type="title"/>
          </p:nvPr>
        </p:nvSpPr>
        <p:spPr>
          <a:xfrm>
            <a:off x="295603" y="249068"/>
            <a:ext cx="7213150" cy="854170"/>
          </a:xfrm>
        </p:spPr>
        <p:txBody>
          <a:bodyPr/>
          <a:lstStyle/>
          <a:p>
            <a:r>
              <a:rPr lang="en-US" dirty="0" err="1"/>
              <a:t>RingSNN</a:t>
            </a:r>
            <a:r>
              <a:rPr lang="en-US" dirty="0"/>
              <a:t> vs ANN Architectures</a:t>
            </a:r>
          </a:p>
        </p:txBody>
      </p:sp>
      <p:sp>
        <p:nvSpPr>
          <p:cNvPr id="2" name="Rectangle 4">
            <a:extLst>
              <a:ext uri="{FF2B5EF4-FFF2-40B4-BE49-F238E27FC236}">
                <a16:creationId xmlns:a16="http://schemas.microsoft.com/office/drawing/2014/main" id="{D125F1BA-260C-2CCD-7D35-C830CCAA087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D00DFFA6-2695-EF4C-7207-EA579488E8A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Table 6">
            <a:extLst>
              <a:ext uri="{FF2B5EF4-FFF2-40B4-BE49-F238E27FC236}">
                <a16:creationId xmlns:a16="http://schemas.microsoft.com/office/drawing/2014/main" id="{CB54E76A-B775-C7A7-6E9B-2FC6995810FE}"/>
              </a:ext>
            </a:extLst>
          </p:cNvPr>
          <p:cNvGraphicFramePr>
            <a:graphicFrameLocks noGrp="1"/>
          </p:cNvGraphicFramePr>
          <p:nvPr>
            <p:extLst>
              <p:ext uri="{D42A27DB-BD31-4B8C-83A1-F6EECF244321}">
                <p14:modId xmlns:p14="http://schemas.microsoft.com/office/powerpoint/2010/main" val="3339205038"/>
              </p:ext>
            </p:extLst>
          </p:nvPr>
        </p:nvGraphicFramePr>
        <p:xfrm>
          <a:off x="295603" y="1103238"/>
          <a:ext cx="11600793" cy="5506169"/>
        </p:xfrm>
        <a:graphic>
          <a:graphicData uri="http://schemas.openxmlformats.org/drawingml/2006/table">
            <a:tbl>
              <a:tblPr firstRow="1" bandRow="1">
                <a:tableStyleId>{5C22544A-7EE6-4342-B048-85BDC9FD1C3A}</a:tableStyleId>
              </a:tblPr>
              <a:tblGrid>
                <a:gridCol w="2361100">
                  <a:extLst>
                    <a:ext uri="{9D8B030D-6E8A-4147-A177-3AD203B41FA5}">
                      <a16:colId xmlns:a16="http://schemas.microsoft.com/office/drawing/2014/main" val="16186162"/>
                    </a:ext>
                  </a:extLst>
                </a:gridCol>
                <a:gridCol w="2568912">
                  <a:extLst>
                    <a:ext uri="{9D8B030D-6E8A-4147-A177-3AD203B41FA5}">
                      <a16:colId xmlns:a16="http://schemas.microsoft.com/office/drawing/2014/main" val="1877330755"/>
                    </a:ext>
                  </a:extLst>
                </a:gridCol>
                <a:gridCol w="2586387">
                  <a:extLst>
                    <a:ext uri="{9D8B030D-6E8A-4147-A177-3AD203B41FA5}">
                      <a16:colId xmlns:a16="http://schemas.microsoft.com/office/drawing/2014/main" val="2755314933"/>
                    </a:ext>
                  </a:extLst>
                </a:gridCol>
                <a:gridCol w="4084394">
                  <a:extLst>
                    <a:ext uri="{9D8B030D-6E8A-4147-A177-3AD203B41FA5}">
                      <a16:colId xmlns:a16="http://schemas.microsoft.com/office/drawing/2014/main" val="3071630538"/>
                    </a:ext>
                  </a:extLst>
                </a:gridCol>
              </a:tblGrid>
              <a:tr h="430057">
                <a:tc>
                  <a:txBody>
                    <a:bodyPr/>
                    <a:lstStyle/>
                    <a:p>
                      <a:pPr algn="ctr"/>
                      <a:r>
                        <a:rPr lang="en-US" dirty="0"/>
                        <a:t>Stage</a:t>
                      </a:r>
                    </a:p>
                  </a:txBody>
                  <a:tcPr/>
                </a:tc>
                <a:tc>
                  <a:txBody>
                    <a:bodyPr/>
                    <a:lstStyle/>
                    <a:p>
                      <a:pPr marL="0" marR="0" algn="ctr">
                        <a:buNone/>
                      </a:pPr>
                      <a:r>
                        <a:rPr lang="en-US" sz="1800" b="1" dirty="0">
                          <a:effectLst/>
                          <a:latin typeface="+mn-lt"/>
                          <a:ea typeface="SimSun" panose="02010600030101010101" pitchFamily="2" charset="-122"/>
                        </a:rPr>
                        <a:t>CNN</a:t>
                      </a:r>
                      <a:endParaRPr lang="en-US" sz="1800" dirty="0">
                        <a:effectLst/>
                        <a:latin typeface="+mn-lt"/>
                        <a:ea typeface="SimSun" panose="02010600030101010101" pitchFamily="2" charset="-122"/>
                      </a:endParaRPr>
                    </a:p>
                  </a:txBody>
                  <a:tcPr marL="68580" marR="68580" marT="0" marB="0" anchor="ctr"/>
                </a:tc>
                <a:tc>
                  <a:txBody>
                    <a:bodyPr/>
                    <a:lstStyle/>
                    <a:p>
                      <a:pPr marL="0" marR="0" algn="ctr">
                        <a:buNone/>
                      </a:pPr>
                      <a:r>
                        <a:rPr lang="en-US" sz="1800" b="1" i="0" dirty="0" err="1">
                          <a:effectLst/>
                          <a:latin typeface="+mn-lt"/>
                          <a:ea typeface="SimSun" panose="02010600030101010101" pitchFamily="2" charset="-122"/>
                        </a:rPr>
                        <a:t>RingSNN</a:t>
                      </a:r>
                      <a:endParaRPr lang="en-US" sz="1800" b="1" i="1" dirty="0">
                        <a:effectLst/>
                        <a:latin typeface="+mn-lt"/>
                        <a:ea typeface="SimSun" panose="02010600030101010101" pitchFamily="2" charset="-122"/>
                      </a:endParaRPr>
                    </a:p>
                  </a:txBody>
                  <a:tcPr marL="68580" marR="68580" marT="0" marB="0" anchor="ctr"/>
                </a:tc>
                <a:tc>
                  <a:txBody>
                    <a:bodyPr/>
                    <a:lstStyle/>
                    <a:p>
                      <a:pPr marL="0" marR="0" algn="ctr">
                        <a:buNone/>
                      </a:pPr>
                      <a:r>
                        <a:rPr lang="en-US" sz="1800" b="1" i="0" dirty="0">
                          <a:effectLst/>
                          <a:latin typeface="+mn-lt"/>
                          <a:ea typeface="SimSun" panose="02010600030101010101" pitchFamily="2" charset="-122"/>
                        </a:rPr>
                        <a:t>Conceptual Role</a:t>
                      </a:r>
                      <a:endParaRPr lang="en-US" sz="1800" b="1" i="1" dirty="0">
                        <a:effectLst/>
                        <a:latin typeface="+mn-lt"/>
                        <a:ea typeface="SimSun" panose="02010600030101010101" pitchFamily="2" charset="-122"/>
                      </a:endParaRPr>
                    </a:p>
                  </a:txBody>
                  <a:tcPr marL="68580" marR="68580" marT="0" marB="0" anchor="ctr"/>
                </a:tc>
                <a:extLst>
                  <a:ext uri="{0D108BD9-81ED-4DB2-BD59-A6C34878D82A}">
                    <a16:rowId xmlns:a16="http://schemas.microsoft.com/office/drawing/2014/main" val="861346938"/>
                  </a:ext>
                </a:extLst>
              </a:tr>
              <a:tr h="954373">
                <a:tc>
                  <a:txBody>
                    <a:bodyPr/>
                    <a:lstStyle/>
                    <a:p>
                      <a:pPr algn="ctr"/>
                      <a:endParaRPr lang="en-US" sz="2000" kern="1200" dirty="0">
                        <a:solidFill>
                          <a:schemeClr val="dk1"/>
                        </a:solidFill>
                        <a:effectLst/>
                        <a:latin typeface="+mn-lt"/>
                        <a:ea typeface="+mn-ea"/>
                        <a:cs typeface="+mn-cs"/>
                      </a:endParaRPr>
                    </a:p>
                    <a:p>
                      <a:pPr algn="ctr"/>
                      <a:r>
                        <a:rPr lang="en-US" sz="2000" kern="1200" dirty="0">
                          <a:solidFill>
                            <a:schemeClr val="dk1"/>
                          </a:solidFill>
                          <a:effectLst/>
                          <a:latin typeface="+mn-lt"/>
                          <a:ea typeface="+mn-ea"/>
                          <a:cs typeface="+mn-cs"/>
                        </a:rPr>
                        <a:t>Input</a:t>
                      </a:r>
                      <a:endParaRPr lang="en-US" sz="2000" dirty="0"/>
                    </a:p>
                  </a:txBody>
                  <a:tcPr/>
                </a:tc>
                <a:tc>
                  <a:txBody>
                    <a:bodyPr/>
                    <a:lstStyle/>
                    <a:p>
                      <a:pPr marL="0" marR="0" algn="ctr">
                        <a:buNone/>
                      </a:pPr>
                      <a:r>
                        <a:rPr lang="en-US" sz="2000" dirty="0">
                          <a:effectLst/>
                          <a:latin typeface="+mn-lt"/>
                          <a:ea typeface="SimSun" panose="02010600030101010101" pitchFamily="2" charset="-122"/>
                        </a:rPr>
                        <a:t>Sliding window</a:t>
                      </a:r>
                    </a:p>
                    <a:p>
                      <a:pPr marL="0" marR="0" algn="ctr">
                        <a:buNone/>
                      </a:pPr>
                      <a:r>
                        <a:rPr lang="en-US" sz="2000" dirty="0">
                          <a:effectLst/>
                          <a:latin typeface="+mn-lt"/>
                          <a:ea typeface="SimSun" panose="02010600030101010101" pitchFamily="2" charset="-122"/>
                        </a:rPr>
                        <a:t>Numeric input</a:t>
                      </a:r>
                    </a:p>
                  </a:txBody>
                  <a:tcPr marL="68580" marR="68580" marT="0" marB="0" anchor="ctr"/>
                </a:tc>
                <a:tc>
                  <a:txBody>
                    <a:bodyPr/>
                    <a:lstStyle/>
                    <a:p>
                      <a:pPr marL="0" marR="0" algn="ctr">
                        <a:buNone/>
                      </a:pPr>
                      <a:r>
                        <a:rPr lang="en-US" sz="2000" dirty="0" err="1">
                          <a:effectLst/>
                          <a:latin typeface="+mn-lt"/>
                          <a:ea typeface="SimSun" panose="02010600030101010101" pitchFamily="2" charset="-122"/>
                        </a:rPr>
                        <a:t>RingBuffer</a:t>
                      </a:r>
                      <a:r>
                        <a:rPr lang="en-US" sz="2000" dirty="0">
                          <a:effectLst/>
                          <a:latin typeface="+mn-lt"/>
                          <a:ea typeface="SimSun" panose="02010600030101010101" pitchFamily="2" charset="-122"/>
                        </a:rPr>
                        <a:t> </a:t>
                      </a:r>
                    </a:p>
                    <a:p>
                      <a:pPr marL="0" marR="0" algn="ctr">
                        <a:buNone/>
                      </a:pPr>
                      <a:r>
                        <a:rPr lang="en-US" sz="2000" dirty="0">
                          <a:effectLst/>
                          <a:latin typeface="+mn-lt"/>
                          <a:ea typeface="SimSun" panose="02010600030101010101" pitchFamily="2" charset="-122"/>
                        </a:rPr>
                        <a:t>(spike replay of rate‑encoded window)</a:t>
                      </a:r>
                    </a:p>
                  </a:txBody>
                  <a:tcPr marL="68580" marR="68580" marT="0" marB="0" anchor="ctr"/>
                </a:tc>
                <a:tc>
                  <a:txBody>
                    <a:bodyPr/>
                    <a:lstStyle/>
                    <a:p>
                      <a:pPr marL="0" marR="0" algn="ctr">
                        <a:buNone/>
                      </a:pPr>
                      <a:r>
                        <a:rPr lang="en-US" sz="2000" dirty="0">
                          <a:effectLst/>
                          <a:latin typeface="+mn-lt"/>
                          <a:ea typeface="SimSun" panose="02010600030101010101" pitchFamily="2" charset="-122"/>
                        </a:rPr>
                        <a:t>Provides temporal context; </a:t>
                      </a:r>
                    </a:p>
                    <a:p>
                      <a:pPr marL="0" marR="0" algn="ctr">
                        <a:buNone/>
                      </a:pPr>
                      <a:r>
                        <a:rPr lang="en-US" sz="2000" dirty="0">
                          <a:effectLst/>
                          <a:latin typeface="+mn-lt"/>
                          <a:ea typeface="SimSun" panose="02010600030101010101" pitchFamily="2" charset="-122"/>
                        </a:rPr>
                        <a:t>Converts Window into a time‑unfolded sequence</a:t>
                      </a:r>
                    </a:p>
                  </a:txBody>
                  <a:tcPr marL="68580" marR="68580" marT="0" marB="0" anchor="ctr"/>
                </a:tc>
                <a:extLst>
                  <a:ext uri="{0D108BD9-81ED-4DB2-BD59-A6C34878D82A}">
                    <a16:rowId xmlns:a16="http://schemas.microsoft.com/office/drawing/2014/main" val="561956741"/>
                  </a:ext>
                </a:extLst>
              </a:tr>
              <a:tr h="636249">
                <a:tc>
                  <a:txBody>
                    <a:bodyPr/>
                    <a:lstStyle/>
                    <a:p>
                      <a:pPr algn="ctr"/>
                      <a:r>
                        <a:rPr lang="en-US" sz="2000" dirty="0"/>
                        <a:t>Feature Extraction 1</a:t>
                      </a:r>
                    </a:p>
                  </a:txBody>
                  <a:tcPr/>
                </a:tc>
                <a:tc>
                  <a:txBody>
                    <a:bodyPr/>
                    <a:lstStyle/>
                    <a:p>
                      <a:pPr marL="0" marR="0" algn="ctr">
                        <a:buNone/>
                      </a:pPr>
                      <a:r>
                        <a:rPr lang="en-US" sz="2000" dirty="0">
                          <a:effectLst/>
                          <a:latin typeface="+mn-lt"/>
                          <a:ea typeface="SimSun" panose="02010600030101010101" pitchFamily="2" charset="-122"/>
                        </a:rPr>
                        <a:t>Conv1D + Activation</a:t>
                      </a:r>
                    </a:p>
                  </a:txBody>
                  <a:tcPr marL="68580" marR="68580" marT="0" marB="0" anchor="ctr"/>
                </a:tc>
                <a:tc>
                  <a:txBody>
                    <a:bodyPr/>
                    <a:lstStyle/>
                    <a:p>
                      <a:pPr marL="0" marR="0" algn="ctr">
                        <a:buNone/>
                      </a:pPr>
                      <a:r>
                        <a:rPr lang="en-US" sz="2000" dirty="0">
                          <a:effectLst/>
                          <a:latin typeface="+mn-lt"/>
                          <a:ea typeface="SimSun" panose="02010600030101010101" pitchFamily="2" charset="-122"/>
                        </a:rPr>
                        <a:t>Dense1 + LIF1 (Ring 1)</a:t>
                      </a:r>
                    </a:p>
                  </a:txBody>
                  <a:tcPr marL="68580" marR="68580" marT="0" marB="0" anchor="ctr"/>
                </a:tc>
                <a:tc>
                  <a:txBody>
                    <a:bodyPr/>
                    <a:lstStyle/>
                    <a:p>
                      <a:pPr marL="0" marR="0" algn="ctr">
                        <a:buNone/>
                      </a:pPr>
                      <a:r>
                        <a:rPr lang="en-US" sz="2000" dirty="0">
                          <a:effectLst/>
                          <a:latin typeface="+mn-lt"/>
                          <a:ea typeface="SimSun" panose="02010600030101010101" pitchFamily="2" charset="-122"/>
                        </a:rPr>
                        <a:t>Learns short‑term temporal features:  </a:t>
                      </a:r>
                    </a:p>
                    <a:p>
                      <a:pPr marL="0" marR="0" algn="ctr">
                        <a:buNone/>
                      </a:pPr>
                      <a:r>
                        <a:rPr lang="en-US" sz="2000" dirty="0">
                          <a:effectLst/>
                          <a:latin typeface="+mn-lt"/>
                          <a:ea typeface="SimSun" panose="02010600030101010101" pitchFamily="2" charset="-122"/>
                        </a:rPr>
                        <a:t>linear filter + nonlinear activation</a:t>
                      </a:r>
                    </a:p>
                  </a:txBody>
                  <a:tcPr marL="68580" marR="68580" marT="0" marB="0" anchor="ctr"/>
                </a:tc>
                <a:extLst>
                  <a:ext uri="{0D108BD9-81ED-4DB2-BD59-A6C34878D82A}">
                    <a16:rowId xmlns:a16="http://schemas.microsoft.com/office/drawing/2014/main" val="581941037"/>
                  </a:ext>
                </a:extLst>
              </a:tr>
              <a:tr h="740741">
                <a:tc>
                  <a:txBody>
                    <a:bodyPr/>
                    <a:lstStyle/>
                    <a:p>
                      <a:pPr algn="ctr"/>
                      <a:r>
                        <a:rPr lang="en-US" sz="2000" dirty="0" err="1"/>
                        <a:t>Downsampling</a:t>
                      </a:r>
                      <a:r>
                        <a:rPr lang="en-US" sz="2000" dirty="0"/>
                        <a:t>/</a:t>
                      </a:r>
                    </a:p>
                    <a:p>
                      <a:pPr algn="ctr"/>
                      <a:r>
                        <a:rPr lang="en-US" sz="2000" dirty="0" err="1"/>
                        <a:t>Sparsification</a:t>
                      </a:r>
                      <a:endParaRPr lang="en-US" sz="2000" dirty="0"/>
                    </a:p>
                  </a:txBody>
                  <a:tcPr/>
                </a:tc>
                <a:tc>
                  <a:txBody>
                    <a:bodyPr/>
                    <a:lstStyle/>
                    <a:p>
                      <a:pPr marL="0" marR="0" algn="ctr">
                        <a:buNone/>
                      </a:pPr>
                      <a:r>
                        <a:rPr lang="en-US" sz="2000" dirty="0">
                          <a:effectLst/>
                          <a:latin typeface="+mn-lt"/>
                          <a:ea typeface="SimSun" panose="02010600030101010101" pitchFamily="2" charset="-122"/>
                        </a:rPr>
                        <a:t>MaxPooling1D</a:t>
                      </a:r>
                    </a:p>
                  </a:txBody>
                  <a:tcPr marL="68580" marR="68580" marT="0" marB="0" anchor="ctr"/>
                </a:tc>
                <a:tc>
                  <a:txBody>
                    <a:bodyPr/>
                    <a:lstStyle/>
                    <a:p>
                      <a:pPr marL="0" marR="0" algn="ctr">
                        <a:buNone/>
                      </a:pPr>
                      <a:r>
                        <a:rPr lang="en-US" sz="2000" dirty="0">
                          <a:effectLst/>
                          <a:latin typeface="+mn-lt"/>
                          <a:ea typeface="SimSun" panose="02010600030101010101" pitchFamily="2" charset="-122"/>
                        </a:rPr>
                        <a:t>LIF1 thresholding </a:t>
                      </a:r>
                    </a:p>
                    <a:p>
                      <a:pPr marL="0" marR="0" algn="ctr">
                        <a:buNone/>
                      </a:pPr>
                      <a:r>
                        <a:rPr lang="en-US" sz="2000" dirty="0">
                          <a:effectLst/>
                          <a:latin typeface="+mn-lt"/>
                          <a:ea typeface="SimSun" panose="02010600030101010101" pitchFamily="2" charset="-122"/>
                        </a:rPr>
                        <a:t>(spike </a:t>
                      </a:r>
                      <a:r>
                        <a:rPr lang="en-US" sz="2000" dirty="0" err="1">
                          <a:effectLst/>
                          <a:latin typeface="+mn-lt"/>
                          <a:ea typeface="SimSun" panose="02010600030101010101" pitchFamily="2" charset="-122"/>
                        </a:rPr>
                        <a:t>sparsification</a:t>
                      </a:r>
                      <a:r>
                        <a:rPr lang="en-US" sz="2000" dirty="0">
                          <a:effectLst/>
                          <a:latin typeface="+mn-lt"/>
                          <a:ea typeface="SimSun" panose="02010600030101010101" pitchFamily="2" charset="-122"/>
                        </a:rPr>
                        <a:t>)</a:t>
                      </a:r>
                    </a:p>
                  </a:txBody>
                  <a:tcPr marL="68580" marR="68580" marT="0" marB="0" anchor="ctr"/>
                </a:tc>
                <a:tc>
                  <a:txBody>
                    <a:bodyPr/>
                    <a:lstStyle/>
                    <a:p>
                      <a:pPr marL="0" marR="0" algn="ctr">
                        <a:buNone/>
                      </a:pPr>
                      <a:r>
                        <a:rPr lang="en-US" sz="2000" dirty="0">
                          <a:effectLst/>
                          <a:latin typeface="+mn-lt"/>
                          <a:ea typeface="SimSun" panose="02010600030101010101" pitchFamily="2" charset="-122"/>
                        </a:rPr>
                        <a:t>Removes weak activations; reduces temporal resolution; keeps salient features</a:t>
                      </a:r>
                    </a:p>
                  </a:txBody>
                  <a:tcPr marL="68580" marR="68580" marT="0" marB="0" anchor="ctr"/>
                </a:tc>
                <a:extLst>
                  <a:ext uri="{0D108BD9-81ED-4DB2-BD59-A6C34878D82A}">
                    <a16:rowId xmlns:a16="http://schemas.microsoft.com/office/drawing/2014/main" val="4179065927"/>
                  </a:ext>
                </a:extLst>
              </a:tr>
              <a:tr h="3760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Feature Extraction 2</a:t>
                      </a:r>
                    </a:p>
                  </a:txBody>
                  <a:tcPr/>
                </a:tc>
                <a:tc>
                  <a:txBody>
                    <a:bodyPr/>
                    <a:lstStyle/>
                    <a:p>
                      <a:pPr marL="0" marR="0" algn="ctr">
                        <a:buNone/>
                      </a:pPr>
                      <a:r>
                        <a:rPr lang="en-US" sz="2000" dirty="0">
                          <a:effectLst/>
                          <a:latin typeface="+mn-lt"/>
                          <a:ea typeface="SimSun" panose="02010600030101010101" pitchFamily="2" charset="-122"/>
                        </a:rPr>
                        <a:t>Conv1D + Activation</a:t>
                      </a:r>
                    </a:p>
                  </a:txBody>
                  <a:tcPr marL="68580" marR="68580" marT="0" marB="0" anchor="ctr"/>
                </a:tc>
                <a:tc>
                  <a:txBody>
                    <a:bodyPr/>
                    <a:lstStyle/>
                    <a:p>
                      <a:pPr marL="0" marR="0" algn="ctr">
                        <a:buNone/>
                      </a:pPr>
                      <a:r>
                        <a:rPr lang="en-US" sz="2000" dirty="0">
                          <a:effectLst/>
                          <a:latin typeface="+mn-lt"/>
                          <a:ea typeface="SimSun" panose="02010600030101010101" pitchFamily="2" charset="-122"/>
                        </a:rPr>
                        <a:t>Dense2 + LIF2 (Ring 2)</a:t>
                      </a:r>
                    </a:p>
                  </a:txBody>
                  <a:tcPr marL="68580" marR="68580" marT="0" marB="0" anchor="ctr"/>
                </a:tc>
                <a:tc>
                  <a:txBody>
                    <a:bodyPr/>
                    <a:lstStyle/>
                    <a:p>
                      <a:pPr marL="0" marR="0" algn="ctr">
                        <a:buNone/>
                      </a:pPr>
                      <a:r>
                        <a:rPr lang="en-US" sz="2000" dirty="0">
                          <a:effectLst/>
                          <a:latin typeface="+mn-lt"/>
                          <a:ea typeface="SimSun" panose="02010600030101010101" pitchFamily="2" charset="-122"/>
                        </a:rPr>
                        <a:t>Learns higher‑level temporal patterns; </a:t>
                      </a:r>
                    </a:p>
                    <a:p>
                      <a:pPr marL="0" marR="0" algn="ctr">
                        <a:buNone/>
                      </a:pPr>
                      <a:r>
                        <a:rPr lang="en-US" sz="2000" dirty="0">
                          <a:effectLst/>
                          <a:latin typeface="+mn-lt"/>
                          <a:ea typeface="SimSun" panose="02010600030101010101" pitchFamily="2" charset="-122"/>
                        </a:rPr>
                        <a:t>Multi‑Scale Feature Extraction</a:t>
                      </a:r>
                    </a:p>
                  </a:txBody>
                  <a:tcPr marL="68580" marR="68580" marT="0" marB="0" anchor="ctr"/>
                </a:tc>
                <a:extLst>
                  <a:ext uri="{0D108BD9-81ED-4DB2-BD59-A6C34878D82A}">
                    <a16:rowId xmlns:a16="http://schemas.microsoft.com/office/drawing/2014/main" val="449097976"/>
                  </a:ext>
                </a:extLst>
              </a:tr>
              <a:tr h="809256">
                <a:tc>
                  <a:txBody>
                    <a:bodyPr/>
                    <a:lstStyle/>
                    <a:p>
                      <a:pPr algn="ctr"/>
                      <a:r>
                        <a:rPr lang="en-US" sz="2000" kern="1200" dirty="0">
                          <a:solidFill>
                            <a:schemeClr val="dk1"/>
                          </a:solidFill>
                          <a:effectLst/>
                          <a:latin typeface="+mn-lt"/>
                          <a:ea typeface="+mn-ea"/>
                          <a:cs typeface="+mn-cs"/>
                        </a:rPr>
                        <a:t>Flattening / </a:t>
                      </a:r>
                    </a:p>
                    <a:p>
                      <a:pPr algn="ctr"/>
                      <a:r>
                        <a:rPr lang="en-US" sz="2000" kern="1200" dirty="0">
                          <a:solidFill>
                            <a:schemeClr val="dk1"/>
                          </a:solidFill>
                          <a:effectLst/>
                          <a:latin typeface="+mn-lt"/>
                          <a:ea typeface="+mn-ea"/>
                          <a:cs typeface="+mn-cs"/>
                        </a:rPr>
                        <a:t>Feature Vector</a:t>
                      </a:r>
                      <a:endParaRPr lang="en-US" sz="2000" dirty="0"/>
                    </a:p>
                  </a:txBody>
                  <a:tcPr/>
                </a:tc>
                <a:tc>
                  <a:txBody>
                    <a:bodyPr/>
                    <a:lstStyle/>
                    <a:p>
                      <a:pPr marL="0" marR="0" algn="ctr">
                        <a:buNone/>
                      </a:pPr>
                      <a:r>
                        <a:rPr lang="en-US" sz="2000" dirty="0">
                          <a:effectLst/>
                          <a:latin typeface="+mn-lt"/>
                          <a:ea typeface="SimSun" panose="02010600030101010101" pitchFamily="2" charset="-122"/>
                        </a:rPr>
                        <a:t>Flatten</a:t>
                      </a:r>
                    </a:p>
                  </a:txBody>
                  <a:tcPr marL="68580" marR="68580" marT="0" marB="0" anchor="ctr"/>
                </a:tc>
                <a:tc>
                  <a:txBody>
                    <a:bodyPr/>
                    <a:lstStyle/>
                    <a:p>
                      <a:pPr marL="0" marR="0" algn="ctr">
                        <a:buNone/>
                      </a:pPr>
                      <a:r>
                        <a:rPr lang="en-US" sz="2000" dirty="0">
                          <a:effectLst/>
                          <a:latin typeface="+mn-lt"/>
                          <a:ea typeface="SimSun" panose="02010600030101010101" pitchFamily="2" charset="-122"/>
                        </a:rPr>
                        <a:t>Spike count vector </a:t>
                      </a:r>
                    </a:p>
                    <a:p>
                      <a:pPr marL="0" marR="0" algn="ctr">
                        <a:buNone/>
                      </a:pPr>
                      <a:r>
                        <a:rPr lang="en-US" sz="2000" dirty="0">
                          <a:effectLst/>
                          <a:latin typeface="+mn-lt"/>
                          <a:ea typeface="SimSun" panose="02010600030101010101" pitchFamily="2" charset="-122"/>
                        </a:rPr>
                        <a:t>(across simulation window)</a:t>
                      </a:r>
                    </a:p>
                  </a:txBody>
                  <a:tcPr marL="68580" marR="68580" marT="0" marB="0" anchor="ctr"/>
                </a:tc>
                <a:tc>
                  <a:txBody>
                    <a:bodyPr/>
                    <a:lstStyle/>
                    <a:p>
                      <a:pPr marL="0" marR="0" algn="ctr">
                        <a:buNone/>
                      </a:pPr>
                      <a:r>
                        <a:rPr lang="en-US" sz="2000" dirty="0">
                          <a:effectLst/>
                          <a:latin typeface="+mn-lt"/>
                          <a:ea typeface="SimSun" panose="02010600030101010101" pitchFamily="2" charset="-122"/>
                        </a:rPr>
                        <a:t>Converts temporal activity into </a:t>
                      </a:r>
                    </a:p>
                    <a:p>
                      <a:pPr marL="0" marR="0" algn="ctr">
                        <a:buNone/>
                      </a:pPr>
                      <a:r>
                        <a:rPr lang="en-US" sz="2000" dirty="0">
                          <a:effectLst/>
                          <a:latin typeface="+mn-lt"/>
                          <a:ea typeface="SimSun" panose="02010600030101010101" pitchFamily="2" charset="-122"/>
                        </a:rPr>
                        <a:t>a static feature vector for regression</a:t>
                      </a:r>
                    </a:p>
                  </a:txBody>
                  <a:tcPr marL="68580" marR="68580" marT="0" marB="0" anchor="ctr"/>
                </a:tc>
                <a:extLst>
                  <a:ext uri="{0D108BD9-81ED-4DB2-BD59-A6C34878D82A}">
                    <a16:rowId xmlns:a16="http://schemas.microsoft.com/office/drawing/2014/main" val="3073725053"/>
                  </a:ext>
                </a:extLst>
              </a:tr>
              <a:tr h="742290">
                <a:tc>
                  <a:txBody>
                    <a:bodyPr/>
                    <a:lstStyle/>
                    <a:p>
                      <a:pPr algn="ctr"/>
                      <a:r>
                        <a:rPr lang="en-US" sz="2000" dirty="0"/>
                        <a:t>Final Regression Layer</a:t>
                      </a:r>
                    </a:p>
                  </a:txBody>
                  <a:tcPr/>
                </a:tc>
                <a:tc>
                  <a:txBody>
                    <a:bodyPr/>
                    <a:lstStyle/>
                    <a:p>
                      <a:pPr marL="0" marR="0" algn="ctr">
                        <a:buNone/>
                      </a:pPr>
                      <a:r>
                        <a:rPr lang="en-US" sz="2000" dirty="0">
                          <a:effectLst/>
                          <a:latin typeface="+mn-lt"/>
                          <a:ea typeface="SimSun" panose="02010600030101010101" pitchFamily="2" charset="-122"/>
                        </a:rPr>
                        <a:t>Dense (regression)</a:t>
                      </a:r>
                    </a:p>
                  </a:txBody>
                  <a:tcPr marL="68580" marR="68580" marT="0" marB="0" anchor="ctr"/>
                </a:tc>
                <a:tc>
                  <a:txBody>
                    <a:bodyPr/>
                    <a:lstStyle/>
                    <a:p>
                      <a:pPr marL="0" marR="0" algn="ctr">
                        <a:buNone/>
                      </a:pPr>
                      <a:r>
                        <a:rPr lang="en-US" sz="2000" dirty="0">
                          <a:effectLst/>
                          <a:latin typeface="+mn-lt"/>
                          <a:ea typeface="SimSun" panose="02010600030101010101" pitchFamily="2" charset="-122"/>
                        </a:rPr>
                        <a:t>Decoder </a:t>
                      </a:r>
                    </a:p>
                    <a:p>
                      <a:pPr marL="0" marR="0" algn="ctr">
                        <a:buNone/>
                      </a:pPr>
                      <a:r>
                        <a:rPr lang="en-US" sz="2000" dirty="0">
                          <a:effectLst/>
                          <a:latin typeface="+mn-lt"/>
                          <a:ea typeface="SimSun" panose="02010600030101010101" pitchFamily="2" charset="-122"/>
                        </a:rPr>
                        <a:t>(linear readout)</a:t>
                      </a:r>
                    </a:p>
                  </a:txBody>
                  <a:tcPr marL="68580" marR="68580" marT="0" marB="0" anchor="ctr"/>
                </a:tc>
                <a:tc>
                  <a:txBody>
                    <a:bodyPr/>
                    <a:lstStyle/>
                    <a:p>
                      <a:pPr marL="0" marR="0" algn="ctr">
                        <a:buNone/>
                      </a:pPr>
                      <a:r>
                        <a:rPr lang="en-US" sz="2000" dirty="0">
                          <a:effectLst/>
                          <a:latin typeface="+mn-lt"/>
                          <a:ea typeface="SimSun" panose="02010600030101010101" pitchFamily="2" charset="-122"/>
                        </a:rPr>
                        <a:t>Maps learned features to</a:t>
                      </a:r>
                    </a:p>
                    <a:p>
                      <a:pPr marL="0" marR="0" algn="ctr">
                        <a:buNone/>
                      </a:pPr>
                      <a:r>
                        <a:rPr lang="en-US" sz="2000" dirty="0">
                          <a:effectLst/>
                          <a:latin typeface="+mn-lt"/>
                          <a:ea typeface="SimSun" panose="02010600030101010101" pitchFamily="2" charset="-122"/>
                        </a:rPr>
                        <a:t> final output value</a:t>
                      </a:r>
                    </a:p>
                  </a:txBody>
                  <a:tcPr marL="68580" marR="68580" marT="0" marB="0" anchor="ctr"/>
                </a:tc>
                <a:extLst>
                  <a:ext uri="{0D108BD9-81ED-4DB2-BD59-A6C34878D82A}">
                    <a16:rowId xmlns:a16="http://schemas.microsoft.com/office/drawing/2014/main" val="953151734"/>
                  </a:ext>
                </a:extLst>
              </a:tr>
            </a:tbl>
          </a:graphicData>
        </a:graphic>
      </p:graphicFrame>
    </p:spTree>
    <p:extLst>
      <p:ext uri="{BB962C8B-B14F-4D97-AF65-F5344CB8AC3E}">
        <p14:creationId xmlns:p14="http://schemas.microsoft.com/office/powerpoint/2010/main" val="4138631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B0FF8CCC-CD22-9DCA-B3B9-6DD70B2902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CAC275-A810-ADB6-09B6-E2E0007C73BF}"/>
              </a:ext>
            </a:extLst>
          </p:cNvPr>
          <p:cNvSpPr>
            <a:spLocks noGrp="1"/>
          </p:cNvSpPr>
          <p:nvPr>
            <p:ph type="title"/>
          </p:nvPr>
        </p:nvSpPr>
        <p:spPr>
          <a:xfrm>
            <a:off x="449697" y="585187"/>
            <a:ext cx="2536390" cy="911659"/>
          </a:xfrm>
        </p:spPr>
        <p:txBody>
          <a:bodyPr/>
          <a:lstStyle/>
          <a:p>
            <a:r>
              <a:rPr lang="en-US" dirty="0"/>
              <a:t>Evaluation</a:t>
            </a:r>
          </a:p>
        </p:txBody>
      </p:sp>
      <p:sp>
        <p:nvSpPr>
          <p:cNvPr id="2" name="Rectangle 4">
            <a:extLst>
              <a:ext uri="{FF2B5EF4-FFF2-40B4-BE49-F238E27FC236}">
                <a16:creationId xmlns:a16="http://schemas.microsoft.com/office/drawing/2014/main" id="{99E00051-A024-930C-727F-842ECE215F1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5EDCE81A-9509-E7AA-3110-ACE501C5DB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A5759AA3-476E-9858-EE21-037DF11ECA91}"/>
              </a:ext>
            </a:extLst>
          </p:cNvPr>
          <p:cNvSpPr txBox="1"/>
          <p:nvPr/>
        </p:nvSpPr>
        <p:spPr>
          <a:xfrm>
            <a:off x="349684" y="1624833"/>
            <a:ext cx="11209711" cy="3970318"/>
          </a:xfrm>
          <a:prstGeom prst="rect">
            <a:avLst/>
          </a:prstGeom>
          <a:noFill/>
        </p:spPr>
        <p:txBody>
          <a:bodyPr wrap="square">
            <a:spAutoFit/>
          </a:bodyPr>
          <a:lstStyle/>
          <a:p>
            <a:pPr marL="342900" indent="-34290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Metrics for evaluating </a:t>
            </a:r>
            <a:r>
              <a:rPr lang="en-US" sz="2800" kern="100" dirty="0" err="1">
                <a:latin typeface="Calibri" panose="020F0502020204030204" pitchFamily="34" charset="0"/>
                <a:ea typeface="Calibri" panose="020F0502020204030204" pitchFamily="34" charset="0"/>
                <a:cs typeface="Times New Roman" panose="02020603050405020304" pitchFamily="18" charset="0"/>
              </a:rPr>
              <a:t>RingSNN</a:t>
            </a:r>
            <a:r>
              <a:rPr lang="en-US" sz="2800" kern="100" dirty="0">
                <a:latin typeface="Calibri" panose="020F0502020204030204" pitchFamily="34" charset="0"/>
                <a:ea typeface="Calibri" panose="020F0502020204030204" pitchFamily="34" charset="0"/>
                <a:cs typeface="Times New Roman" panose="02020603050405020304" pitchFamily="18" charset="0"/>
              </a:rPr>
              <a:t> and ANN models in terms of Accuracy and Efficiency</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Mean Absolute Error (MAE) and Root Mean Squared Error (RMSE)</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Hebbian Updates</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Decoder Weights</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Spike Raster Plots</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Spike Density per Neuron</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Efficiency Ratio</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Energy Measurement Protocol</a:t>
            </a:r>
          </a:p>
        </p:txBody>
      </p:sp>
    </p:spTree>
    <p:extLst>
      <p:ext uri="{BB962C8B-B14F-4D97-AF65-F5344CB8AC3E}">
        <p14:creationId xmlns:p14="http://schemas.microsoft.com/office/powerpoint/2010/main" val="301440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44CE7411-7543-2039-A67D-33212EAD5C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CF6B76-1DF9-AA3E-7930-AC1700B42ED3}"/>
              </a:ext>
            </a:extLst>
          </p:cNvPr>
          <p:cNvSpPr>
            <a:spLocks noGrp="1"/>
          </p:cNvSpPr>
          <p:nvPr>
            <p:ph type="title"/>
          </p:nvPr>
        </p:nvSpPr>
        <p:spPr>
          <a:xfrm>
            <a:off x="349685" y="188479"/>
            <a:ext cx="10515600" cy="1325563"/>
          </a:xfrm>
        </p:spPr>
        <p:txBody>
          <a:bodyPr/>
          <a:lstStyle/>
          <a:p>
            <a:r>
              <a:rPr lang="en-US" dirty="0"/>
              <a:t>Mean Absolute Error (MAE) and Root Mean Squared Error (RMSE)</a:t>
            </a:r>
          </a:p>
        </p:txBody>
      </p:sp>
      <p:sp>
        <p:nvSpPr>
          <p:cNvPr id="2" name="Rectangle 4">
            <a:extLst>
              <a:ext uri="{FF2B5EF4-FFF2-40B4-BE49-F238E27FC236}">
                <a16:creationId xmlns:a16="http://schemas.microsoft.com/office/drawing/2014/main" id="{A65C983C-1FE7-996D-D6A6-B935D8B8C03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AA598C72-2DED-9DE6-234F-A37B07A7EB8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AB26811-4356-0B3A-D0C3-6AE0EF26D0E3}"/>
                  </a:ext>
                </a:extLst>
              </p:cNvPr>
              <p:cNvSpPr txBox="1"/>
              <p:nvPr/>
            </p:nvSpPr>
            <p:spPr>
              <a:xfrm>
                <a:off x="349684" y="1624833"/>
                <a:ext cx="11209711" cy="4783617"/>
              </a:xfrm>
              <a:prstGeom prst="rect">
                <a:avLst/>
              </a:prstGeom>
              <a:noFill/>
            </p:spPr>
            <p:txBody>
              <a:bodyPr wrap="square">
                <a:spAutoFit/>
              </a:bodyPr>
              <a:lstStyle/>
              <a:p>
                <a:pPr lvl="1" algn="ctr"/>
                <a14:m>
                  <m:oMathPara xmlns:m="http://schemas.openxmlformats.org/officeDocument/2006/math">
                    <m:oMathParaPr>
                      <m:jc m:val="centerGroup"/>
                    </m:oMathParaPr>
                    <m:oMath xmlns:m="http://schemas.openxmlformats.org/officeDocument/2006/math">
                      <m:r>
                        <m:rPr>
                          <m:nor/>
                        </m:rPr>
                        <a:rPr lang="en-US" sz="2400" i="0" dirty="0" smtClean="0">
                          <a:latin typeface="Cambria Math" panose="02040503050406030204" pitchFamily="18" charset="0"/>
                        </a:rPr>
                        <m:t>MAE</m:t>
                      </m:r>
                      <m:r>
                        <a:rPr lang="en-US" sz="2400" i="1" dirty="0" smtClean="0">
                          <a:latin typeface="Cambria Math" panose="02040503050406030204" pitchFamily="18" charset="0"/>
                        </a:rPr>
                        <m:t>=</m:t>
                      </m:r>
                      <m:f>
                        <m:fPr>
                          <m:ctrlPr>
                            <a:rPr lang="en-US" sz="2400" i="1" dirty="0" smtClean="0">
                              <a:latin typeface="Cambria Math" panose="02040503050406030204" pitchFamily="18" charset="0"/>
                            </a:rPr>
                          </m:ctrlPr>
                        </m:fPr>
                        <m:num>
                          <m:r>
                            <a:rPr lang="en-US" sz="2400" i="1" dirty="0" smtClean="0">
                              <a:latin typeface="Cambria Math" panose="02040503050406030204" pitchFamily="18" charset="0"/>
                            </a:rPr>
                            <m:t>1</m:t>
                          </m:r>
                        </m:num>
                        <m:den>
                          <m:r>
                            <a:rPr lang="en-US" sz="2400" i="1" dirty="0" smtClean="0">
                              <a:latin typeface="Cambria Math" panose="02040503050406030204" pitchFamily="18" charset="0"/>
                            </a:rPr>
                            <m:t>𝑀</m:t>
                          </m:r>
                        </m:den>
                      </m:f>
                      <m:nary>
                        <m:naryPr>
                          <m:chr m:val="∑"/>
                          <m:ctrlPr>
                            <a:rPr lang="en-US" sz="2400" i="1" dirty="0" smtClean="0">
                              <a:latin typeface="Cambria Math" panose="02040503050406030204" pitchFamily="18" charset="0"/>
                            </a:rPr>
                          </m:ctrlPr>
                        </m:naryPr>
                        <m:sub>
                          <m:r>
                            <a:rPr lang="en-US" sz="2400" i="1" dirty="0" smtClean="0">
                              <a:latin typeface="Cambria Math" panose="02040503050406030204" pitchFamily="18" charset="0"/>
                            </a:rPr>
                            <m:t>𝑡</m:t>
                          </m:r>
                          <m:r>
                            <a:rPr lang="en-US" sz="2400" i="1" dirty="0" smtClean="0">
                              <a:latin typeface="Cambria Math" panose="02040503050406030204" pitchFamily="18" charset="0"/>
                            </a:rPr>
                            <m:t>=1</m:t>
                          </m:r>
                        </m:sub>
                        <m:sup>
                          <m:r>
                            <a:rPr lang="en-US" sz="2400" i="1" dirty="0" smtClean="0">
                              <a:latin typeface="Cambria Math" panose="02040503050406030204" pitchFamily="18" charset="0"/>
                            </a:rPr>
                            <m:t>𝑀</m:t>
                          </m:r>
                        </m:sup>
                        <m:e>
                          <m:d>
                            <m:dPr>
                              <m:begChr m:val="|"/>
                              <m:endChr m:val="|"/>
                              <m:ctrlPr>
                                <a:rPr lang="en-US" sz="2400" i="1" dirty="0" smtClean="0">
                                  <a:latin typeface="Cambria Math" panose="02040503050406030204" pitchFamily="18" charset="0"/>
                                </a:rPr>
                              </m:ctrlPr>
                            </m:dPr>
                            <m:e>
                              <m:sSub>
                                <m:sSubPr>
                                  <m:ctrlPr>
                                    <a:rPr lang="en-US" sz="2400" i="1" dirty="0" err="1" smtClean="0">
                                      <a:latin typeface="Cambria Math" panose="02040503050406030204" pitchFamily="18" charset="0"/>
                                    </a:rPr>
                                  </m:ctrlPr>
                                </m:sSubPr>
                                <m:e>
                                  <m:r>
                                    <a:rPr lang="en-US" sz="2400" i="1" dirty="0" err="1">
                                      <a:latin typeface="Cambria Math" panose="02040503050406030204" pitchFamily="18" charset="0"/>
                                    </a:rPr>
                                    <m:t>𝑥</m:t>
                                  </m:r>
                                </m:e>
                                <m:sub>
                                  <m:r>
                                    <a:rPr lang="en-US" sz="2400" i="1" dirty="0" err="1">
                                      <a:latin typeface="Cambria Math" panose="02040503050406030204" pitchFamily="18" charset="0"/>
                                    </a:rPr>
                                    <m:t>𝑡</m:t>
                                  </m:r>
                                </m:sub>
                              </m:sSub>
                              <m:r>
                                <a:rPr lang="en-US" sz="2400" i="1" dirty="0">
                                  <a:latin typeface="Cambria Math" panose="02040503050406030204" pitchFamily="18" charset="0"/>
                                </a:rPr>
                                <m:t>−</m:t>
                              </m:r>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𝑝</m:t>
                                  </m:r>
                                </m:e>
                                <m:sub>
                                  <m:r>
                                    <a:rPr lang="en-US" sz="2400" i="1" dirty="0" err="1">
                                      <a:latin typeface="Cambria Math" panose="02040503050406030204" pitchFamily="18" charset="0"/>
                                    </a:rPr>
                                    <m:t>𝑡</m:t>
                                  </m:r>
                                </m:sub>
                              </m:sSub>
                            </m:e>
                          </m:d>
                        </m:e>
                      </m:nary>
                    </m:oMath>
                  </m:oMathPara>
                </a14:m>
                <a:endParaRPr lang="en-US" sz="2400" b="1" kern="100" dirty="0">
                  <a:latin typeface="Calibri" panose="020F0502020204030204" pitchFamily="34" charset="0"/>
                  <a:ea typeface="Calibri" panose="020F0502020204030204" pitchFamily="34" charset="0"/>
                  <a:cs typeface="Times New Roman" panose="02020603050405020304" pitchFamily="18" charset="0"/>
                </a:endParaRPr>
              </a:p>
              <a:p>
                <a:pPr lvl="1"/>
                <a:endParaRPr lang="en-US" sz="2400" i="0" kern="100" dirty="0">
                  <a:latin typeface="Cambria Math" panose="02040503050406030204" pitchFamily="18" charset="0"/>
                  <a:ea typeface="Calibri" panose="020F0502020204030204" pitchFamily="34" charset="0"/>
                  <a:cs typeface="Times New Roman" panose="02020603050405020304" pitchFamily="18" charset="0"/>
                </a:endParaRPr>
              </a:p>
              <a:p>
                <a:pPr lvl="1"/>
                <a:endParaRPr lang="en-US" sz="2400" kern="100" dirty="0">
                  <a:latin typeface="Cambria Math" panose="02040503050406030204"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r>
                        <m:rPr>
                          <m:nor/>
                        </m:rPr>
                        <a:rPr lang="en-US" sz="2400" i="0" kern="100" smtClean="0">
                          <a:latin typeface="Cambria Math" panose="02040503050406030204" pitchFamily="18" charset="0"/>
                          <a:ea typeface="Calibri" panose="020F0502020204030204" pitchFamily="34" charset="0"/>
                          <a:cs typeface="Times New Roman" panose="02020603050405020304" pitchFamily="18" charset="0"/>
                        </a:rPr>
                        <m:t>RMSE</m:t>
                      </m:r>
                      <m:r>
                        <a:rPr lang="en-US" sz="2400" i="1" kern="100">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fPr>
                            <m:num>
                              <m:r>
                                <a:rPr lang="en-US" sz="2400" i="1" kern="100">
                                  <a:latin typeface="Cambria Math" panose="02040503050406030204" pitchFamily="18" charset="0"/>
                                  <a:ea typeface="Calibri" panose="020F0502020204030204" pitchFamily="34" charset="0"/>
                                  <a:cs typeface="Times New Roman" panose="02020603050405020304" pitchFamily="18" charset="0"/>
                                </a:rPr>
                                <m:t>1</m:t>
                              </m:r>
                            </m:num>
                            <m:den>
                              <m:r>
                                <a:rPr lang="en-US" sz="2400" i="1" kern="100">
                                  <a:latin typeface="Cambria Math" panose="02040503050406030204" pitchFamily="18" charset="0"/>
                                  <a:ea typeface="Calibri" panose="020F0502020204030204" pitchFamily="34" charset="0"/>
                                  <a:cs typeface="Times New Roman" panose="02020603050405020304" pitchFamily="18" charset="0"/>
                                </a:rPr>
                                <m:t>𝑀</m:t>
                              </m:r>
                            </m:den>
                          </m:f>
                          <m:nary>
                            <m:naryPr>
                              <m:chr m:val="∑"/>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naryPr>
                            <m:sub>
                              <m:r>
                                <a:rPr lang="en-US" sz="2400" i="1" kern="100">
                                  <a:latin typeface="Cambria Math" panose="02040503050406030204" pitchFamily="18" charset="0"/>
                                  <a:ea typeface="Calibri" panose="020F0502020204030204" pitchFamily="34" charset="0"/>
                                  <a:cs typeface="Times New Roman" panose="02020603050405020304" pitchFamily="18" charset="0"/>
                                </a:rPr>
                                <m:t>𝑡</m:t>
                              </m:r>
                              <m:r>
                                <a:rPr lang="en-US" sz="2400" i="1" kern="100">
                                  <a:latin typeface="Cambria Math" panose="02040503050406030204" pitchFamily="18" charset="0"/>
                                  <a:ea typeface="Calibri" panose="020F0502020204030204" pitchFamily="34" charset="0"/>
                                  <a:cs typeface="Times New Roman" panose="02020603050405020304" pitchFamily="18" charset="0"/>
                                </a:rPr>
                                <m:t>=1</m:t>
                              </m:r>
                            </m:sub>
                            <m:sup>
                              <m:r>
                                <a:rPr lang="en-US" sz="2400" i="1" kern="100">
                                  <a:latin typeface="Cambria Math" panose="02040503050406030204" pitchFamily="18" charset="0"/>
                                  <a:ea typeface="Calibri" panose="020F0502020204030204" pitchFamily="34" charset="0"/>
                                  <a:cs typeface="Times New Roman" panose="02020603050405020304" pitchFamily="18" charset="0"/>
                                </a:rPr>
                                <m:t>𝑀</m:t>
                              </m:r>
                            </m:sup>
                            <m:e>
                              <m:sSup>
                                <m:sSup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sSubPr>
                                        <m:e>
                                          <m:r>
                                            <a:rPr lang="en-US" sz="2400" i="1" kern="100">
                                              <a:latin typeface="Cambria Math" panose="02040503050406030204" pitchFamily="18" charset="0"/>
                                              <a:ea typeface="Calibri" panose="020F0502020204030204" pitchFamily="34" charset="0"/>
                                              <a:cs typeface="Times New Roman" panose="02020603050405020304" pitchFamily="18" charset="0"/>
                                            </a:rPr>
                                            <m:t>𝑥</m:t>
                                          </m:r>
                                        </m:e>
                                        <m:sub>
                                          <m:r>
                                            <a:rPr lang="en-US" sz="2400" i="1" kern="100">
                                              <a:latin typeface="Cambria Math" panose="02040503050406030204" pitchFamily="18" charset="0"/>
                                              <a:ea typeface="Calibri" panose="020F0502020204030204" pitchFamily="34" charset="0"/>
                                              <a:cs typeface="Times New Roman" panose="02020603050405020304" pitchFamily="18" charset="0"/>
                                            </a:rPr>
                                            <m:t>𝑡</m:t>
                                          </m:r>
                                        </m:sub>
                                      </m:sSub>
                                      <m:r>
                                        <a:rPr lang="en-US" sz="2400" i="1" kern="100">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sSubPr>
                                        <m:e>
                                          <m:r>
                                            <a:rPr lang="en-US" sz="2400" i="1" kern="100">
                                              <a:latin typeface="Cambria Math" panose="02040503050406030204" pitchFamily="18" charset="0"/>
                                              <a:ea typeface="Calibri" panose="020F0502020204030204" pitchFamily="34" charset="0"/>
                                              <a:cs typeface="Times New Roman" panose="02020603050405020304" pitchFamily="18" charset="0"/>
                                            </a:rPr>
                                            <m:t>𝑝</m:t>
                                          </m:r>
                                        </m:e>
                                        <m:sub>
                                          <m:r>
                                            <a:rPr lang="en-US" sz="2400" i="1" kern="100">
                                              <a:latin typeface="Cambria Math" panose="02040503050406030204" pitchFamily="18" charset="0"/>
                                              <a:ea typeface="Calibri" panose="020F0502020204030204" pitchFamily="34" charset="0"/>
                                              <a:cs typeface="Times New Roman" panose="02020603050405020304" pitchFamily="18" charset="0"/>
                                            </a:rPr>
                                            <m:t>𝑡</m:t>
                                          </m:r>
                                        </m:sub>
                                      </m:sSub>
                                    </m:e>
                                  </m:d>
                                </m:e>
                                <m:sup>
                                  <m:r>
                                    <a:rPr lang="en-US" sz="2400" i="1" kern="100">
                                      <a:latin typeface="Cambria Math" panose="02040503050406030204" pitchFamily="18" charset="0"/>
                                      <a:ea typeface="Calibri" panose="020F0502020204030204" pitchFamily="34" charset="0"/>
                                      <a:cs typeface="Times New Roman" panose="02020603050405020304" pitchFamily="18" charset="0"/>
                                    </a:rPr>
                                    <m:t>2</m:t>
                                  </m:r>
                                </m:sup>
                              </m:sSup>
                            </m:e>
                          </m:nary>
                        </m:e>
                      </m:rad>
                    </m:oMath>
                  </m:oMathPara>
                </a14:m>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lvl="1"/>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lvl="1"/>
                <a14:m>
                  <m:oMath xmlns:m="http://schemas.openxmlformats.org/officeDocument/2006/math">
                    <m:r>
                      <a:rPr lang="en-US" sz="2400" i="1" kern="100">
                        <a:latin typeface="Cambria Math" panose="02040503050406030204" pitchFamily="18" charset="0"/>
                        <a:ea typeface="Calibri" panose="020F0502020204030204" pitchFamily="34" charset="0"/>
                        <a:cs typeface="Times New Roman" panose="02020603050405020304" pitchFamily="18" charset="0"/>
                      </a:rPr>
                      <m:t>𝑀</m:t>
                    </m:r>
                    <m:r>
                      <a:rPr lang="en-US" sz="2400" i="1" kern="100">
                        <a:latin typeface="Cambria Math" panose="02040503050406030204" pitchFamily="18" charset="0"/>
                        <a:ea typeface="Calibri" panose="020F0502020204030204" pitchFamily="34" charset="0"/>
                        <a:cs typeface="Times New Roman" panose="02020603050405020304" pitchFamily="18" charset="0"/>
                      </a:rPr>
                      <m:t> </m:t>
                    </m:r>
                  </m:oMath>
                </a14:m>
                <a:r>
                  <a:rPr lang="en-US" sz="2400" kern="100" dirty="0">
                    <a:latin typeface="Calibri" panose="020F0502020204030204" pitchFamily="34" charset="0"/>
                    <a:ea typeface="Calibri" panose="020F0502020204030204" pitchFamily="34" charset="0"/>
                    <a:cs typeface="Times New Roman" panose="02020603050405020304" pitchFamily="18" charset="0"/>
                  </a:rPr>
                  <a:t>: total number of samples in a predicted period</a:t>
                </a:r>
              </a:p>
              <a:p>
                <a:pPr lvl="1"/>
                <a14:m>
                  <m:oMath xmlns:m="http://schemas.openxmlformats.org/officeDocument/2006/math">
                    <m:sSub>
                      <m:sSub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sSubPr>
                      <m:e>
                        <m:r>
                          <a:rPr lang="en-US" sz="2400" i="1" kern="100">
                            <a:latin typeface="Cambria Math" panose="02040503050406030204" pitchFamily="18" charset="0"/>
                            <a:ea typeface="Calibri" panose="020F0502020204030204" pitchFamily="34" charset="0"/>
                            <a:cs typeface="Times New Roman" panose="02020603050405020304" pitchFamily="18" charset="0"/>
                          </a:rPr>
                          <m:t>𝑥</m:t>
                        </m:r>
                      </m:e>
                      <m:sub>
                        <m:r>
                          <a:rPr lang="en-US" sz="2400" i="1" kern="100">
                            <a:latin typeface="Cambria Math" panose="02040503050406030204" pitchFamily="18" charset="0"/>
                            <a:ea typeface="Calibri" panose="020F0502020204030204" pitchFamily="34" charset="0"/>
                            <a:cs typeface="Times New Roman" panose="02020603050405020304" pitchFamily="18" charset="0"/>
                          </a:rPr>
                          <m:t>𝑡</m:t>
                        </m:r>
                      </m:sub>
                    </m:sSub>
                    <m:r>
                      <a:rPr lang="en-US" sz="2400" i="1" kern="100">
                        <a:latin typeface="Cambria Math" panose="02040503050406030204" pitchFamily="18" charset="0"/>
                        <a:ea typeface="Calibri" panose="020F0502020204030204" pitchFamily="34" charset="0"/>
                        <a:cs typeface="Times New Roman" panose="02020603050405020304" pitchFamily="18" charset="0"/>
                      </a:rPr>
                      <m:t> </m:t>
                    </m:r>
                  </m:oMath>
                </a14:m>
                <a:r>
                  <a:rPr lang="en-US" sz="2400" kern="100" dirty="0">
                    <a:latin typeface="Calibri" panose="020F0502020204030204" pitchFamily="34" charset="0"/>
                    <a:ea typeface="Calibri" panose="020F0502020204030204" pitchFamily="34" charset="0"/>
                    <a:cs typeface="Times New Roman" panose="02020603050405020304" pitchFamily="18" charset="0"/>
                  </a:rPr>
                  <a:t>: true value</a:t>
                </a:r>
              </a:p>
              <a:p>
                <a:pPr lvl="1"/>
                <a14:m>
                  <m:oMath xmlns:m="http://schemas.openxmlformats.org/officeDocument/2006/math">
                    <m:sSub>
                      <m:sSub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sSubPr>
                      <m:e>
                        <m:r>
                          <a:rPr lang="en-US" sz="2400" i="1" kern="100">
                            <a:latin typeface="Cambria Math" panose="02040503050406030204" pitchFamily="18" charset="0"/>
                            <a:ea typeface="Calibri" panose="020F0502020204030204" pitchFamily="34" charset="0"/>
                            <a:cs typeface="Times New Roman" panose="02020603050405020304" pitchFamily="18" charset="0"/>
                          </a:rPr>
                          <m:t>𝑝</m:t>
                        </m:r>
                      </m:e>
                      <m:sub>
                        <m:r>
                          <a:rPr lang="en-US" sz="2400" i="1" kern="100">
                            <a:latin typeface="Cambria Math" panose="02040503050406030204" pitchFamily="18" charset="0"/>
                            <a:ea typeface="Calibri" panose="020F0502020204030204" pitchFamily="34" charset="0"/>
                            <a:cs typeface="Times New Roman" panose="02020603050405020304" pitchFamily="18" charset="0"/>
                          </a:rPr>
                          <m:t>𝑡</m:t>
                        </m:r>
                      </m:sub>
                    </m:sSub>
                  </m:oMath>
                </a14:m>
                <a:r>
                  <a:rPr lang="en-US" sz="2400" kern="100" dirty="0">
                    <a:latin typeface="Calibri" panose="020F0502020204030204" pitchFamily="34" charset="0"/>
                    <a:ea typeface="Calibri" panose="020F0502020204030204" pitchFamily="34" charset="0"/>
                    <a:cs typeface="Times New Roman" panose="02020603050405020304" pitchFamily="18" charset="0"/>
                  </a:rPr>
                  <a:t> : predicted value</a:t>
                </a:r>
              </a:p>
            </p:txBody>
          </p:sp>
        </mc:Choice>
        <mc:Fallback xmlns="">
          <p:sp>
            <p:nvSpPr>
              <p:cNvPr id="10" name="TextBox 9">
                <a:extLst>
                  <a:ext uri="{FF2B5EF4-FFF2-40B4-BE49-F238E27FC236}">
                    <a16:creationId xmlns:a16="http://schemas.microsoft.com/office/drawing/2014/main" id="{FAB26811-4356-0B3A-D0C3-6AE0EF26D0E3}"/>
                  </a:ext>
                </a:extLst>
              </p:cNvPr>
              <p:cNvSpPr txBox="1">
                <a:spLocks noRot="1" noChangeAspect="1" noMove="1" noResize="1" noEditPoints="1" noAdjustHandles="1" noChangeArrowheads="1" noChangeShapeType="1" noTextEdit="1"/>
              </p:cNvSpPr>
              <p:nvPr/>
            </p:nvSpPr>
            <p:spPr>
              <a:xfrm>
                <a:off x="349684" y="1624833"/>
                <a:ext cx="11209711" cy="4783617"/>
              </a:xfrm>
              <a:prstGeom prst="rect">
                <a:avLst/>
              </a:prstGeom>
              <a:blipFill>
                <a:blip r:embed="rId3"/>
                <a:stretch>
                  <a:fillRect b="-2041"/>
                </a:stretch>
              </a:blipFill>
            </p:spPr>
            <p:txBody>
              <a:bodyPr/>
              <a:lstStyle/>
              <a:p>
                <a:r>
                  <a:rPr lang="en-US">
                    <a:noFill/>
                  </a:rPr>
                  <a:t> </a:t>
                </a:r>
              </a:p>
            </p:txBody>
          </p:sp>
        </mc:Fallback>
      </mc:AlternateContent>
    </p:spTree>
    <p:extLst>
      <p:ext uri="{BB962C8B-B14F-4D97-AF65-F5344CB8AC3E}">
        <p14:creationId xmlns:p14="http://schemas.microsoft.com/office/powerpoint/2010/main" val="3761141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A7359C54-0A4D-CEB9-AABD-103E394005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DB7EC5-2283-7C18-470A-4D9909DB2EAC}"/>
              </a:ext>
            </a:extLst>
          </p:cNvPr>
          <p:cNvSpPr>
            <a:spLocks noGrp="1"/>
          </p:cNvSpPr>
          <p:nvPr>
            <p:ph type="title"/>
          </p:nvPr>
        </p:nvSpPr>
        <p:spPr>
          <a:xfrm>
            <a:off x="349685" y="188479"/>
            <a:ext cx="4206273" cy="1325563"/>
          </a:xfrm>
        </p:spPr>
        <p:txBody>
          <a:bodyPr>
            <a:normAutofit/>
          </a:bodyPr>
          <a:lstStyle/>
          <a:p>
            <a:pPr lvl="1"/>
            <a:r>
              <a:rPr lang="en-US" sz="4400" kern="100" dirty="0">
                <a:latin typeface="+mj-lt"/>
                <a:ea typeface="Calibri" panose="020F0502020204030204" pitchFamily="34" charset="0"/>
                <a:cs typeface="Times New Roman" panose="02020603050405020304" pitchFamily="18" charset="0"/>
              </a:rPr>
              <a:t>Hebbian Learning</a:t>
            </a:r>
          </a:p>
        </p:txBody>
      </p:sp>
      <p:sp>
        <p:nvSpPr>
          <p:cNvPr id="2" name="Rectangle 4">
            <a:extLst>
              <a:ext uri="{FF2B5EF4-FFF2-40B4-BE49-F238E27FC236}">
                <a16:creationId xmlns:a16="http://schemas.microsoft.com/office/drawing/2014/main" id="{B162AF98-3F28-8C38-0C72-B62ECBAE1E6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2DBDAD8A-F5EB-72AF-A4A6-46CB0D03A95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B49634A-114A-61D8-29BA-7528B547C662}"/>
                  </a:ext>
                </a:extLst>
              </p:cNvPr>
              <p:cNvSpPr txBox="1"/>
              <p:nvPr/>
            </p:nvSpPr>
            <p:spPr>
              <a:xfrm>
                <a:off x="349685" y="1514042"/>
                <a:ext cx="11209711" cy="4585871"/>
              </a:xfrm>
              <a:prstGeom prst="rect">
                <a:avLst/>
              </a:prstGeom>
              <a:noFill/>
            </p:spPr>
            <p:txBody>
              <a:bodyPr wrap="square">
                <a:spAutoFit/>
              </a:bodyPr>
              <a:lstStyle/>
              <a:p>
                <a:pPr marL="342900" indent="-342900">
                  <a:buFont typeface="Arial" panose="020B0604020202020204" pitchFamily="34" charset="0"/>
                  <a:buChar char="•"/>
                </a:pPr>
                <a:r>
                  <a:rPr lang="en-US" sz="2400" dirty="0"/>
                  <a:t>A local, correlation‑based learning rule that strengthens the connection between two neurons when they are active at the same time</a:t>
                </a:r>
              </a:p>
              <a:p>
                <a:pPr marL="342900" indent="-342900">
                  <a:buFont typeface="Arial" panose="020B0604020202020204" pitchFamily="34" charset="0"/>
                  <a:buChar char="•"/>
                </a:pPr>
                <a:r>
                  <a:rPr lang="en-US" sz="2400" kern="100" dirty="0">
                    <a:latin typeface="Calibri" panose="020F0502020204030204" pitchFamily="34" charset="0"/>
                    <a:ea typeface="Calibri" panose="020F0502020204030204" pitchFamily="34" charset="0"/>
                    <a:cs typeface="Times New Roman" panose="02020603050405020304" pitchFamily="18" charset="0"/>
                  </a:rPr>
                  <a:t>Shapes which neurons fire, how often they fire, how spikes represent temporal structure</a:t>
                </a:r>
              </a:p>
              <a:p>
                <a:pPr marL="342900" indent="-342900">
                  <a:buFont typeface="Arial" panose="020B0604020202020204" pitchFamily="34" charset="0"/>
                  <a:buChar char="•"/>
                </a:pPr>
                <a:r>
                  <a:rPr lang="en-US" sz="2400" kern="100" dirty="0">
                    <a:latin typeface="Calibri" panose="020F0502020204030204" pitchFamily="34" charset="0"/>
                    <a:ea typeface="Calibri" panose="020F0502020204030204" pitchFamily="34" charset="0"/>
                    <a:cs typeface="Times New Roman" panose="02020603050405020304" pitchFamily="18" charset="0"/>
                  </a:rPr>
                  <a:t>Hebbian Learning determines the quality of the spike count vector.</a:t>
                </a:r>
              </a:p>
              <a:p>
                <a:pPr marL="342900" indent="-342900">
                  <a:buFont typeface="Arial" panose="020B0604020202020204" pitchFamily="34" charset="0"/>
                  <a:buChar char="•"/>
                </a:pPr>
                <a:r>
                  <a:rPr lang="en-US" sz="2400" kern="100" dirty="0">
                    <a:latin typeface="Calibri" panose="020F0502020204030204" pitchFamily="34" charset="0"/>
                    <a:ea typeface="Calibri" panose="020F0502020204030204" pitchFamily="34" charset="0"/>
                    <a:cs typeface="Times New Roman" panose="02020603050405020304" pitchFamily="18" charset="0"/>
                  </a:rPr>
                  <a:t>The decoder then learns a linear mapping from the spike count vector to the forecast value</a:t>
                </a:r>
              </a:p>
              <a:p>
                <a:pPr algn="ctr"/>
                <a:r>
                  <a:rPr lang="en-US" sz="2800" dirty="0">
                    <a:latin typeface="Cambria Math" panose="02040503050406030204" pitchFamily="18" charset="0"/>
                    <a:ea typeface="SimSun" panose="02010600030101010101" pitchFamily="2" charset="-122"/>
                    <a:cs typeface="Times New Roman" panose="02020603050405020304" pitchFamily="18" charset="0"/>
                  </a:rPr>
                  <a:t>Δ𝑤</a:t>
                </a:r>
                <a:r>
                  <a:rPr lang="en-US" sz="2800" baseline="-25000" dirty="0">
                    <a:latin typeface="Cambria Math" panose="02040503050406030204" pitchFamily="18" charset="0"/>
                    <a:ea typeface="SimSun" panose="02010600030101010101" pitchFamily="2" charset="-122"/>
                    <a:cs typeface="Times New Roman" panose="02020603050405020304" pitchFamily="18" charset="0"/>
                  </a:rPr>
                  <a:t>𝑖𝑗</a:t>
                </a:r>
                <a:r>
                  <a:rPr lang="en-US" sz="2800" dirty="0">
                    <a:latin typeface="Cambria Math" panose="02040503050406030204" pitchFamily="18" charset="0"/>
                    <a:ea typeface="SimSun" panose="02010600030101010101" pitchFamily="2" charset="-122"/>
                    <a:cs typeface="Times New Roman" panose="02020603050405020304" pitchFamily="18" charset="0"/>
                  </a:rPr>
                  <a:t> = 𝜂⋅𝑥</a:t>
                </a:r>
                <a:r>
                  <a:rPr lang="en-US" sz="2800" baseline="-25000" dirty="0">
                    <a:latin typeface="Cambria Math" panose="02040503050406030204" pitchFamily="18" charset="0"/>
                    <a:ea typeface="SimSun" panose="02010600030101010101" pitchFamily="2" charset="-122"/>
                    <a:cs typeface="Times New Roman" panose="02020603050405020304" pitchFamily="18" charset="0"/>
                  </a:rPr>
                  <a:t>𝑖</a:t>
                </a:r>
                <a:r>
                  <a:rPr lang="en-US" sz="2800" dirty="0">
                    <a:latin typeface="Cambria Math" panose="02040503050406030204" pitchFamily="18" charset="0"/>
                    <a:ea typeface="SimSun" panose="02010600030101010101" pitchFamily="2" charset="-122"/>
                    <a:cs typeface="Times New Roman" panose="02020603050405020304" pitchFamily="18" charset="0"/>
                  </a:rPr>
                  <a:t>⋅ 𝑦</a:t>
                </a:r>
                <a:r>
                  <a:rPr lang="en-US" sz="2800" baseline="-25000" dirty="0">
                    <a:latin typeface="Cambria Math" panose="02040503050406030204" pitchFamily="18" charset="0"/>
                    <a:ea typeface="SimSun" panose="02010600030101010101" pitchFamily="2" charset="-122"/>
                    <a:cs typeface="Times New Roman" panose="02020603050405020304" pitchFamily="18" charset="0"/>
                  </a:rPr>
                  <a:t>𝑗</a:t>
                </a:r>
              </a:p>
              <a:p>
                <a:pPr algn="ctr"/>
                <a:r>
                  <a:rPr lang="en-US" sz="2400" dirty="0">
                    <a:latin typeface="Cambria Math" panose="02040503050406030204" pitchFamily="18" charset="0"/>
                    <a:ea typeface="SimSun" panose="02010600030101010101" pitchFamily="2" charset="-122"/>
                    <a:cs typeface="Times New Roman" panose="02020603050405020304" pitchFamily="18" charset="0"/>
                  </a:rPr>
                  <a:t>𝜂</a:t>
                </a:r>
                <a14:m>
                  <m:oMath xmlns:m="http://schemas.openxmlformats.org/officeDocument/2006/math">
                    <m:r>
                      <a:rPr lang="en-US" sz="2400" i="1" kern="100">
                        <a:latin typeface="Cambria Math" panose="02040503050406030204" pitchFamily="18" charset="0"/>
                        <a:ea typeface="Calibri" panose="020F0502020204030204" pitchFamily="34" charset="0"/>
                        <a:cs typeface="Times New Roman" panose="02020603050405020304" pitchFamily="18" charset="0"/>
                      </a:rPr>
                      <m:t> </m:t>
                    </m:r>
                  </m:oMath>
                </a14:m>
                <a:r>
                  <a:rPr lang="en-US" sz="2400" kern="100" dirty="0">
                    <a:latin typeface="Calibri" panose="020F0502020204030204" pitchFamily="34" charset="0"/>
                    <a:ea typeface="Calibri" panose="020F0502020204030204" pitchFamily="34" charset="0"/>
                    <a:cs typeface="Times New Roman" panose="02020603050405020304" pitchFamily="18" charset="0"/>
                  </a:rPr>
                  <a:t>: Learning Rate</a:t>
                </a:r>
              </a:p>
              <a:p>
                <a:pPr algn="ctr"/>
                <a:r>
                  <a:rPr lang="en-US" sz="2400" dirty="0">
                    <a:latin typeface="Cambria Math" panose="02040503050406030204" pitchFamily="18" charset="0"/>
                    <a:ea typeface="SimSun" panose="02010600030101010101" pitchFamily="2" charset="-122"/>
                    <a:cs typeface="Times New Roman" panose="02020603050405020304" pitchFamily="18" charset="0"/>
                  </a:rPr>
                  <a:t>𝑥</a:t>
                </a:r>
                <a:r>
                  <a:rPr lang="en-US" sz="2400" baseline="-25000" dirty="0">
                    <a:latin typeface="Cambria Math" panose="02040503050406030204" pitchFamily="18" charset="0"/>
                    <a:ea typeface="SimSun" panose="02010600030101010101" pitchFamily="2" charset="-122"/>
                    <a:cs typeface="Times New Roman" panose="02020603050405020304" pitchFamily="18" charset="0"/>
                  </a:rPr>
                  <a:t>𝑖 </a:t>
                </a:r>
                <a:r>
                  <a:rPr lang="en-US" sz="2400" kern="100" dirty="0">
                    <a:latin typeface="Calibri" panose="020F0502020204030204" pitchFamily="34" charset="0"/>
                    <a:ea typeface="Calibri" panose="020F0502020204030204" pitchFamily="34" charset="0"/>
                    <a:cs typeface="Times New Roman" panose="02020603050405020304" pitchFamily="18" charset="0"/>
                  </a:rPr>
                  <a:t>: P</a:t>
                </a:r>
                <a:r>
                  <a:rPr lang="en-US" sz="2400" dirty="0"/>
                  <a:t>re‑synaptic spikes </a:t>
                </a:r>
              </a:p>
              <a:p>
                <a:pPr algn="ctr"/>
                <a:r>
                  <a:rPr lang="en-US" sz="2400" dirty="0">
                    <a:latin typeface="Cambria Math" panose="02040503050406030204" pitchFamily="18" charset="0"/>
                    <a:ea typeface="SimSun" panose="02010600030101010101" pitchFamily="2" charset="-122"/>
                    <a:cs typeface="Times New Roman" panose="02020603050405020304" pitchFamily="18" charset="0"/>
                  </a:rPr>
                  <a:t>𝑦</a:t>
                </a:r>
                <a:r>
                  <a:rPr lang="en-US" sz="2400" baseline="-25000" dirty="0">
                    <a:latin typeface="Cambria Math" panose="02040503050406030204" pitchFamily="18" charset="0"/>
                    <a:ea typeface="SimSun" panose="02010600030101010101" pitchFamily="2" charset="-122"/>
                    <a:cs typeface="Times New Roman" panose="02020603050405020304" pitchFamily="18" charset="0"/>
                  </a:rPr>
                  <a:t>𝑗 </a:t>
                </a:r>
                <a:r>
                  <a:rPr lang="en-US" sz="2400" kern="100" dirty="0">
                    <a:latin typeface="Calibri" panose="020F0502020204030204" pitchFamily="34" charset="0"/>
                    <a:ea typeface="Calibri" panose="020F0502020204030204" pitchFamily="34" charset="0"/>
                    <a:cs typeface="Times New Roman" panose="02020603050405020304" pitchFamily="18" charset="0"/>
                  </a:rPr>
                  <a:t>: P</a:t>
                </a:r>
                <a:r>
                  <a:rPr lang="en-US" sz="2400" dirty="0"/>
                  <a:t>ost‑synaptic activity</a:t>
                </a:r>
              </a:p>
              <a:p>
                <a:pPr algn="ctr"/>
                <a:r>
                  <a:rPr lang="en-US" sz="2400" dirty="0">
                    <a:latin typeface="Cambria Math" panose="02040503050406030204" pitchFamily="18" charset="0"/>
                    <a:ea typeface="SimSun" panose="02010600030101010101" pitchFamily="2" charset="-122"/>
                    <a:cs typeface="Times New Roman" panose="02020603050405020304" pitchFamily="18" charset="0"/>
                  </a:rPr>
                  <a:t>Δ𝑤</a:t>
                </a:r>
                <a:r>
                  <a:rPr lang="en-US" sz="2400" baseline="-25000" dirty="0">
                    <a:latin typeface="Cambria Math" panose="02040503050406030204" pitchFamily="18" charset="0"/>
                    <a:ea typeface="SimSun" panose="02010600030101010101" pitchFamily="2" charset="-122"/>
                    <a:cs typeface="Times New Roman" panose="02020603050405020304" pitchFamily="18" charset="0"/>
                  </a:rPr>
                  <a:t>𝑖𝑗</a:t>
                </a:r>
                <a:r>
                  <a:rPr lang="en-US" sz="2400" kern="100" dirty="0">
                    <a:latin typeface="Calibri" panose="020F0502020204030204" pitchFamily="34" charset="0"/>
                    <a:ea typeface="Calibri" panose="020F0502020204030204" pitchFamily="34" charset="0"/>
                    <a:cs typeface="Times New Roman" panose="02020603050405020304" pitchFamily="18" charset="0"/>
                  </a:rPr>
                  <a:t> : Hebbian Weight Update </a:t>
                </a:r>
                <a:endParaRPr lang="en-US" sz="2400" dirty="0"/>
              </a:p>
            </p:txBody>
          </p:sp>
        </mc:Choice>
        <mc:Fallback xmlns="">
          <p:sp>
            <p:nvSpPr>
              <p:cNvPr id="10" name="TextBox 9">
                <a:extLst>
                  <a:ext uri="{FF2B5EF4-FFF2-40B4-BE49-F238E27FC236}">
                    <a16:creationId xmlns:a16="http://schemas.microsoft.com/office/drawing/2014/main" id="{8B49634A-114A-61D8-29BA-7528B547C662}"/>
                  </a:ext>
                </a:extLst>
              </p:cNvPr>
              <p:cNvSpPr txBox="1">
                <a:spLocks noRot="1" noChangeAspect="1" noMove="1" noResize="1" noEditPoints="1" noAdjustHandles="1" noChangeArrowheads="1" noChangeShapeType="1" noTextEdit="1"/>
              </p:cNvSpPr>
              <p:nvPr/>
            </p:nvSpPr>
            <p:spPr>
              <a:xfrm>
                <a:off x="349685" y="1514042"/>
                <a:ext cx="11209711" cy="4585871"/>
              </a:xfrm>
              <a:prstGeom prst="rect">
                <a:avLst/>
              </a:prstGeom>
              <a:blipFill>
                <a:blip r:embed="rId3"/>
                <a:stretch>
                  <a:fillRect l="-707" t="-1062" b="-1992"/>
                </a:stretch>
              </a:blipFill>
            </p:spPr>
            <p:txBody>
              <a:bodyPr/>
              <a:lstStyle/>
              <a:p>
                <a:r>
                  <a:rPr lang="en-US">
                    <a:noFill/>
                  </a:rPr>
                  <a:t> </a:t>
                </a:r>
              </a:p>
            </p:txBody>
          </p:sp>
        </mc:Fallback>
      </mc:AlternateContent>
    </p:spTree>
    <p:extLst>
      <p:ext uri="{BB962C8B-B14F-4D97-AF65-F5344CB8AC3E}">
        <p14:creationId xmlns:p14="http://schemas.microsoft.com/office/powerpoint/2010/main" val="2716382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C8EAE8D9-3032-462B-9F6E-D496E0E3E00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DC797F-859F-D6A3-EB2E-AA50DD7E6523}"/>
              </a:ext>
            </a:extLst>
          </p:cNvPr>
          <p:cNvSpPr>
            <a:spLocks noGrp="1"/>
          </p:cNvSpPr>
          <p:nvPr>
            <p:ph type="title"/>
          </p:nvPr>
        </p:nvSpPr>
        <p:spPr>
          <a:xfrm>
            <a:off x="349685" y="360947"/>
            <a:ext cx="4093978" cy="1014679"/>
          </a:xfrm>
        </p:spPr>
        <p:txBody>
          <a:bodyPr/>
          <a:lstStyle/>
          <a:p>
            <a:r>
              <a:rPr lang="en-US" dirty="0"/>
              <a:t>Decoder Weights</a:t>
            </a:r>
          </a:p>
        </p:txBody>
      </p:sp>
      <p:sp>
        <p:nvSpPr>
          <p:cNvPr id="2" name="Rectangle 4">
            <a:extLst>
              <a:ext uri="{FF2B5EF4-FFF2-40B4-BE49-F238E27FC236}">
                <a16:creationId xmlns:a16="http://schemas.microsoft.com/office/drawing/2014/main" id="{4990AE5F-411A-74D8-938E-6A48AE5FF38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438381A5-E139-8DF6-F41B-3B04D23F098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658C22BD-F3D7-9EEE-4BD1-857B3AD00FAE}"/>
              </a:ext>
            </a:extLst>
          </p:cNvPr>
          <p:cNvSpPr txBox="1"/>
          <p:nvPr/>
        </p:nvSpPr>
        <p:spPr>
          <a:xfrm>
            <a:off x="349685" y="1375626"/>
            <a:ext cx="11312926" cy="4832092"/>
          </a:xfrm>
          <a:prstGeom prst="rect">
            <a:avLst/>
          </a:prstGeom>
          <a:noFill/>
        </p:spPr>
        <p:txBody>
          <a:bodyPr wrap="square">
            <a:spAutoFit/>
          </a:bodyPr>
          <a:lstStyle/>
          <a:p>
            <a:pPr marL="342900" indent="-342900">
              <a:buFont typeface="Arial" panose="020B0604020202020204" pitchFamily="34" charset="0"/>
              <a:buChar char="•"/>
            </a:pPr>
            <a:r>
              <a:rPr lang="en-US" sz="2800" dirty="0"/>
              <a:t>Learned parameters that determine how hidden representations are transformed back into human-readable, actionable output</a:t>
            </a:r>
          </a:p>
          <a:p>
            <a:pPr marL="342900" indent="-342900">
              <a:buFont typeface="Arial" panose="020B0604020202020204" pitchFamily="34" charset="0"/>
              <a:buChar char="•"/>
            </a:pPr>
            <a:r>
              <a:rPr lang="en-US" sz="2800" dirty="0"/>
              <a:t>SNN produces spikes while decoder transforms those spikes into a forecasted value and a numeric prediction</a:t>
            </a:r>
          </a:p>
          <a:p>
            <a:pPr marL="342900" indent="-342900">
              <a:buFont typeface="Arial" panose="020B0604020202020204" pitchFamily="34" charset="0"/>
              <a:buChar char="•"/>
            </a:pPr>
            <a:r>
              <a:rPr lang="en-US" sz="2800" dirty="0"/>
              <a:t>The decoder is the bridge between spike‑based latent space and human‑interpretable output</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Decoder Weight Evolution Plots u</a:t>
            </a:r>
            <a:r>
              <a:rPr lang="en-US" sz="2800" dirty="0"/>
              <a:t>seful for finding out the learning trajectory by observing whether the weights converge, oscillate, or diverge</a:t>
            </a:r>
          </a:p>
          <a:p>
            <a:pPr marL="342900" indent="-342900">
              <a:buFont typeface="Arial" panose="020B0604020202020204" pitchFamily="34" charset="0"/>
              <a:buChar char="•"/>
            </a:pPr>
            <a:r>
              <a:rPr lang="en-US" sz="2800" dirty="0"/>
              <a:t>Decoder weight plots are the SNN equivalent of showing ANN feature importance</a:t>
            </a:r>
          </a:p>
          <a:p>
            <a:pPr marL="342900" indent="-342900">
              <a:buFont typeface="Arial" panose="020B0604020202020204" pitchFamily="34" charset="0"/>
              <a:buChar char="•"/>
            </a:pPr>
            <a:r>
              <a:rPr lang="en-US" sz="2800" dirty="0"/>
              <a:t>Diagnose how well Hebbian learning worked</a:t>
            </a:r>
          </a:p>
        </p:txBody>
      </p:sp>
    </p:spTree>
    <p:extLst>
      <p:ext uri="{BB962C8B-B14F-4D97-AF65-F5344CB8AC3E}">
        <p14:creationId xmlns:p14="http://schemas.microsoft.com/office/powerpoint/2010/main" val="183440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A4927AD2-BADC-F467-7B6C-8B5B47A358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B391CC-7D51-867D-AF27-42F05197E950}"/>
              </a:ext>
            </a:extLst>
          </p:cNvPr>
          <p:cNvSpPr>
            <a:spLocks noGrp="1"/>
          </p:cNvSpPr>
          <p:nvPr>
            <p:ph type="title"/>
          </p:nvPr>
        </p:nvSpPr>
        <p:spPr>
          <a:xfrm>
            <a:off x="349685" y="188479"/>
            <a:ext cx="10515600" cy="1325563"/>
          </a:xfrm>
        </p:spPr>
        <p:txBody>
          <a:bodyPr>
            <a:normAutofit/>
          </a:bodyPr>
          <a:lstStyle/>
          <a:p>
            <a:pPr lvl="1"/>
            <a:r>
              <a:rPr lang="en-US" sz="4400" kern="100" dirty="0">
                <a:latin typeface="+mj-lt"/>
                <a:ea typeface="Calibri" panose="020F0502020204030204" pitchFamily="34" charset="0"/>
                <a:cs typeface="Times New Roman" panose="02020603050405020304" pitchFamily="18" charset="0"/>
              </a:rPr>
              <a:t>Spike Raster Plots</a:t>
            </a:r>
          </a:p>
        </p:txBody>
      </p:sp>
      <p:sp>
        <p:nvSpPr>
          <p:cNvPr id="2" name="Rectangle 4">
            <a:extLst>
              <a:ext uri="{FF2B5EF4-FFF2-40B4-BE49-F238E27FC236}">
                <a16:creationId xmlns:a16="http://schemas.microsoft.com/office/drawing/2014/main" id="{71906194-CE00-B541-EDDA-3901C3A540F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B0A56317-0B2B-5298-D1C7-7B638B486A9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BDE261C6-5348-5B91-7702-790D7DB2C189}"/>
              </a:ext>
            </a:extLst>
          </p:cNvPr>
          <p:cNvSpPr txBox="1"/>
          <p:nvPr/>
        </p:nvSpPr>
        <p:spPr>
          <a:xfrm>
            <a:off x="349685" y="1514042"/>
            <a:ext cx="11209711" cy="4832092"/>
          </a:xfrm>
          <a:prstGeom prst="rect">
            <a:avLst/>
          </a:prstGeom>
          <a:noFill/>
        </p:spPr>
        <p:txBody>
          <a:bodyPr wrap="square">
            <a:spAutoFit/>
          </a:bodyPr>
          <a:lstStyle/>
          <a:p>
            <a:pPr marL="742950" lvl="1" indent="-285750">
              <a:buFont typeface="Arial" panose="020B0604020202020204" pitchFamily="34" charset="0"/>
              <a:buChar char="•"/>
            </a:pPr>
            <a:r>
              <a:rPr lang="en-US" sz="2800" dirty="0"/>
              <a:t>Visualization that shows when each neuron fires over time</a:t>
            </a:r>
          </a:p>
          <a:p>
            <a:pPr marL="742950" lvl="1" indent="-285750">
              <a:buFont typeface="Arial" panose="020B0604020202020204" pitchFamily="34" charset="0"/>
              <a:buChar char="•"/>
            </a:pPr>
            <a:r>
              <a:rPr lang="en-US" sz="2800" dirty="0"/>
              <a:t>Provide insight into the sparsity, stability, and structure of the spike‑based representations generated by the </a:t>
            </a:r>
            <a:r>
              <a:rPr lang="en-US" sz="2800" dirty="0" err="1"/>
              <a:t>RingBuffer</a:t>
            </a:r>
            <a:r>
              <a:rPr lang="en-US" sz="2800" dirty="0"/>
              <a:t> and the Dense–LIF connections</a:t>
            </a:r>
          </a:p>
          <a:p>
            <a:pPr marL="742950" lvl="1" indent="-285750">
              <a:buFont typeface="Arial" panose="020B0604020202020204" pitchFamily="34" charset="0"/>
              <a:buChar char="•"/>
            </a:pPr>
            <a:r>
              <a:rPr lang="en-US" sz="2800" dirty="0"/>
              <a:t>Plots are useful for visualizing how neurons respond to input over time and complements the energy profiling graphs by showing when computation is triggered</a:t>
            </a:r>
          </a:p>
          <a:p>
            <a:pPr marL="742950" lvl="1" indent="-285750">
              <a:buFont typeface="Arial" panose="020B0604020202020204" pitchFamily="34" charset="0"/>
              <a:buChar char="•"/>
            </a:pPr>
            <a:r>
              <a:rPr lang="en-US" sz="2800" dirty="0"/>
              <a:t>Plots serve as an essential diagnostic tool to verify that the encoder produces appropriate spike rates, that the LIF neurons operate within a stable firing regime, and that the network develops meaningful temporal features</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1424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98E47530-F146-13B0-33DB-DA1A883258F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FADA28-A778-43B1-D704-7AAE0F47F973}"/>
              </a:ext>
            </a:extLst>
          </p:cNvPr>
          <p:cNvSpPr>
            <a:spLocks noGrp="1"/>
          </p:cNvSpPr>
          <p:nvPr>
            <p:ph type="title"/>
          </p:nvPr>
        </p:nvSpPr>
        <p:spPr>
          <a:xfrm>
            <a:off x="349685" y="188479"/>
            <a:ext cx="6147368" cy="1325563"/>
          </a:xfrm>
        </p:spPr>
        <p:txBody>
          <a:bodyPr>
            <a:normAutofit/>
          </a:bodyPr>
          <a:lstStyle/>
          <a:p>
            <a:r>
              <a:rPr lang="en-US" kern="100" dirty="0">
                <a:ea typeface="Calibri" panose="020F0502020204030204" pitchFamily="34" charset="0"/>
                <a:cs typeface="Times New Roman" panose="02020603050405020304" pitchFamily="18" charset="0"/>
              </a:rPr>
              <a:t>Spike Density Per Neuron</a:t>
            </a:r>
            <a:endParaRPr lang="en-US" dirty="0"/>
          </a:p>
        </p:txBody>
      </p:sp>
      <p:sp>
        <p:nvSpPr>
          <p:cNvPr id="2" name="Rectangle 4">
            <a:extLst>
              <a:ext uri="{FF2B5EF4-FFF2-40B4-BE49-F238E27FC236}">
                <a16:creationId xmlns:a16="http://schemas.microsoft.com/office/drawing/2014/main" id="{6AFA0A40-B7B5-045D-BF8C-737EF2300DA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C6B057C8-1E07-3519-6F5D-0A04ED2FB2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B242AB80-6BD9-F06F-6E95-6D7767829B40}"/>
              </a:ext>
            </a:extLst>
          </p:cNvPr>
          <p:cNvSpPr txBox="1"/>
          <p:nvPr/>
        </p:nvSpPr>
        <p:spPr>
          <a:xfrm>
            <a:off x="349685" y="1514042"/>
            <a:ext cx="11209711" cy="3108543"/>
          </a:xfrm>
          <a:prstGeom prst="rect">
            <a:avLst/>
          </a:prstGeom>
          <a:noFill/>
        </p:spPr>
        <p:txBody>
          <a:bodyPr wrap="square">
            <a:spAutoFit/>
          </a:bodyPr>
          <a:lstStyle/>
          <a:p>
            <a:pPr marL="342900" indent="-342900">
              <a:buFont typeface="Arial" panose="020B0604020202020204" pitchFamily="34" charset="0"/>
              <a:buChar char="•"/>
            </a:pPr>
            <a:r>
              <a:rPr lang="en-US" sz="2800" dirty="0"/>
              <a:t>Show frequency of spikes at different spike counts </a:t>
            </a:r>
          </a:p>
          <a:p>
            <a:pPr marL="342900" indent="-342900">
              <a:buFont typeface="Arial" panose="020B0604020202020204" pitchFamily="34" charset="0"/>
              <a:buChar char="•"/>
            </a:pPr>
            <a:r>
              <a:rPr lang="en-US" sz="2800" dirty="0"/>
              <a:t>Reveal which neurons are more active, helping assess sparsity and load balancing</a:t>
            </a:r>
          </a:p>
          <a:p>
            <a:pPr marL="342900" indent="-342900">
              <a:buFont typeface="Arial" panose="020B0604020202020204" pitchFamily="34" charset="0"/>
              <a:buChar char="•"/>
            </a:pPr>
            <a:r>
              <a:rPr lang="en-US" sz="2800" dirty="0"/>
              <a:t>Verify that the Dense–LIF connections are not producing dead neurons or overly dominant neurons, which is important for stable Hebbian learning</a:t>
            </a:r>
          </a:p>
          <a:p>
            <a:pPr marL="342900" indent="-342900">
              <a:buFont typeface="Arial" panose="020B0604020202020204" pitchFamily="34" charset="0"/>
              <a:buChar char="•"/>
            </a:pPr>
            <a:r>
              <a:rPr lang="en-US" sz="2800" dirty="0"/>
              <a:t>Valuable for energy analysis, since neurons with higher spike counts contribute more to synaptic, routing, and memory‑access energy</a:t>
            </a:r>
          </a:p>
        </p:txBody>
      </p:sp>
    </p:spTree>
    <p:extLst>
      <p:ext uri="{BB962C8B-B14F-4D97-AF65-F5344CB8AC3E}">
        <p14:creationId xmlns:p14="http://schemas.microsoft.com/office/powerpoint/2010/main" val="3201506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AC95174D-E29E-AC71-5663-ABEB0C1B17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F83843-8840-1F41-E146-04AED136A139}"/>
              </a:ext>
            </a:extLst>
          </p:cNvPr>
          <p:cNvSpPr>
            <a:spLocks noGrp="1"/>
          </p:cNvSpPr>
          <p:nvPr>
            <p:ph type="title"/>
          </p:nvPr>
        </p:nvSpPr>
        <p:spPr>
          <a:xfrm>
            <a:off x="349684" y="188479"/>
            <a:ext cx="3981683" cy="968809"/>
          </a:xfrm>
        </p:spPr>
        <p:txBody>
          <a:bodyPr>
            <a:normAutofit/>
          </a:bodyPr>
          <a:lstStyle/>
          <a:p>
            <a:r>
              <a:rPr lang="en-US" dirty="0"/>
              <a:t>Efficiency Ratio</a:t>
            </a:r>
          </a:p>
        </p:txBody>
      </p:sp>
      <p:sp>
        <p:nvSpPr>
          <p:cNvPr id="2" name="Rectangle 4">
            <a:extLst>
              <a:ext uri="{FF2B5EF4-FFF2-40B4-BE49-F238E27FC236}">
                <a16:creationId xmlns:a16="http://schemas.microsoft.com/office/drawing/2014/main" id="{A96A14F9-B5DC-D41C-8C6E-FC77784CC24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AE29A922-C9C2-00B5-81D7-28839C3ED4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73608CD-A68F-96D6-62AC-897F7D9C62A4}"/>
                  </a:ext>
                </a:extLst>
              </p:cNvPr>
              <p:cNvSpPr txBox="1"/>
              <p:nvPr/>
            </p:nvSpPr>
            <p:spPr>
              <a:xfrm>
                <a:off x="491144" y="1185863"/>
                <a:ext cx="11209711" cy="3493200"/>
              </a:xfrm>
              <a:prstGeom prst="rect">
                <a:avLst/>
              </a:prstGeom>
              <a:noFill/>
            </p:spPr>
            <p:txBody>
              <a:bodyPr wrap="square">
                <a:spAutoFit/>
              </a:bodyPr>
              <a:lstStyle/>
              <a:p>
                <a:r>
                  <a:rPr lang="en-US" sz="2800" kern="100" dirty="0">
                    <a:latin typeface="Calibri" panose="020F0502020204030204" pitchFamily="34" charset="0"/>
                    <a:ea typeface="Calibri" panose="020F0502020204030204" pitchFamily="34" charset="0"/>
                    <a:cs typeface="Times New Roman" panose="02020603050405020304" pitchFamily="18" charset="0"/>
                  </a:rPr>
                  <a:t>Calculated based on the SNN Efficiency relative to the ANN Efficiency [5] </a:t>
                </a:r>
              </a:p>
              <a:p>
                <a:endParaRPr lang="en-US" sz="2800" i="1" kern="100" dirty="0">
                  <a:latin typeface="Calibri" panose="020F0502020204030204" pitchFamily="34"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m:rPr>
                          <m:nor/>
                        </m:rPr>
                        <a:rPr lang="en-US" sz="2800" i="0" kern="100" dirty="0" smtClean="0">
                          <a:latin typeface="Cambria Math" panose="02040503050406030204" pitchFamily="18" charset="0"/>
                          <a:ea typeface="Calibri" panose="020F0502020204030204" pitchFamily="34" charset="0"/>
                          <a:cs typeface="Times New Roman" panose="02020603050405020304" pitchFamily="18" charset="0"/>
                        </a:rPr>
                        <m:t>Efficiency</m:t>
                      </m:r>
                      <m:r>
                        <m:rPr>
                          <m:nor/>
                        </m:rPr>
                        <a:rPr lang="en-US" sz="2800" i="0" kern="100" dirty="0" smtClean="0">
                          <a:latin typeface="Cambria Math" panose="02040503050406030204" pitchFamily="18" charset="0"/>
                          <a:ea typeface="Calibri" panose="020F0502020204030204" pitchFamily="34" charset="0"/>
                          <a:cs typeface="Times New Roman" panose="02020603050405020304" pitchFamily="18" charset="0"/>
                        </a:rPr>
                        <m:t> </m:t>
                      </m:r>
                      <m:r>
                        <m:rPr>
                          <m:nor/>
                        </m:rPr>
                        <a:rPr lang="en-US" sz="2800" i="0" kern="100" dirty="0" smtClean="0">
                          <a:latin typeface="Cambria Math" panose="02040503050406030204" pitchFamily="18" charset="0"/>
                          <a:ea typeface="Calibri" panose="020F0502020204030204" pitchFamily="34" charset="0"/>
                          <a:cs typeface="Times New Roman" panose="02020603050405020304" pitchFamily="18" charset="0"/>
                        </a:rPr>
                        <m:t>Ratio</m:t>
                      </m:r>
                      <m:r>
                        <a:rPr lang="en-US" sz="2800" i="1" kern="100" dirty="0" smtClean="0">
                          <a:latin typeface="Cambria Math" panose="02040503050406030204" pitchFamily="18" charset="0"/>
                          <a:ea typeface="Calibri" panose="020F0502020204030204" pitchFamily="34" charset="0"/>
                          <a:cs typeface="Times New Roman" panose="02020603050405020304" pitchFamily="18" charset="0"/>
                        </a:rPr>
                        <m:t>=</m:t>
                      </m:r>
                      <m:f>
                        <m:fPr>
                          <m:ctrlPr>
                            <a:rPr lang="en-US" sz="2800" i="1" kern="100" dirty="0"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800" i="1" kern="100" dirty="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dirty="0" smtClean="0">
                                  <a:latin typeface="Cambria Math" panose="02040503050406030204" pitchFamily="18" charset="0"/>
                                  <a:ea typeface="Calibri" panose="020F0502020204030204" pitchFamily="34" charset="0"/>
                                  <a:cs typeface="Times New Roman" panose="02020603050405020304" pitchFamily="18" charset="0"/>
                                </a:rPr>
                                <m:t>𝐸</m:t>
                              </m:r>
                            </m:e>
                            <m:sub>
                              <m:phant>
                                <m:phantPr>
                                  <m:zeroAsc m:val="on"/>
                                  <m:zeroDesc m:val="on"/>
                                  <m:ctrlPr>
                                    <a:rPr lang="en-US" sz="2800" i="1" kern="100" dirty="0" smtClean="0">
                                      <a:latin typeface="Cambria Math" panose="02040503050406030204" pitchFamily="18" charset="0"/>
                                      <a:ea typeface="Calibri" panose="020F0502020204030204" pitchFamily="34" charset="0"/>
                                      <a:cs typeface="Times New Roman" panose="02020603050405020304" pitchFamily="18" charset="0"/>
                                    </a:rPr>
                                  </m:ctrlPr>
                                </m:phantPr>
                                <m:e>
                                  <m:r>
                                    <m:rPr>
                                      <m:brk m:alnAt="12"/>
                                    </m:rPr>
                                    <a:rPr lang="en-US" sz="2800" b="0" i="1" kern="100" dirty="0" smtClean="0">
                                      <a:latin typeface="Cambria Math" panose="02040503050406030204" pitchFamily="18" charset="0"/>
                                      <a:ea typeface="Calibri" panose="020F0502020204030204" pitchFamily="34" charset="0"/>
                                      <a:cs typeface="Times New Roman" panose="02020603050405020304" pitchFamily="18" charset="0"/>
                                    </a:rPr>
                                    <m:t>𝐴</m:t>
                                  </m:r>
                                  <m:r>
                                    <a:rPr lang="en-US" sz="2800" b="0" i="1" kern="100" dirty="0" smtClean="0">
                                      <a:latin typeface="Cambria Math" panose="02040503050406030204" pitchFamily="18" charset="0"/>
                                      <a:ea typeface="Calibri" panose="020F0502020204030204" pitchFamily="34" charset="0"/>
                                      <a:cs typeface="Times New Roman" panose="02020603050405020304" pitchFamily="18" charset="0"/>
                                    </a:rPr>
                                    <m:t>𝑁𝑁</m:t>
                                  </m:r>
                                </m:e>
                              </m:phant>
                            </m:sub>
                          </m:sSub>
                        </m:num>
                        <m:den>
                          <m:sSub>
                            <m:sSubPr>
                              <m:ctrlPr>
                                <a:rPr lang="en-US" sz="2800" i="1" kern="100" dirty="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dirty="0" smtClean="0">
                                  <a:latin typeface="Cambria Math" panose="02040503050406030204" pitchFamily="18" charset="0"/>
                                  <a:ea typeface="Calibri" panose="020F0502020204030204" pitchFamily="34" charset="0"/>
                                  <a:cs typeface="Times New Roman" panose="02020603050405020304" pitchFamily="18" charset="0"/>
                                </a:rPr>
                                <m:t>𝐸</m:t>
                              </m:r>
                            </m:e>
                            <m:sub>
                              <m:phant>
                                <m:phantPr>
                                  <m:zeroAsc m:val="on"/>
                                  <m:zeroDesc m:val="on"/>
                                  <m:ctrlPr>
                                    <a:rPr lang="en-US" sz="2800" i="1" kern="100" dirty="0" smtClean="0">
                                      <a:latin typeface="Cambria Math" panose="02040503050406030204" pitchFamily="18" charset="0"/>
                                      <a:ea typeface="Calibri" panose="020F0502020204030204" pitchFamily="34" charset="0"/>
                                      <a:cs typeface="Times New Roman" panose="02020603050405020304" pitchFamily="18" charset="0"/>
                                    </a:rPr>
                                  </m:ctrlPr>
                                </m:phantPr>
                                <m:e>
                                  <m:r>
                                    <m:rPr>
                                      <m:brk m:alnAt="12"/>
                                    </m:rPr>
                                    <a:rPr lang="en-US" sz="2800" b="0" i="1" kern="100" dirty="0" smtClean="0">
                                      <a:latin typeface="Cambria Math" panose="02040503050406030204" pitchFamily="18" charset="0"/>
                                      <a:ea typeface="Calibri" panose="020F0502020204030204" pitchFamily="34" charset="0"/>
                                      <a:cs typeface="Times New Roman" panose="02020603050405020304" pitchFamily="18" charset="0"/>
                                    </a:rPr>
                                    <m:t>𝑆</m:t>
                                  </m:r>
                                  <m:r>
                                    <a:rPr lang="en-US" sz="2800" b="0" i="1" kern="100" dirty="0" smtClean="0">
                                      <a:latin typeface="Cambria Math" panose="02040503050406030204" pitchFamily="18" charset="0"/>
                                      <a:ea typeface="Calibri" panose="020F0502020204030204" pitchFamily="34" charset="0"/>
                                      <a:cs typeface="Times New Roman" panose="02020603050405020304" pitchFamily="18" charset="0"/>
                                    </a:rPr>
                                    <m:t>𝑁𝑁</m:t>
                                  </m:r>
                                </m:e>
                              </m:phant>
                            </m:sub>
                          </m:sSub>
                        </m:den>
                      </m:f>
                    </m:oMath>
                  </m:oMathPara>
                </a14:m>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lvl="2"/>
                <a:endParaRPr lang="en-US" sz="2800" i="1" kern="100" dirty="0">
                  <a:latin typeface="Cambria Math" panose="02040503050406030204" pitchFamily="18" charset="0"/>
                  <a:ea typeface="Calibri" panose="020F0502020204030204" pitchFamily="34" charset="0"/>
                  <a:cs typeface="Times New Roman" panose="02020603050405020304" pitchFamily="18" charset="0"/>
                </a:endParaRPr>
              </a:p>
              <a:p>
                <a:pPr lvl="2"/>
                <a14:m>
                  <m:oMath xmlns:m="http://schemas.openxmlformats.org/officeDocument/2006/math">
                    <m:sSub>
                      <m:sSubPr>
                        <m:ctrlPr>
                          <a:rPr lang="en-US" sz="2800" i="1" kern="100" dirty="0">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dirty="0">
                            <a:latin typeface="Cambria Math" panose="02040503050406030204" pitchFamily="18" charset="0"/>
                            <a:ea typeface="Calibri" panose="020F0502020204030204" pitchFamily="34" charset="0"/>
                            <a:cs typeface="Times New Roman" panose="02020603050405020304" pitchFamily="18" charset="0"/>
                          </a:rPr>
                          <m:t>𝐸</m:t>
                        </m:r>
                      </m:e>
                      <m:sub>
                        <m:phant>
                          <m:phantPr>
                            <m:zeroAsc m:val="on"/>
                            <m:zeroDesc m:val="on"/>
                            <m:ctrlPr>
                              <a:rPr lang="en-US" sz="2800" i="1" kern="100" dirty="0">
                                <a:latin typeface="Cambria Math" panose="02040503050406030204" pitchFamily="18" charset="0"/>
                                <a:ea typeface="Calibri" panose="020F0502020204030204" pitchFamily="34" charset="0"/>
                                <a:cs typeface="Times New Roman" panose="02020603050405020304" pitchFamily="18" charset="0"/>
                              </a:rPr>
                            </m:ctrlPr>
                          </m:phantPr>
                          <m:e>
                            <m:r>
                              <m:rPr>
                                <m:brk m:alnAt="12"/>
                              </m:rPr>
                              <a:rPr lang="en-US" sz="2800" i="1" kern="100" dirty="0">
                                <a:latin typeface="Cambria Math" panose="02040503050406030204" pitchFamily="18" charset="0"/>
                                <a:ea typeface="Calibri" panose="020F0502020204030204" pitchFamily="34" charset="0"/>
                                <a:cs typeface="Times New Roman" panose="02020603050405020304" pitchFamily="18" charset="0"/>
                              </a:rPr>
                              <m:t>𝐴</m:t>
                            </m:r>
                            <m:r>
                              <a:rPr lang="en-US" sz="2800" i="1" kern="100" dirty="0">
                                <a:latin typeface="Cambria Math" panose="02040503050406030204" pitchFamily="18" charset="0"/>
                                <a:ea typeface="Calibri" panose="020F0502020204030204" pitchFamily="34" charset="0"/>
                                <a:cs typeface="Times New Roman" panose="02020603050405020304" pitchFamily="18" charset="0"/>
                              </a:rPr>
                              <m:t>𝑁𝑁</m:t>
                            </m:r>
                          </m:e>
                        </m:phant>
                      </m:sub>
                    </m:sSub>
                  </m:oMath>
                </a14:m>
                <a:r>
                  <a:rPr lang="en-US" sz="2800" kern="100" dirty="0">
                    <a:latin typeface="Calibri" panose="020F0502020204030204" pitchFamily="34" charset="0"/>
                    <a:ea typeface="Calibri" panose="020F0502020204030204" pitchFamily="34" charset="0"/>
                    <a:cs typeface="Times New Roman" panose="02020603050405020304" pitchFamily="18" charset="0"/>
                  </a:rPr>
                  <a:t>: Energy for ANN (CNN-LSTM, LSTM, GRU, CNN)</a:t>
                </a:r>
              </a:p>
              <a:p>
                <a:pPr lvl="2"/>
                <a14:m>
                  <m:oMath xmlns:m="http://schemas.openxmlformats.org/officeDocument/2006/math">
                    <m:sSub>
                      <m:sSubPr>
                        <m:ctrlPr>
                          <a:rPr lang="en-US" sz="2800" i="1" kern="100" dirty="0">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dirty="0">
                            <a:latin typeface="Cambria Math" panose="02040503050406030204" pitchFamily="18" charset="0"/>
                            <a:ea typeface="Calibri" panose="020F0502020204030204" pitchFamily="34" charset="0"/>
                            <a:cs typeface="Times New Roman" panose="02020603050405020304" pitchFamily="18" charset="0"/>
                          </a:rPr>
                          <m:t>𝐸</m:t>
                        </m:r>
                      </m:e>
                      <m:sub>
                        <m:phant>
                          <m:phantPr>
                            <m:zeroAsc m:val="on"/>
                            <m:zeroDesc m:val="on"/>
                            <m:ctrlPr>
                              <a:rPr lang="en-US" sz="2800" i="1" kern="100" dirty="0">
                                <a:latin typeface="Cambria Math" panose="02040503050406030204" pitchFamily="18" charset="0"/>
                                <a:ea typeface="Calibri" panose="020F0502020204030204" pitchFamily="34" charset="0"/>
                                <a:cs typeface="Times New Roman" panose="02020603050405020304" pitchFamily="18" charset="0"/>
                              </a:rPr>
                            </m:ctrlPr>
                          </m:phantPr>
                          <m:e>
                            <m:r>
                              <m:rPr>
                                <m:brk m:alnAt="12"/>
                              </m:rPr>
                              <a:rPr lang="en-US" sz="2800" i="1" kern="100" dirty="0">
                                <a:latin typeface="Cambria Math" panose="02040503050406030204" pitchFamily="18" charset="0"/>
                                <a:ea typeface="Calibri" panose="020F0502020204030204" pitchFamily="34" charset="0"/>
                                <a:cs typeface="Times New Roman" panose="02020603050405020304" pitchFamily="18" charset="0"/>
                              </a:rPr>
                              <m:t>𝑆</m:t>
                            </m:r>
                            <m:r>
                              <a:rPr lang="en-US" sz="2800" i="1" kern="100" dirty="0">
                                <a:latin typeface="Cambria Math" panose="02040503050406030204" pitchFamily="18" charset="0"/>
                                <a:ea typeface="Calibri" panose="020F0502020204030204" pitchFamily="34" charset="0"/>
                                <a:cs typeface="Times New Roman" panose="02020603050405020304" pitchFamily="18" charset="0"/>
                              </a:rPr>
                              <m:t>𝑁𝑁</m:t>
                            </m:r>
                          </m:e>
                        </m:phant>
                      </m:sub>
                    </m:sSub>
                  </m:oMath>
                </a14:m>
                <a:r>
                  <a:rPr lang="en-US" sz="2800" kern="100" dirty="0">
                    <a:latin typeface="Calibri" panose="020F0502020204030204" pitchFamily="34" charset="0"/>
                    <a:ea typeface="Calibri" panose="020F0502020204030204" pitchFamily="34" charset="0"/>
                    <a:cs typeface="Times New Roman" panose="02020603050405020304" pitchFamily="18" charset="0"/>
                  </a:rPr>
                  <a:t>: Energy for SNN (</a:t>
                </a:r>
                <a:r>
                  <a:rPr lang="en-US" sz="2800" kern="100" dirty="0" err="1">
                    <a:latin typeface="Calibri" panose="020F0502020204030204" pitchFamily="34" charset="0"/>
                    <a:ea typeface="Calibri" panose="020F0502020204030204" pitchFamily="34" charset="0"/>
                    <a:cs typeface="Times New Roman" panose="02020603050405020304" pitchFamily="18" charset="0"/>
                  </a:rPr>
                  <a:t>RingSNN</a:t>
                </a:r>
                <a:r>
                  <a:rPr lang="en-US" sz="2800" kern="100" dirty="0">
                    <a:latin typeface="Calibri" panose="020F0502020204030204" pitchFamily="34" charset="0"/>
                    <a:ea typeface="Calibri" panose="020F0502020204030204" pitchFamily="34" charset="0"/>
                    <a:cs typeface="Times New Roman" panose="02020603050405020304" pitchFamily="18" charset="0"/>
                  </a:rPr>
                  <a:t>)</a:t>
                </a:r>
              </a:p>
              <a:p>
                <a:pPr lvl="2"/>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C73608CD-A68F-96D6-62AC-897F7D9C62A4}"/>
                  </a:ext>
                </a:extLst>
              </p:cNvPr>
              <p:cNvSpPr txBox="1">
                <a:spLocks noRot="1" noChangeAspect="1" noMove="1" noResize="1" noEditPoints="1" noAdjustHandles="1" noChangeArrowheads="1" noChangeShapeType="1" noTextEdit="1"/>
              </p:cNvSpPr>
              <p:nvPr/>
            </p:nvSpPr>
            <p:spPr>
              <a:xfrm>
                <a:off x="491144" y="1185863"/>
                <a:ext cx="11209711" cy="3493200"/>
              </a:xfrm>
              <a:prstGeom prst="rect">
                <a:avLst/>
              </a:prstGeom>
              <a:blipFill>
                <a:blip r:embed="rId3"/>
                <a:stretch>
                  <a:fillRect l="-1143" t="-1745"/>
                </a:stretch>
              </a:blipFill>
            </p:spPr>
            <p:txBody>
              <a:bodyPr/>
              <a:lstStyle/>
              <a:p>
                <a:r>
                  <a:rPr lang="en-US">
                    <a:noFill/>
                  </a:rPr>
                  <a:t> </a:t>
                </a:r>
              </a:p>
            </p:txBody>
          </p:sp>
        </mc:Fallback>
      </mc:AlternateContent>
    </p:spTree>
    <p:extLst>
      <p:ext uri="{BB962C8B-B14F-4D97-AF65-F5344CB8AC3E}">
        <p14:creationId xmlns:p14="http://schemas.microsoft.com/office/powerpoint/2010/main" val="1268548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6A9E84FE-5BF1-77FD-AEE2-1F32393D41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30D4B4F-3AE3-CB88-D7C9-C594FB005E6B}"/>
              </a:ext>
            </a:extLst>
          </p:cNvPr>
          <p:cNvSpPr>
            <a:spLocks noGrp="1"/>
          </p:cNvSpPr>
          <p:nvPr>
            <p:ph type="title"/>
          </p:nvPr>
        </p:nvSpPr>
        <p:spPr>
          <a:xfrm>
            <a:off x="349684" y="188479"/>
            <a:ext cx="6949473" cy="968809"/>
          </a:xfrm>
        </p:spPr>
        <p:txBody>
          <a:bodyPr>
            <a:normAutofit fontScale="90000"/>
          </a:bodyPr>
          <a:lstStyle/>
          <a:p>
            <a:r>
              <a:rPr lang="en-US" dirty="0"/>
              <a:t>Energy Measurement Protocol</a:t>
            </a:r>
          </a:p>
        </p:txBody>
      </p:sp>
      <p:sp>
        <p:nvSpPr>
          <p:cNvPr id="2" name="Rectangle 4">
            <a:extLst>
              <a:ext uri="{FF2B5EF4-FFF2-40B4-BE49-F238E27FC236}">
                <a16:creationId xmlns:a16="http://schemas.microsoft.com/office/drawing/2014/main" id="{EA5E3A89-19C2-1182-DDEC-D6AAA800A19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65555080-B40D-D7AA-FBD2-997D6061FF8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B126BECE-E603-D3B1-C100-EE4C4C66B98F}"/>
              </a:ext>
            </a:extLst>
          </p:cNvPr>
          <p:cNvSpPr txBox="1"/>
          <p:nvPr/>
        </p:nvSpPr>
        <p:spPr>
          <a:xfrm>
            <a:off x="491144" y="1157288"/>
            <a:ext cx="11209711" cy="5262979"/>
          </a:xfrm>
          <a:prstGeom prst="rect">
            <a:avLst/>
          </a:prstGeom>
          <a:noFill/>
        </p:spPr>
        <p:txBody>
          <a:bodyPr wrap="square">
            <a:spAutoFit/>
          </a:bodyPr>
          <a:lstStyle/>
          <a:p>
            <a:pPr marL="342900" indent="-342900">
              <a:buFont typeface="Arial" panose="020B0604020202020204" pitchFamily="34" charset="0"/>
              <a:buChar char="•"/>
            </a:pPr>
            <a:r>
              <a:rPr lang="en-US" sz="2400" b="1" dirty="0"/>
              <a:t>Idle Power State: </a:t>
            </a:r>
            <a:r>
              <a:rPr lang="en-US" sz="2400" dirty="0"/>
              <a:t>baseline power consumption when the hardware is powered on but performs no computation or spike activity</a:t>
            </a:r>
          </a:p>
          <a:p>
            <a:pPr marL="342900" indent="-342900">
              <a:buFont typeface="Arial" panose="020B0604020202020204" pitchFamily="34" charset="0"/>
              <a:buChar char="•"/>
            </a:pPr>
            <a:r>
              <a:rPr lang="en-US" sz="2400" b="1" dirty="0"/>
              <a:t>Active state: </a:t>
            </a:r>
            <a:r>
              <a:rPr lang="en-US" sz="2400" dirty="0"/>
              <a:t>how much power is consumed during general runtime operations like memory access, routing, or scheduling independent of spike events </a:t>
            </a:r>
          </a:p>
          <a:p>
            <a:pPr marL="342900" indent="-342900">
              <a:buFont typeface="Arial" panose="020B0604020202020204" pitchFamily="34" charset="0"/>
              <a:buChar char="•"/>
            </a:pPr>
            <a:r>
              <a:rPr lang="en-US" sz="2400" b="1" dirty="0"/>
              <a:t>Spike-driven power state: </a:t>
            </a:r>
            <a:r>
              <a:rPr lang="en-US" sz="2400" dirty="0"/>
              <a:t>capture event-driven spike activity (e.g. neurons firing, synaptic updates, spike routing)</a:t>
            </a:r>
          </a:p>
          <a:p>
            <a:pPr marL="342900" indent="-342900">
              <a:buFont typeface="Arial" panose="020B0604020202020204" pitchFamily="34" charset="0"/>
              <a:buChar char="•"/>
            </a:pPr>
            <a:r>
              <a:rPr lang="en-US" sz="2400" dirty="0"/>
              <a:t>For ANNs: idle + active power consumption </a:t>
            </a:r>
          </a:p>
          <a:p>
            <a:pPr marL="800100" lvl="1" indent="-342900">
              <a:buFont typeface="Arial" panose="020B0604020202020204" pitchFamily="34" charset="0"/>
              <a:buChar char="•"/>
            </a:pPr>
            <a:r>
              <a:rPr lang="en-US" sz="2400" dirty="0"/>
              <a:t>Measured with Nvidia-SMI, since GPU remains under load during inference and does not support state decomposition</a:t>
            </a:r>
          </a:p>
          <a:p>
            <a:pPr marL="342900" indent="-342900">
              <a:buFont typeface="Arial" panose="020B0604020202020204" pitchFamily="34" charset="0"/>
              <a:buChar char="•"/>
            </a:pPr>
            <a:r>
              <a:rPr lang="en-US" sz="2400" dirty="0" err="1"/>
              <a:t>RingSNNs</a:t>
            </a:r>
            <a:r>
              <a:rPr lang="en-US" sz="2400" dirty="0"/>
              <a:t>: Idle + Active + Spike‑Driven power states (These power states are converted into idle, active, and spike‑driven energy by multiplying by runtime)</a:t>
            </a:r>
          </a:p>
          <a:p>
            <a:pPr marL="342900" indent="-342900">
              <a:buFont typeface="Arial" panose="020B0604020202020204" pitchFamily="34" charset="0"/>
              <a:buChar char="•"/>
            </a:pPr>
            <a:r>
              <a:rPr lang="en-US" sz="2400" dirty="0"/>
              <a:t>Total energy consumption for all models is divided by the number of test samples to compute energy per sample (µJ/sample), accounting for differences in network topology and temporal resolution between ANN and </a:t>
            </a:r>
            <a:r>
              <a:rPr lang="en-US" sz="2400" dirty="0" err="1"/>
              <a:t>RingSNN</a:t>
            </a:r>
            <a:r>
              <a:rPr lang="en-US" sz="2400" dirty="0"/>
              <a:t>.</a:t>
            </a:r>
          </a:p>
        </p:txBody>
      </p:sp>
    </p:spTree>
    <p:extLst>
      <p:ext uri="{BB962C8B-B14F-4D97-AF65-F5344CB8AC3E}">
        <p14:creationId xmlns:p14="http://schemas.microsoft.com/office/powerpoint/2010/main" val="3179229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3FF6BA39-CB37-CFA2-F953-1259E44638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36C103-D69B-4D2B-6B3F-01A190CB097E}"/>
              </a:ext>
            </a:extLst>
          </p:cNvPr>
          <p:cNvSpPr>
            <a:spLocks noGrp="1"/>
          </p:cNvSpPr>
          <p:nvPr>
            <p:ph type="title"/>
          </p:nvPr>
        </p:nvSpPr>
        <p:spPr>
          <a:xfrm>
            <a:off x="449697" y="585187"/>
            <a:ext cx="2536390" cy="911659"/>
          </a:xfrm>
        </p:spPr>
        <p:txBody>
          <a:bodyPr/>
          <a:lstStyle/>
          <a:p>
            <a:r>
              <a:rPr lang="en-US" dirty="0"/>
              <a:t>Results</a:t>
            </a:r>
          </a:p>
        </p:txBody>
      </p:sp>
      <p:sp>
        <p:nvSpPr>
          <p:cNvPr id="2" name="Rectangle 4">
            <a:extLst>
              <a:ext uri="{FF2B5EF4-FFF2-40B4-BE49-F238E27FC236}">
                <a16:creationId xmlns:a16="http://schemas.microsoft.com/office/drawing/2014/main" id="{76EB263C-7A26-58A8-9A1C-887E4C2CE7F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8F5B3821-0C02-BE32-4483-C6AB18E27D0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F6235206-F59C-A6F4-451E-92B6FA8A9BBF}"/>
              </a:ext>
            </a:extLst>
          </p:cNvPr>
          <p:cNvSpPr txBox="1"/>
          <p:nvPr/>
        </p:nvSpPr>
        <p:spPr>
          <a:xfrm>
            <a:off x="449697" y="1440721"/>
            <a:ext cx="11209711" cy="4832092"/>
          </a:xfrm>
          <a:prstGeom prst="rect">
            <a:avLst/>
          </a:prstGeom>
          <a:noFill/>
        </p:spPr>
        <p:txBody>
          <a:bodyPr wrap="square">
            <a:spAutoFit/>
          </a:bodyPr>
          <a:lstStyle/>
          <a:p>
            <a:pPr marL="285750" indent="-285750">
              <a:buFont typeface="Arial" panose="020B0604020202020204" pitchFamily="34" charset="0"/>
              <a:buChar char="•"/>
            </a:pPr>
            <a:r>
              <a:rPr lang="en-US" sz="2800" dirty="0"/>
              <a:t>Show the results of testing the </a:t>
            </a:r>
            <a:r>
              <a:rPr lang="en-US" sz="2800" dirty="0" err="1"/>
              <a:t>RingSNN</a:t>
            </a:r>
            <a:r>
              <a:rPr lang="en-US" sz="2800" dirty="0"/>
              <a:t> model with the time-series datasets along with comparisons to their ANN counterparts and other architectures</a:t>
            </a:r>
          </a:p>
          <a:p>
            <a:pPr marL="742950" lvl="1" indent="-285750">
              <a:buFont typeface="Arial" panose="020B0604020202020204" pitchFamily="34" charset="0"/>
              <a:buChar char="•"/>
            </a:pPr>
            <a:r>
              <a:rPr lang="en-US" sz="2800" dirty="0"/>
              <a:t>Efficiency Ratio, Energy, MAE, and RMSE</a:t>
            </a:r>
          </a:p>
          <a:p>
            <a:pPr marL="742950" lvl="1" indent="-285750">
              <a:buFont typeface="Arial" panose="020B0604020202020204" pitchFamily="34" charset="0"/>
              <a:buChar char="•"/>
            </a:pPr>
            <a:r>
              <a:rPr lang="en-US" sz="2800" dirty="0"/>
              <a:t>Prediction vs Ground Truth Plots for </a:t>
            </a:r>
            <a:r>
              <a:rPr lang="en-US" sz="2800" dirty="0" err="1"/>
              <a:t>RingSNN</a:t>
            </a:r>
            <a:r>
              <a:rPr lang="en-US" sz="2800" dirty="0"/>
              <a:t> and ANN</a:t>
            </a:r>
          </a:p>
          <a:p>
            <a:pPr marL="742950" lvl="1" indent="-285750">
              <a:buFont typeface="Arial" panose="020B0604020202020204" pitchFamily="34" charset="0"/>
              <a:buChar char="•"/>
            </a:pPr>
            <a:r>
              <a:rPr lang="en-US" sz="2800" dirty="0"/>
              <a:t>Energy vs MAE Tradeoff Across Models (With Efficiency Ratios) </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Decoder Weights</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Spike Raster Plots</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Spike Density per Neuron</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Efficiency Ratio</a:t>
            </a:r>
          </a:p>
          <a:p>
            <a:pPr marL="742950" lvl="1"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Energy States</a:t>
            </a:r>
          </a:p>
        </p:txBody>
      </p:sp>
    </p:spTree>
    <p:extLst>
      <p:ext uri="{BB962C8B-B14F-4D97-AF65-F5344CB8AC3E}">
        <p14:creationId xmlns:p14="http://schemas.microsoft.com/office/powerpoint/2010/main" val="487062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31CC9FF2-80A8-9BCD-B065-3F6E2AC0A7C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231BE5-1B67-EF01-8229-7F021DDC62C6}"/>
              </a:ext>
            </a:extLst>
          </p:cNvPr>
          <p:cNvSpPr>
            <a:spLocks noGrp="1"/>
          </p:cNvSpPr>
          <p:nvPr>
            <p:ph type="title"/>
          </p:nvPr>
        </p:nvSpPr>
        <p:spPr>
          <a:xfrm>
            <a:off x="457200" y="634057"/>
            <a:ext cx="9282907" cy="896025"/>
          </a:xfrm>
        </p:spPr>
        <p:txBody>
          <a:bodyPr/>
          <a:lstStyle/>
          <a:p>
            <a:r>
              <a:rPr lang="en-US" kern="100" dirty="0">
                <a:latin typeface="Calibri Light" panose="020F0302020204030204" pitchFamily="34" charset="0"/>
                <a:ea typeface="Calibri" panose="020F0502020204030204" pitchFamily="34" charset="0"/>
                <a:cs typeface="Calibri Light" panose="020F0302020204030204" pitchFamily="34" charset="0"/>
              </a:rPr>
              <a:t>Efficiency Ratio, Energy, MAE, and RMSE </a:t>
            </a:r>
            <a:endParaRPr lang="en-US" dirty="0">
              <a:latin typeface="Calibri Light" panose="020F0302020204030204" pitchFamily="34" charset="0"/>
              <a:cs typeface="Calibri Light" panose="020F0302020204030204" pitchFamily="34" charset="0"/>
            </a:endParaRPr>
          </a:p>
        </p:txBody>
      </p:sp>
      <p:sp>
        <p:nvSpPr>
          <p:cNvPr id="2" name="Rectangle 4">
            <a:extLst>
              <a:ext uri="{FF2B5EF4-FFF2-40B4-BE49-F238E27FC236}">
                <a16:creationId xmlns:a16="http://schemas.microsoft.com/office/drawing/2014/main" id="{B3274AD1-7CE9-BC4F-1B5E-E9639D8C183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364B7328-8469-151B-489E-F1D6173E26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6057D481-A893-EF86-5214-7DD6FDDEA807}"/>
              </a:ext>
            </a:extLst>
          </p:cNvPr>
          <p:cNvSpPr txBox="1"/>
          <p:nvPr/>
        </p:nvSpPr>
        <p:spPr>
          <a:xfrm>
            <a:off x="457200" y="1706939"/>
            <a:ext cx="10972800"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For all three datasets — Solar Production, AEP Hourly Consumption, and Monthly Sunspot—runtime behavior of the models remained consistent</a:t>
            </a:r>
          </a:p>
          <a:p>
            <a:pPr marL="285750" indent="-285750">
              <a:buFont typeface="Arial" panose="020B0604020202020204" pitchFamily="34" charset="0"/>
              <a:buChar char="•"/>
            </a:pPr>
            <a:r>
              <a:rPr lang="en-US" sz="2400" dirty="0"/>
              <a:t>The </a:t>
            </a:r>
            <a:r>
              <a:rPr lang="en-US" sz="2400" dirty="0" err="1"/>
              <a:t>Loihi</a:t>
            </a:r>
            <a:r>
              <a:rPr lang="en-US" sz="2400" dirty="0"/>
              <a:t>‑style </a:t>
            </a:r>
            <a:r>
              <a:rPr lang="en-US" sz="2400" dirty="0" err="1"/>
              <a:t>RingSNN</a:t>
            </a:r>
            <a:r>
              <a:rPr lang="en-US" sz="2400" dirty="0"/>
              <a:t> achieved average epoch runtimes of 12–15 </a:t>
            </a:r>
            <a:r>
              <a:rPr lang="en-US" sz="2400" dirty="0" err="1"/>
              <a:t>ms</a:t>
            </a:r>
            <a:r>
              <a:rPr lang="en-US" sz="2400" dirty="0"/>
              <a:t>, reflecting the efficiency of event‑driven execution and lightweight neuron updates</a:t>
            </a:r>
          </a:p>
          <a:p>
            <a:pPr marL="285750" indent="-285750">
              <a:buFont typeface="Arial" panose="020B0604020202020204" pitchFamily="34" charset="0"/>
              <a:buChar char="•"/>
            </a:pPr>
            <a:r>
              <a:rPr lang="en-US" sz="2400" dirty="0"/>
              <a:t>GPU‑based ANN baselines completed each epoch in 3–5 </a:t>
            </a:r>
            <a:r>
              <a:rPr lang="en-US" sz="2400" dirty="0" err="1"/>
              <a:t>ms</a:t>
            </a:r>
            <a:r>
              <a:rPr lang="en-US" sz="2400" dirty="0"/>
              <a:t>, benefiting from highly parallel dense‑tensor operations and optimized CUDA kernels</a:t>
            </a:r>
          </a:p>
          <a:p>
            <a:pPr marL="285750" indent="-285750">
              <a:buFont typeface="Arial" panose="020B0604020202020204" pitchFamily="34" charset="0"/>
              <a:buChar char="•"/>
            </a:pPr>
            <a:r>
              <a:rPr lang="en-US" sz="2400" dirty="0"/>
              <a:t>These runtime measurements were stable across datasets and directly complement the energy and accuracy results fulfilling the requirement to report logged runtime per epoch as part of the benchmarking protocol</a:t>
            </a:r>
          </a:p>
          <a:p>
            <a:pPr marL="285750" indent="-285750">
              <a:buFont typeface="Arial" panose="020B0604020202020204" pitchFamily="34" charset="0"/>
              <a:buChar char="•"/>
            </a:pPr>
            <a:r>
              <a:rPr lang="en-US" sz="2400" dirty="0"/>
              <a:t>By recording per‑epoch runtime, spike counts, and accuracy, we construct energy–accuracy trade‑off curves to evaluate the practical efficiency of neuromorphic computing in sustainability-oriented forecasting tasks</a:t>
            </a:r>
            <a:endParaRPr lang="en-US" sz="2400" i="1" dirty="0"/>
          </a:p>
        </p:txBody>
      </p:sp>
    </p:spTree>
    <p:extLst>
      <p:ext uri="{BB962C8B-B14F-4D97-AF65-F5344CB8AC3E}">
        <p14:creationId xmlns:p14="http://schemas.microsoft.com/office/powerpoint/2010/main" val="673964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DED7A61C-D8AB-4102-0180-560370F37A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18FC83-490D-1619-A111-B6B73EA1695C}"/>
              </a:ext>
            </a:extLst>
          </p:cNvPr>
          <p:cNvSpPr>
            <a:spLocks noGrp="1"/>
          </p:cNvSpPr>
          <p:nvPr>
            <p:ph type="title"/>
          </p:nvPr>
        </p:nvSpPr>
        <p:spPr>
          <a:xfrm>
            <a:off x="349685" y="188479"/>
            <a:ext cx="10515600" cy="1325563"/>
          </a:xfrm>
        </p:spPr>
        <p:txBody>
          <a:bodyPr/>
          <a:lstStyle/>
          <a:p>
            <a:r>
              <a:rPr lang="en-US" dirty="0"/>
              <a:t>Efficiency Ratio, Energy, MAE, and RMSE </a:t>
            </a:r>
          </a:p>
        </p:txBody>
      </p:sp>
      <p:sp>
        <p:nvSpPr>
          <p:cNvPr id="2" name="Rectangle 4">
            <a:extLst>
              <a:ext uri="{FF2B5EF4-FFF2-40B4-BE49-F238E27FC236}">
                <a16:creationId xmlns:a16="http://schemas.microsoft.com/office/drawing/2014/main" id="{76CCB0A2-99A2-2016-FE3C-BFF1216CF67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CA457D08-6E24-B442-B37C-918BEBEFCDCE}"/>
                  </a:ext>
                </a:extLst>
              </p:cNvPr>
              <p:cNvGraphicFramePr>
                <a:graphicFrameLocks noGrp="1"/>
              </p:cNvGraphicFramePr>
              <p:nvPr>
                <p:extLst>
                  <p:ext uri="{D42A27DB-BD31-4B8C-83A1-F6EECF244321}">
                    <p14:modId xmlns:p14="http://schemas.microsoft.com/office/powerpoint/2010/main" val="2734192943"/>
                  </p:ext>
                </p:extLst>
              </p:nvPr>
            </p:nvGraphicFramePr>
            <p:xfrm>
              <a:off x="1231873" y="1984828"/>
              <a:ext cx="9728250" cy="3957679"/>
            </p:xfrm>
            <a:graphic>
              <a:graphicData uri="http://schemas.openxmlformats.org/drawingml/2006/table">
                <a:tbl>
                  <a:tblPr firstRow="1" bandRow="1">
                    <a:tableStyleId>{5C22544A-7EE6-4342-B048-85BDC9FD1C3A}</a:tableStyleId>
                  </a:tblPr>
                  <a:tblGrid>
                    <a:gridCol w="1783815">
                      <a:extLst>
                        <a:ext uri="{9D8B030D-6E8A-4147-A177-3AD203B41FA5}">
                          <a16:colId xmlns:a16="http://schemas.microsoft.com/office/drawing/2014/main" val="4195027135"/>
                        </a:ext>
                      </a:extLst>
                    </a:gridCol>
                    <a:gridCol w="2037524">
                      <a:extLst>
                        <a:ext uri="{9D8B030D-6E8A-4147-A177-3AD203B41FA5}">
                          <a16:colId xmlns:a16="http://schemas.microsoft.com/office/drawing/2014/main" val="2827351159"/>
                        </a:ext>
                      </a:extLst>
                    </a:gridCol>
                    <a:gridCol w="2934357">
                      <a:extLst>
                        <a:ext uri="{9D8B030D-6E8A-4147-A177-3AD203B41FA5}">
                          <a16:colId xmlns:a16="http://schemas.microsoft.com/office/drawing/2014/main" val="2882725835"/>
                        </a:ext>
                      </a:extLst>
                    </a:gridCol>
                    <a:gridCol w="1451389">
                      <a:extLst>
                        <a:ext uri="{9D8B030D-6E8A-4147-A177-3AD203B41FA5}">
                          <a16:colId xmlns:a16="http://schemas.microsoft.com/office/drawing/2014/main" val="3444303270"/>
                        </a:ext>
                      </a:extLst>
                    </a:gridCol>
                    <a:gridCol w="1521165">
                      <a:extLst>
                        <a:ext uri="{9D8B030D-6E8A-4147-A177-3AD203B41FA5}">
                          <a16:colId xmlns:a16="http://schemas.microsoft.com/office/drawing/2014/main" val="3986792574"/>
                        </a:ext>
                      </a:extLst>
                    </a:gridCol>
                  </a:tblGrid>
                  <a:tr h="1093170">
                    <a:tc>
                      <a:txBody>
                        <a:bodyPr/>
                        <a:lstStyle/>
                        <a:p>
                          <a:pPr marL="0" marR="0" algn="ctr">
                            <a:buNone/>
                          </a:pPr>
                          <a:r>
                            <a:rPr lang="en-US" sz="2400" b="1" i="0" dirty="0">
                              <a:effectLst/>
                              <a:latin typeface="+mn-lt"/>
                              <a:ea typeface="SimSun" panose="02010600030101010101" pitchFamily="2" charset="-122"/>
                            </a:rPr>
                            <a:t>Model</a:t>
                          </a:r>
                          <a:endParaRPr lang="en-US" sz="2400" i="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Energy per sample (µJ/sample)</a:t>
                          </a: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Efficiency Ratio</a:t>
                          </a:r>
                        </a:p>
                        <a:p>
                          <a:pPr marL="0" marR="0" algn="ctr">
                            <a:buNone/>
                          </a:pPr>
                          <a14:m>
                            <m:oMath xmlns:m="http://schemas.openxmlformats.org/officeDocument/2006/math">
                              <m:r>
                                <a:rPr lang="en-US" sz="2400" b="1" i="0" smtClean="0">
                                  <a:effectLst/>
                                  <a:latin typeface="Cambria Math" panose="02040503050406030204" pitchFamily="18" charset="0"/>
                                  <a:ea typeface="SimSun" panose="02010600030101010101" pitchFamily="2" charset="-122"/>
                                </a:rPr>
                                <m:t>(</m:t>
                              </m:r>
                            </m:oMath>
                          </a14:m>
                          <a:r>
                            <a:rPr lang="en-US" sz="2400" b="1" i="0" dirty="0">
                              <a:effectLst/>
                              <a:latin typeface="+mn-lt"/>
                              <a:ea typeface="SimSun" panose="02010600030101010101" pitchFamily="2" charset="-122"/>
                            </a:rPr>
                            <a:t>× more efficient)</a:t>
                          </a:r>
                        </a:p>
                      </a:txBody>
                      <a:tcPr marL="68580" marR="68580" marT="0" marB="0" anchor="ctr"/>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MAE</a:t>
                          </a:r>
                        </a:p>
                      </a:txBody>
                      <a:tcPr marL="68580" marR="68580" marT="0" marB="0"/>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RMSE</a:t>
                          </a:r>
                        </a:p>
                      </a:txBody>
                      <a:tcPr marL="68580" marR="68580" marT="0" marB="0"/>
                    </a:tc>
                    <a:extLst>
                      <a:ext uri="{0D108BD9-81ED-4DB2-BD59-A6C34878D82A}">
                        <a16:rowId xmlns:a16="http://schemas.microsoft.com/office/drawing/2014/main" val="1184997548"/>
                      </a:ext>
                    </a:extLst>
                  </a:tr>
                  <a:tr h="614288">
                    <a:tc>
                      <a:txBody>
                        <a:bodyPr/>
                        <a:lstStyle/>
                        <a:p>
                          <a:pPr marL="0" marR="0" algn="just">
                            <a:buNone/>
                          </a:pPr>
                          <a:r>
                            <a:rPr lang="en-US" sz="2400" dirty="0" err="1">
                              <a:effectLst/>
                              <a:latin typeface="+mn-lt"/>
                              <a:ea typeface="SimSun" panose="02010600030101010101" pitchFamily="2" charset="-122"/>
                            </a:rPr>
                            <a:t>RingSNN</a:t>
                          </a:r>
                          <a:endParaRPr lang="en-US" sz="2400" dirty="0">
                            <a:effectLst/>
                            <a:latin typeface="+mn-lt"/>
                            <a:ea typeface="SimSun" panose="02010600030101010101" pitchFamily="2" charset="-122"/>
                          </a:endParaRPr>
                        </a:p>
                      </a:txBody>
                      <a:tcPr marL="68580" marR="68580" marT="0" marB="0" anchor="ctr"/>
                    </a:tc>
                    <a:tc>
                      <a:txBody>
                        <a:bodyPr/>
                        <a:lstStyle/>
                        <a:p>
                          <a:pPr marL="0" marR="0" algn="just">
                            <a:lnSpc>
                              <a:spcPct val="115000"/>
                            </a:lnSpc>
                            <a:buNone/>
                          </a:pPr>
                          <a:r>
                            <a:rPr lang="en-US" sz="2400" kern="100" dirty="0">
                              <a:effectLst/>
                              <a:latin typeface="+mn-lt"/>
                              <a:ea typeface="SimSun" panose="02010600030101010101" pitchFamily="2" charset="-122"/>
                              <a:cs typeface="Times New Roman" panose="02020603050405020304" pitchFamily="18" charset="0"/>
                            </a:rPr>
                            <a:t>1575.00</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1.00 (baseline)</a:t>
                          </a:r>
                        </a:p>
                      </a:txBody>
                      <a:tcPr marL="68580" marR="68580" marT="0" marB="0" anchor="ctr"/>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0.1761</a:t>
                          </a:r>
                        </a:p>
                      </a:txBody>
                      <a:tcPr marL="68580" marR="68580" marT="0" marB="0"/>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0.5607</a:t>
                          </a:r>
                        </a:p>
                      </a:txBody>
                      <a:tcPr marL="68580" marR="68580" marT="0" marB="0"/>
                    </a:tc>
                    <a:extLst>
                      <a:ext uri="{0D108BD9-81ED-4DB2-BD59-A6C34878D82A}">
                        <a16:rowId xmlns:a16="http://schemas.microsoft.com/office/drawing/2014/main" val="437224419"/>
                      </a:ext>
                    </a:extLst>
                  </a:tr>
                  <a:tr h="545930">
                    <a:tc>
                      <a:txBody>
                        <a:bodyPr/>
                        <a:lstStyle/>
                        <a:p>
                          <a:pPr marL="0" marR="0" algn="just">
                            <a:buNone/>
                          </a:pPr>
                          <a:r>
                            <a:rPr lang="en-US" sz="2400">
                              <a:effectLst/>
                              <a:latin typeface="+mn-lt"/>
                              <a:ea typeface="SimSun" panose="02010600030101010101" pitchFamily="2" charset="-122"/>
                            </a:rPr>
                            <a:t>CNN</a:t>
                          </a:r>
                        </a:p>
                      </a:txBody>
                      <a:tcPr marL="68580" marR="68580" marT="0" marB="0" anchor="ctr"/>
                    </a:tc>
                    <a:tc>
                      <a:txBody>
                        <a:bodyPr/>
                        <a:lstStyle/>
                        <a:p>
                          <a:pPr marL="0" marR="0" algn="just">
                            <a:lnSpc>
                              <a:spcPct val="115000"/>
                            </a:lnSpc>
                            <a:buNone/>
                          </a:pPr>
                          <a:r>
                            <a:rPr lang="en-US" sz="2400" kern="100">
                              <a:effectLst/>
                              <a:latin typeface="+mn-lt"/>
                              <a:ea typeface="SimSun" panose="02010600030101010101" pitchFamily="2" charset="-122"/>
                              <a:cs typeface="Times New Roman" panose="02020603050405020304" pitchFamily="18" charset="0"/>
                            </a:rPr>
                            <a:t>4845.78</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3.08</a:t>
                          </a:r>
                        </a:p>
                      </a:txBody>
                      <a:tcPr marL="68580" marR="68580" marT="0" marB="0" anchor="ctr"/>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0.04781</a:t>
                          </a:r>
                        </a:p>
                      </a:txBody>
                      <a:tcPr marL="68580" marR="68580" marT="0" marB="0"/>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0.06044</a:t>
                          </a:r>
                        </a:p>
                      </a:txBody>
                      <a:tcPr marL="68580" marR="68580" marT="0" marB="0"/>
                    </a:tc>
                    <a:extLst>
                      <a:ext uri="{0D108BD9-81ED-4DB2-BD59-A6C34878D82A}">
                        <a16:rowId xmlns:a16="http://schemas.microsoft.com/office/drawing/2014/main" val="1992113738"/>
                      </a:ext>
                    </a:extLst>
                  </a:tr>
                  <a:tr h="655115">
                    <a:tc>
                      <a:txBody>
                        <a:bodyPr/>
                        <a:lstStyle/>
                        <a:p>
                          <a:pPr marL="0" marR="0" algn="just">
                            <a:buNone/>
                          </a:pPr>
                          <a:r>
                            <a:rPr lang="en-US" sz="2400">
                              <a:effectLst/>
                              <a:latin typeface="+mn-lt"/>
                              <a:ea typeface="SimSun" panose="02010600030101010101" pitchFamily="2" charset="-122"/>
                            </a:rPr>
                            <a:t>LSTM </a:t>
                          </a:r>
                        </a:p>
                      </a:txBody>
                      <a:tcPr marL="68580" marR="68580" marT="0" marB="0" anchor="ctr"/>
                    </a:tc>
                    <a:tc>
                      <a:txBody>
                        <a:bodyPr/>
                        <a:lstStyle/>
                        <a:p>
                          <a:pPr marL="0" marR="0" algn="just">
                            <a:lnSpc>
                              <a:spcPct val="115000"/>
                            </a:lnSpc>
                            <a:buNone/>
                          </a:pPr>
                          <a:r>
                            <a:rPr lang="en-US" sz="2400" kern="100">
                              <a:effectLst/>
                              <a:latin typeface="+mn-lt"/>
                              <a:ea typeface="SimSun" panose="02010600030101010101" pitchFamily="2" charset="-122"/>
                              <a:cs typeface="Times New Roman" panose="02020603050405020304" pitchFamily="18" charset="0"/>
                            </a:rPr>
                            <a:t>4359.53</a:t>
                          </a:r>
                        </a:p>
                      </a:txBody>
                      <a:tcPr marL="68580" marR="68580" marT="0" marB="0" anchor="ctr"/>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2.77</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0.06009</a:t>
                          </a:r>
                        </a:p>
                      </a:txBody>
                      <a:tcPr marL="68580" marR="68580" marT="0" marB="0"/>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0.07359</a:t>
                          </a:r>
                        </a:p>
                      </a:txBody>
                      <a:tcPr marL="68580" marR="68580" marT="0" marB="0"/>
                    </a:tc>
                    <a:extLst>
                      <a:ext uri="{0D108BD9-81ED-4DB2-BD59-A6C34878D82A}">
                        <a16:rowId xmlns:a16="http://schemas.microsoft.com/office/drawing/2014/main" val="893138968"/>
                      </a:ext>
                    </a:extLst>
                  </a:tr>
                  <a:tr h="514734">
                    <a:tc>
                      <a:txBody>
                        <a:bodyPr/>
                        <a:lstStyle/>
                        <a:p>
                          <a:pPr marL="0" marR="0" algn="just">
                            <a:buNone/>
                          </a:pPr>
                          <a:r>
                            <a:rPr lang="en-US" sz="2400">
                              <a:effectLst/>
                              <a:latin typeface="+mn-lt"/>
                              <a:ea typeface="SimSun" panose="02010600030101010101" pitchFamily="2" charset="-122"/>
                            </a:rPr>
                            <a:t>GRU </a:t>
                          </a:r>
                        </a:p>
                      </a:txBody>
                      <a:tcPr marL="68580" marR="68580" marT="0" marB="0" anchor="ctr"/>
                    </a:tc>
                    <a:tc>
                      <a:txBody>
                        <a:bodyPr/>
                        <a:lstStyle/>
                        <a:p>
                          <a:pPr marL="0" marR="0" algn="just">
                            <a:lnSpc>
                              <a:spcPct val="115000"/>
                            </a:lnSpc>
                            <a:buNone/>
                          </a:pPr>
                          <a:r>
                            <a:rPr lang="en-US" sz="2400" kern="100">
                              <a:effectLst/>
                              <a:latin typeface="+mn-lt"/>
                              <a:ea typeface="SimSun" panose="02010600030101010101" pitchFamily="2" charset="-122"/>
                              <a:cs typeface="Times New Roman" panose="02020603050405020304" pitchFamily="18" charset="0"/>
                            </a:rPr>
                            <a:t>4545.00</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2.89</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0.03247</a:t>
                          </a:r>
                        </a:p>
                      </a:txBody>
                      <a:tcPr marL="68580" marR="68580" marT="0" marB="0"/>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0.04077</a:t>
                          </a:r>
                        </a:p>
                      </a:txBody>
                      <a:tcPr marL="68580" marR="68580" marT="0" marB="0"/>
                    </a:tc>
                    <a:extLst>
                      <a:ext uri="{0D108BD9-81ED-4DB2-BD59-A6C34878D82A}">
                        <a16:rowId xmlns:a16="http://schemas.microsoft.com/office/drawing/2014/main" val="2841151959"/>
                      </a:ext>
                    </a:extLst>
                  </a:tr>
                  <a:tr h="530332">
                    <a:tc>
                      <a:txBody>
                        <a:bodyPr/>
                        <a:lstStyle/>
                        <a:p>
                          <a:pPr marL="0" marR="0" algn="just">
                            <a:buNone/>
                          </a:pPr>
                          <a:r>
                            <a:rPr lang="en-US" sz="2400">
                              <a:effectLst/>
                              <a:latin typeface="+mn-lt"/>
                              <a:ea typeface="SimSun" panose="02010600030101010101" pitchFamily="2" charset="-122"/>
                            </a:rPr>
                            <a:t>CNN-LSTM </a:t>
                          </a:r>
                        </a:p>
                      </a:txBody>
                      <a:tcPr marL="68580" marR="68580" marT="0" marB="0" anchor="ctr"/>
                    </a:tc>
                    <a:tc>
                      <a:txBody>
                        <a:bodyPr/>
                        <a:lstStyle/>
                        <a:p>
                          <a:pPr marL="0" marR="0" algn="just">
                            <a:lnSpc>
                              <a:spcPct val="115000"/>
                            </a:lnSpc>
                            <a:buNone/>
                          </a:pPr>
                          <a:r>
                            <a:rPr lang="en-US" sz="2400" kern="100">
                              <a:effectLst/>
                              <a:latin typeface="+mn-lt"/>
                              <a:ea typeface="SimSun" panose="02010600030101010101" pitchFamily="2" charset="-122"/>
                              <a:cs typeface="Times New Roman" panose="02020603050405020304" pitchFamily="18" charset="0"/>
                            </a:rPr>
                            <a:t>7015.70</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4.45</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0.02366</a:t>
                          </a:r>
                        </a:p>
                      </a:txBody>
                      <a:tcPr marL="68580" marR="68580" marT="0" marB="0"/>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0.03017</a:t>
                          </a:r>
                        </a:p>
                      </a:txBody>
                      <a:tcPr marL="68580" marR="68580" marT="0" marB="0"/>
                    </a:tc>
                    <a:extLst>
                      <a:ext uri="{0D108BD9-81ED-4DB2-BD59-A6C34878D82A}">
                        <a16:rowId xmlns:a16="http://schemas.microsoft.com/office/drawing/2014/main" val="3665453127"/>
                      </a:ext>
                    </a:extLst>
                  </a:tr>
                </a:tbl>
              </a:graphicData>
            </a:graphic>
          </p:graphicFrame>
        </mc:Choice>
        <mc:Fallback xmlns="">
          <p:graphicFrame>
            <p:nvGraphicFramePr>
              <p:cNvPr id="13" name="Table 12">
                <a:extLst>
                  <a:ext uri="{FF2B5EF4-FFF2-40B4-BE49-F238E27FC236}">
                    <a16:creationId xmlns:a16="http://schemas.microsoft.com/office/drawing/2014/main" id="{CA457D08-6E24-B442-B37C-918BEBEFCDCE}"/>
                  </a:ext>
                </a:extLst>
              </p:cNvPr>
              <p:cNvGraphicFramePr>
                <a:graphicFrameLocks noGrp="1"/>
              </p:cNvGraphicFramePr>
              <p:nvPr>
                <p:extLst>
                  <p:ext uri="{D42A27DB-BD31-4B8C-83A1-F6EECF244321}">
                    <p14:modId xmlns:p14="http://schemas.microsoft.com/office/powerpoint/2010/main" val="2734192943"/>
                  </p:ext>
                </p:extLst>
              </p:nvPr>
            </p:nvGraphicFramePr>
            <p:xfrm>
              <a:off x="1231873" y="1984828"/>
              <a:ext cx="9728250" cy="3957679"/>
            </p:xfrm>
            <a:graphic>
              <a:graphicData uri="http://schemas.openxmlformats.org/drawingml/2006/table">
                <a:tbl>
                  <a:tblPr firstRow="1" bandRow="1">
                    <a:tableStyleId>{5C22544A-7EE6-4342-B048-85BDC9FD1C3A}</a:tableStyleId>
                  </a:tblPr>
                  <a:tblGrid>
                    <a:gridCol w="1783815">
                      <a:extLst>
                        <a:ext uri="{9D8B030D-6E8A-4147-A177-3AD203B41FA5}">
                          <a16:colId xmlns:a16="http://schemas.microsoft.com/office/drawing/2014/main" val="4195027135"/>
                        </a:ext>
                      </a:extLst>
                    </a:gridCol>
                    <a:gridCol w="2037524">
                      <a:extLst>
                        <a:ext uri="{9D8B030D-6E8A-4147-A177-3AD203B41FA5}">
                          <a16:colId xmlns:a16="http://schemas.microsoft.com/office/drawing/2014/main" val="2827351159"/>
                        </a:ext>
                      </a:extLst>
                    </a:gridCol>
                    <a:gridCol w="2934357">
                      <a:extLst>
                        <a:ext uri="{9D8B030D-6E8A-4147-A177-3AD203B41FA5}">
                          <a16:colId xmlns:a16="http://schemas.microsoft.com/office/drawing/2014/main" val="2882725835"/>
                        </a:ext>
                      </a:extLst>
                    </a:gridCol>
                    <a:gridCol w="1451389">
                      <a:extLst>
                        <a:ext uri="{9D8B030D-6E8A-4147-A177-3AD203B41FA5}">
                          <a16:colId xmlns:a16="http://schemas.microsoft.com/office/drawing/2014/main" val="3444303270"/>
                        </a:ext>
                      </a:extLst>
                    </a:gridCol>
                    <a:gridCol w="1521165">
                      <a:extLst>
                        <a:ext uri="{9D8B030D-6E8A-4147-A177-3AD203B41FA5}">
                          <a16:colId xmlns:a16="http://schemas.microsoft.com/office/drawing/2014/main" val="3986792574"/>
                        </a:ext>
                      </a:extLst>
                    </a:gridCol>
                  </a:tblGrid>
                  <a:tr h="1097280">
                    <a:tc>
                      <a:txBody>
                        <a:bodyPr/>
                        <a:lstStyle/>
                        <a:p>
                          <a:pPr marL="0" marR="0" algn="ctr">
                            <a:buNone/>
                          </a:pPr>
                          <a:r>
                            <a:rPr lang="en-US" sz="2400" b="1" i="0" dirty="0">
                              <a:effectLst/>
                              <a:latin typeface="+mn-lt"/>
                              <a:ea typeface="SimSun" panose="02010600030101010101" pitchFamily="2" charset="-122"/>
                            </a:rPr>
                            <a:t>Model</a:t>
                          </a:r>
                          <a:endParaRPr lang="en-US" sz="2400" i="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Energy per sample (µJ/sample)</a:t>
                          </a:r>
                        </a:p>
                      </a:txBody>
                      <a:tcPr marL="68580" marR="68580" marT="0" marB="0" anchor="ctr"/>
                    </a:tc>
                    <a:tc>
                      <a:txBody>
                        <a:bodyPr/>
                        <a:lstStyle/>
                        <a:p>
                          <a:endParaRPr lang="en-US"/>
                        </a:p>
                      </a:txBody>
                      <a:tcPr marL="68580" marR="68580" marT="0" marB="0" anchor="ctr">
                        <a:blipFill>
                          <a:blip r:embed="rId3"/>
                          <a:stretch>
                            <a:fillRect l="-130561" t="-8333" r="-102495" b="-271667"/>
                          </a:stretch>
                        </a:blipFill>
                      </a:tcPr>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MAE</a:t>
                          </a:r>
                        </a:p>
                      </a:txBody>
                      <a:tcPr marL="68580" marR="68580" marT="0" marB="0"/>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RMSE</a:t>
                          </a:r>
                        </a:p>
                      </a:txBody>
                      <a:tcPr marL="68580" marR="68580" marT="0" marB="0"/>
                    </a:tc>
                    <a:extLst>
                      <a:ext uri="{0D108BD9-81ED-4DB2-BD59-A6C34878D82A}">
                        <a16:rowId xmlns:a16="http://schemas.microsoft.com/office/drawing/2014/main" val="1184997548"/>
                      </a:ext>
                    </a:extLst>
                  </a:tr>
                  <a:tr h="614288">
                    <a:tc>
                      <a:txBody>
                        <a:bodyPr/>
                        <a:lstStyle/>
                        <a:p>
                          <a:pPr marL="0" marR="0" algn="just">
                            <a:buNone/>
                          </a:pPr>
                          <a:r>
                            <a:rPr lang="en-US" sz="2400" dirty="0" err="1">
                              <a:effectLst/>
                              <a:latin typeface="+mn-lt"/>
                              <a:ea typeface="SimSun" panose="02010600030101010101" pitchFamily="2" charset="-122"/>
                            </a:rPr>
                            <a:t>RingSNN</a:t>
                          </a:r>
                          <a:endParaRPr lang="en-US" sz="2400" dirty="0">
                            <a:effectLst/>
                            <a:latin typeface="+mn-lt"/>
                            <a:ea typeface="SimSun" panose="02010600030101010101" pitchFamily="2" charset="-122"/>
                          </a:endParaRPr>
                        </a:p>
                      </a:txBody>
                      <a:tcPr marL="68580" marR="68580" marT="0" marB="0" anchor="ctr"/>
                    </a:tc>
                    <a:tc>
                      <a:txBody>
                        <a:bodyPr/>
                        <a:lstStyle/>
                        <a:p>
                          <a:pPr marL="0" marR="0" algn="just">
                            <a:lnSpc>
                              <a:spcPct val="115000"/>
                            </a:lnSpc>
                            <a:buNone/>
                          </a:pPr>
                          <a:r>
                            <a:rPr lang="en-US" sz="2400" kern="100" dirty="0">
                              <a:effectLst/>
                              <a:latin typeface="+mn-lt"/>
                              <a:ea typeface="SimSun" panose="02010600030101010101" pitchFamily="2" charset="-122"/>
                              <a:cs typeface="Times New Roman" panose="02020603050405020304" pitchFamily="18" charset="0"/>
                            </a:rPr>
                            <a:t>1575.00</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1.00 (baseline)</a:t>
                          </a:r>
                        </a:p>
                      </a:txBody>
                      <a:tcPr marL="68580" marR="68580" marT="0" marB="0" anchor="ctr"/>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0.1761</a:t>
                          </a:r>
                        </a:p>
                      </a:txBody>
                      <a:tcPr marL="68580" marR="68580" marT="0" marB="0"/>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0.5607</a:t>
                          </a:r>
                        </a:p>
                      </a:txBody>
                      <a:tcPr marL="68580" marR="68580" marT="0" marB="0"/>
                    </a:tc>
                    <a:extLst>
                      <a:ext uri="{0D108BD9-81ED-4DB2-BD59-A6C34878D82A}">
                        <a16:rowId xmlns:a16="http://schemas.microsoft.com/office/drawing/2014/main" val="437224419"/>
                      </a:ext>
                    </a:extLst>
                  </a:tr>
                  <a:tr h="545930">
                    <a:tc>
                      <a:txBody>
                        <a:bodyPr/>
                        <a:lstStyle/>
                        <a:p>
                          <a:pPr marL="0" marR="0" algn="just">
                            <a:buNone/>
                          </a:pPr>
                          <a:r>
                            <a:rPr lang="en-US" sz="2400">
                              <a:effectLst/>
                              <a:latin typeface="+mn-lt"/>
                              <a:ea typeface="SimSun" panose="02010600030101010101" pitchFamily="2" charset="-122"/>
                            </a:rPr>
                            <a:t>CNN</a:t>
                          </a:r>
                        </a:p>
                      </a:txBody>
                      <a:tcPr marL="68580" marR="68580" marT="0" marB="0" anchor="ctr"/>
                    </a:tc>
                    <a:tc>
                      <a:txBody>
                        <a:bodyPr/>
                        <a:lstStyle/>
                        <a:p>
                          <a:pPr marL="0" marR="0" algn="just">
                            <a:lnSpc>
                              <a:spcPct val="115000"/>
                            </a:lnSpc>
                            <a:buNone/>
                          </a:pPr>
                          <a:r>
                            <a:rPr lang="en-US" sz="2400" kern="100">
                              <a:effectLst/>
                              <a:latin typeface="+mn-lt"/>
                              <a:ea typeface="SimSun" panose="02010600030101010101" pitchFamily="2" charset="-122"/>
                              <a:cs typeface="Times New Roman" panose="02020603050405020304" pitchFamily="18" charset="0"/>
                            </a:rPr>
                            <a:t>4845.78</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3.08</a:t>
                          </a:r>
                        </a:p>
                      </a:txBody>
                      <a:tcPr marL="68580" marR="68580" marT="0" marB="0" anchor="ctr"/>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0.04781</a:t>
                          </a:r>
                        </a:p>
                      </a:txBody>
                      <a:tcPr marL="68580" marR="68580" marT="0" marB="0"/>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0.06044</a:t>
                          </a:r>
                        </a:p>
                      </a:txBody>
                      <a:tcPr marL="68580" marR="68580" marT="0" marB="0"/>
                    </a:tc>
                    <a:extLst>
                      <a:ext uri="{0D108BD9-81ED-4DB2-BD59-A6C34878D82A}">
                        <a16:rowId xmlns:a16="http://schemas.microsoft.com/office/drawing/2014/main" val="1992113738"/>
                      </a:ext>
                    </a:extLst>
                  </a:tr>
                  <a:tr h="655115">
                    <a:tc>
                      <a:txBody>
                        <a:bodyPr/>
                        <a:lstStyle/>
                        <a:p>
                          <a:pPr marL="0" marR="0" algn="just">
                            <a:buNone/>
                          </a:pPr>
                          <a:r>
                            <a:rPr lang="en-US" sz="2400">
                              <a:effectLst/>
                              <a:latin typeface="+mn-lt"/>
                              <a:ea typeface="SimSun" panose="02010600030101010101" pitchFamily="2" charset="-122"/>
                            </a:rPr>
                            <a:t>LSTM </a:t>
                          </a:r>
                        </a:p>
                      </a:txBody>
                      <a:tcPr marL="68580" marR="68580" marT="0" marB="0" anchor="ctr"/>
                    </a:tc>
                    <a:tc>
                      <a:txBody>
                        <a:bodyPr/>
                        <a:lstStyle/>
                        <a:p>
                          <a:pPr marL="0" marR="0" algn="just">
                            <a:lnSpc>
                              <a:spcPct val="115000"/>
                            </a:lnSpc>
                            <a:buNone/>
                          </a:pPr>
                          <a:r>
                            <a:rPr lang="en-US" sz="2400" kern="100">
                              <a:effectLst/>
                              <a:latin typeface="+mn-lt"/>
                              <a:ea typeface="SimSun" panose="02010600030101010101" pitchFamily="2" charset="-122"/>
                              <a:cs typeface="Times New Roman" panose="02020603050405020304" pitchFamily="18" charset="0"/>
                            </a:rPr>
                            <a:t>4359.53</a:t>
                          </a:r>
                        </a:p>
                      </a:txBody>
                      <a:tcPr marL="68580" marR="68580" marT="0" marB="0" anchor="ctr"/>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2.77</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0.06009</a:t>
                          </a:r>
                        </a:p>
                      </a:txBody>
                      <a:tcPr marL="68580" marR="68580" marT="0" marB="0"/>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0.07359</a:t>
                          </a:r>
                        </a:p>
                      </a:txBody>
                      <a:tcPr marL="68580" marR="68580" marT="0" marB="0"/>
                    </a:tc>
                    <a:extLst>
                      <a:ext uri="{0D108BD9-81ED-4DB2-BD59-A6C34878D82A}">
                        <a16:rowId xmlns:a16="http://schemas.microsoft.com/office/drawing/2014/main" val="893138968"/>
                      </a:ext>
                    </a:extLst>
                  </a:tr>
                  <a:tr h="514734">
                    <a:tc>
                      <a:txBody>
                        <a:bodyPr/>
                        <a:lstStyle/>
                        <a:p>
                          <a:pPr marL="0" marR="0" algn="just">
                            <a:buNone/>
                          </a:pPr>
                          <a:r>
                            <a:rPr lang="en-US" sz="2400">
                              <a:effectLst/>
                              <a:latin typeface="+mn-lt"/>
                              <a:ea typeface="SimSun" panose="02010600030101010101" pitchFamily="2" charset="-122"/>
                            </a:rPr>
                            <a:t>GRU </a:t>
                          </a:r>
                        </a:p>
                      </a:txBody>
                      <a:tcPr marL="68580" marR="68580" marT="0" marB="0" anchor="ctr"/>
                    </a:tc>
                    <a:tc>
                      <a:txBody>
                        <a:bodyPr/>
                        <a:lstStyle/>
                        <a:p>
                          <a:pPr marL="0" marR="0" algn="just">
                            <a:lnSpc>
                              <a:spcPct val="115000"/>
                            </a:lnSpc>
                            <a:buNone/>
                          </a:pPr>
                          <a:r>
                            <a:rPr lang="en-US" sz="2400" kern="100">
                              <a:effectLst/>
                              <a:latin typeface="+mn-lt"/>
                              <a:ea typeface="SimSun" panose="02010600030101010101" pitchFamily="2" charset="-122"/>
                              <a:cs typeface="Times New Roman" panose="02020603050405020304" pitchFamily="18" charset="0"/>
                            </a:rPr>
                            <a:t>4545.00</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2.89</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0.03247</a:t>
                          </a:r>
                        </a:p>
                      </a:txBody>
                      <a:tcPr marL="68580" marR="68580" marT="0" marB="0"/>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0.04077</a:t>
                          </a:r>
                        </a:p>
                      </a:txBody>
                      <a:tcPr marL="68580" marR="68580" marT="0" marB="0"/>
                    </a:tc>
                    <a:extLst>
                      <a:ext uri="{0D108BD9-81ED-4DB2-BD59-A6C34878D82A}">
                        <a16:rowId xmlns:a16="http://schemas.microsoft.com/office/drawing/2014/main" val="2841151959"/>
                      </a:ext>
                    </a:extLst>
                  </a:tr>
                  <a:tr h="530332">
                    <a:tc>
                      <a:txBody>
                        <a:bodyPr/>
                        <a:lstStyle/>
                        <a:p>
                          <a:pPr marL="0" marR="0" algn="just">
                            <a:buNone/>
                          </a:pPr>
                          <a:r>
                            <a:rPr lang="en-US" sz="2400">
                              <a:effectLst/>
                              <a:latin typeface="+mn-lt"/>
                              <a:ea typeface="SimSun" panose="02010600030101010101" pitchFamily="2" charset="-122"/>
                            </a:rPr>
                            <a:t>CNN-LSTM </a:t>
                          </a:r>
                        </a:p>
                      </a:txBody>
                      <a:tcPr marL="68580" marR="68580" marT="0" marB="0" anchor="ctr"/>
                    </a:tc>
                    <a:tc>
                      <a:txBody>
                        <a:bodyPr/>
                        <a:lstStyle/>
                        <a:p>
                          <a:pPr marL="0" marR="0" algn="just">
                            <a:lnSpc>
                              <a:spcPct val="115000"/>
                            </a:lnSpc>
                            <a:buNone/>
                          </a:pPr>
                          <a:r>
                            <a:rPr lang="en-US" sz="2400" kern="100">
                              <a:effectLst/>
                              <a:latin typeface="+mn-lt"/>
                              <a:ea typeface="SimSun" panose="02010600030101010101" pitchFamily="2" charset="-122"/>
                              <a:cs typeface="Times New Roman" panose="02020603050405020304" pitchFamily="18" charset="0"/>
                            </a:rPr>
                            <a:t>7015.70</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4.45</a:t>
                          </a:r>
                        </a:p>
                      </a:txBody>
                      <a:tcPr marL="68580" marR="68580" marT="0" marB="0" anchor="ctr"/>
                    </a:tc>
                    <a:tc>
                      <a:txBody>
                        <a:bodyPr/>
                        <a:lstStyle/>
                        <a:p>
                          <a:pPr marL="0" marR="0" algn="ctr">
                            <a:lnSpc>
                              <a:spcPct val="115000"/>
                            </a:lnSpc>
                            <a:buNone/>
                          </a:pPr>
                          <a:r>
                            <a:rPr lang="en-US" sz="2400" kern="100">
                              <a:effectLst/>
                              <a:latin typeface="+mn-lt"/>
                              <a:ea typeface="SimSun" panose="02010600030101010101" pitchFamily="2" charset="-122"/>
                              <a:cs typeface="Times New Roman" panose="02020603050405020304" pitchFamily="18" charset="0"/>
                            </a:rPr>
                            <a:t>0.02366</a:t>
                          </a:r>
                        </a:p>
                      </a:txBody>
                      <a:tcPr marL="68580" marR="68580" marT="0" marB="0"/>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0.03017</a:t>
                          </a:r>
                        </a:p>
                      </a:txBody>
                      <a:tcPr marL="68580" marR="68580" marT="0" marB="0"/>
                    </a:tc>
                    <a:extLst>
                      <a:ext uri="{0D108BD9-81ED-4DB2-BD59-A6C34878D82A}">
                        <a16:rowId xmlns:a16="http://schemas.microsoft.com/office/drawing/2014/main" val="3665453127"/>
                      </a:ext>
                    </a:extLst>
                  </a:tr>
                </a:tbl>
              </a:graphicData>
            </a:graphic>
          </p:graphicFrame>
        </mc:Fallback>
      </mc:AlternateContent>
      <p:sp>
        <p:nvSpPr>
          <p:cNvPr id="14" name="TextBox 13">
            <a:extLst>
              <a:ext uri="{FF2B5EF4-FFF2-40B4-BE49-F238E27FC236}">
                <a16:creationId xmlns:a16="http://schemas.microsoft.com/office/drawing/2014/main" id="{76250345-4C30-B6BA-E7F0-00B2553930DD}"/>
              </a:ext>
            </a:extLst>
          </p:cNvPr>
          <p:cNvSpPr txBox="1"/>
          <p:nvPr/>
        </p:nvSpPr>
        <p:spPr>
          <a:xfrm>
            <a:off x="1193870" y="1514042"/>
            <a:ext cx="9804257" cy="461665"/>
          </a:xfrm>
          <a:prstGeom prst="rect">
            <a:avLst/>
          </a:prstGeom>
          <a:noFill/>
        </p:spPr>
        <p:txBody>
          <a:bodyPr wrap="square" rtlCol="0">
            <a:spAutoFit/>
          </a:bodyPr>
          <a:lstStyle/>
          <a:p>
            <a:pPr algn="ctr"/>
            <a:r>
              <a:rPr lang="en-US" sz="2400" cap="small" dirty="0"/>
              <a:t>AEP Hourly Energy Consumption Dataset</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55012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CDDF1672-25A6-32ED-61E3-8FE3C9BED8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547E7A-2D63-E70D-2D2F-9C1DF222100F}"/>
              </a:ext>
            </a:extLst>
          </p:cNvPr>
          <p:cNvSpPr>
            <a:spLocks noGrp="1"/>
          </p:cNvSpPr>
          <p:nvPr>
            <p:ph type="title"/>
          </p:nvPr>
        </p:nvSpPr>
        <p:spPr>
          <a:xfrm>
            <a:off x="535422" y="274702"/>
            <a:ext cx="9977220" cy="1113205"/>
          </a:xfrm>
        </p:spPr>
        <p:txBody>
          <a:bodyPr>
            <a:noAutofit/>
          </a:bodyPr>
          <a:lstStyle/>
          <a:p>
            <a:r>
              <a:rPr lang="en-US" dirty="0"/>
              <a:t>Efficiency Ratio, Energy, MAE, and RMSE </a:t>
            </a:r>
          </a:p>
        </p:txBody>
      </p:sp>
      <p:sp>
        <p:nvSpPr>
          <p:cNvPr id="4" name="AutoShape 2" descr="Uploaded image">
            <a:extLst>
              <a:ext uri="{FF2B5EF4-FFF2-40B4-BE49-F238E27FC236}">
                <a16:creationId xmlns:a16="http://schemas.microsoft.com/office/drawing/2014/main" id="{AB324448-AC98-5F22-092C-8FDE4A2633F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889AE5B-455C-30E6-F712-C6F5C0EF3EEF}"/>
                  </a:ext>
                </a:extLst>
              </p:cNvPr>
              <p:cNvGraphicFramePr>
                <a:graphicFrameLocks noGrp="1"/>
              </p:cNvGraphicFramePr>
              <p:nvPr>
                <p:extLst>
                  <p:ext uri="{D42A27DB-BD31-4B8C-83A1-F6EECF244321}">
                    <p14:modId xmlns:p14="http://schemas.microsoft.com/office/powerpoint/2010/main" val="591124883"/>
                  </p:ext>
                </p:extLst>
              </p:nvPr>
            </p:nvGraphicFramePr>
            <p:xfrm>
              <a:off x="1593497" y="1923950"/>
              <a:ext cx="9005003" cy="3546143"/>
            </p:xfrm>
            <a:graphic>
              <a:graphicData uri="http://schemas.openxmlformats.org/drawingml/2006/table">
                <a:tbl>
                  <a:tblPr firstRow="1" bandRow="1">
                    <a:tableStyleId>{5C22544A-7EE6-4342-B048-85BDC9FD1C3A}</a:tableStyleId>
                  </a:tblPr>
                  <a:tblGrid>
                    <a:gridCol w="1582784">
                      <a:extLst>
                        <a:ext uri="{9D8B030D-6E8A-4147-A177-3AD203B41FA5}">
                          <a16:colId xmlns:a16="http://schemas.microsoft.com/office/drawing/2014/main" val="4195027135"/>
                        </a:ext>
                      </a:extLst>
                    </a:gridCol>
                    <a:gridCol w="2178535">
                      <a:extLst>
                        <a:ext uri="{9D8B030D-6E8A-4147-A177-3AD203B41FA5}">
                          <a16:colId xmlns:a16="http://schemas.microsoft.com/office/drawing/2014/main" val="2827351159"/>
                        </a:ext>
                      </a:extLst>
                    </a:gridCol>
                    <a:gridCol w="2749904">
                      <a:extLst>
                        <a:ext uri="{9D8B030D-6E8A-4147-A177-3AD203B41FA5}">
                          <a16:colId xmlns:a16="http://schemas.microsoft.com/office/drawing/2014/main" val="2882725835"/>
                        </a:ext>
                      </a:extLst>
                    </a:gridCol>
                    <a:gridCol w="1290519">
                      <a:extLst>
                        <a:ext uri="{9D8B030D-6E8A-4147-A177-3AD203B41FA5}">
                          <a16:colId xmlns:a16="http://schemas.microsoft.com/office/drawing/2014/main" val="3444303270"/>
                        </a:ext>
                      </a:extLst>
                    </a:gridCol>
                    <a:gridCol w="1203261">
                      <a:extLst>
                        <a:ext uri="{9D8B030D-6E8A-4147-A177-3AD203B41FA5}">
                          <a16:colId xmlns:a16="http://schemas.microsoft.com/office/drawing/2014/main" val="3986792574"/>
                        </a:ext>
                      </a:extLst>
                    </a:gridCol>
                  </a:tblGrid>
                  <a:tr h="1094044">
                    <a:tc>
                      <a:txBody>
                        <a:bodyPr/>
                        <a:lstStyle/>
                        <a:p>
                          <a:pPr marL="0" marR="0" algn="ctr">
                            <a:buNone/>
                          </a:pPr>
                          <a:r>
                            <a:rPr lang="en-US" sz="2400" b="1" dirty="0">
                              <a:effectLst/>
                              <a:latin typeface="+mn-lt"/>
                              <a:ea typeface="SimSun" panose="02010600030101010101" pitchFamily="2" charset="-122"/>
                            </a:rPr>
                            <a:t>Model</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Energy per sample (µJ/sample)</a:t>
                          </a: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Efficiency R</a:t>
                          </a:r>
                          <a14:m>
                            <m:oMath xmlns:m="http://schemas.openxmlformats.org/officeDocument/2006/math">
                              <m:r>
                                <a:rPr lang="en-US" sz="2400" b="1" i="0" smtClean="0">
                                  <a:effectLst/>
                                  <a:latin typeface="Cambria Math" panose="02040503050406030204" pitchFamily="18" charset="0"/>
                                  <a:ea typeface="SimSun" panose="02010600030101010101" pitchFamily="2" charset="-122"/>
                                </a:rPr>
                                <m:t>𝐚𝐭𝐢𝐨</m:t>
                              </m:r>
                              <m:r>
                                <a:rPr lang="en-US" sz="2400" b="1" i="0" smtClean="0">
                                  <a:effectLst/>
                                  <a:latin typeface="Cambria Math" panose="02040503050406030204" pitchFamily="18" charset="0"/>
                                  <a:ea typeface="SimSun" panose="02010600030101010101" pitchFamily="2" charset="-122"/>
                                </a:rPr>
                                <m:t> </m:t>
                              </m:r>
                            </m:oMath>
                          </a14:m>
                          <a:endParaRPr lang="en-US" sz="2400" b="1" i="0" dirty="0">
                            <a:effectLst/>
                            <a:latin typeface="Cambria Math" panose="02040503050406030204" pitchFamily="18" charset="0"/>
                            <a:ea typeface="SimSun" panose="02010600030101010101" pitchFamily="2" charset="-122"/>
                          </a:endParaRPr>
                        </a:p>
                        <a:p>
                          <a:pPr marL="0" marR="0" algn="ctr">
                            <a:buNone/>
                          </a:pPr>
                          <a14:m>
                            <m:oMath xmlns:m="http://schemas.openxmlformats.org/officeDocument/2006/math">
                              <m:r>
                                <a:rPr lang="en-US" sz="2400" b="1" i="0" smtClean="0">
                                  <a:effectLst/>
                                  <a:latin typeface="Cambria Math" panose="02040503050406030204" pitchFamily="18" charset="0"/>
                                  <a:ea typeface="SimSun" panose="02010600030101010101" pitchFamily="2" charset="-122"/>
                                </a:rPr>
                                <m:t>(</m:t>
                              </m:r>
                            </m:oMath>
                          </a14:m>
                          <a:r>
                            <a:rPr lang="en-US" sz="2400" b="1" i="0" dirty="0">
                              <a:effectLst/>
                              <a:latin typeface="+mn-lt"/>
                              <a:ea typeface="SimSun" panose="02010600030101010101" pitchFamily="2" charset="-122"/>
                            </a:rPr>
                            <a:t>× more efficient)</a:t>
                          </a:r>
                        </a:p>
                      </a:txBody>
                      <a:tcPr marL="68580" marR="68580" marT="0" marB="0" anchor="ctr"/>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MAE</a:t>
                          </a:r>
                        </a:p>
                      </a:txBody>
                      <a:tcPr marL="68580" marR="68580" marT="0" marB="0"/>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RMSE</a:t>
                          </a:r>
                        </a:p>
                      </a:txBody>
                      <a:tcPr marL="68580" marR="68580" marT="0" marB="0"/>
                    </a:tc>
                    <a:extLst>
                      <a:ext uri="{0D108BD9-81ED-4DB2-BD59-A6C34878D82A}">
                        <a16:rowId xmlns:a16="http://schemas.microsoft.com/office/drawing/2014/main" val="1184997548"/>
                      </a:ext>
                    </a:extLst>
                  </a:tr>
                  <a:tr h="518393">
                    <a:tc>
                      <a:txBody>
                        <a:bodyPr/>
                        <a:lstStyle/>
                        <a:p>
                          <a:pPr marL="0" marR="0" algn="just">
                            <a:buNone/>
                          </a:pPr>
                          <a:r>
                            <a:rPr lang="en-US" sz="2400">
                              <a:effectLst/>
                              <a:latin typeface="+mn-lt"/>
                              <a:ea typeface="SimSun" panose="02010600030101010101" pitchFamily="2" charset="-122"/>
                            </a:rPr>
                            <a:t>RingSNN</a:t>
                          </a:r>
                        </a:p>
                      </a:txBody>
                      <a:tcPr marL="68580" marR="68580" marT="0" marB="0" anchor="ctr"/>
                    </a:tc>
                    <a:tc>
                      <a:txBody>
                        <a:bodyPr/>
                        <a:lstStyle/>
                        <a:p>
                          <a:pPr marL="0" marR="0" algn="just">
                            <a:buNone/>
                          </a:pPr>
                          <a:r>
                            <a:rPr lang="en-US" sz="2400" dirty="0">
                              <a:effectLst/>
                              <a:latin typeface="+mn-lt"/>
                              <a:ea typeface="SimSun" panose="02010600030101010101" pitchFamily="2" charset="-122"/>
                            </a:rPr>
                            <a:t>1575.14</a:t>
                          </a:r>
                        </a:p>
                      </a:txBody>
                      <a:tcPr marL="68580" marR="68580" marT="0" marB="0" anchor="ctr"/>
                    </a:tc>
                    <a:tc>
                      <a:txBody>
                        <a:bodyPr/>
                        <a:lstStyle/>
                        <a:p>
                          <a:pPr marL="0" marR="0" algn="ctr">
                            <a:buNone/>
                          </a:pPr>
                          <a:r>
                            <a:rPr lang="en-US" sz="2400">
                              <a:effectLst/>
                              <a:latin typeface="+mn-lt"/>
                              <a:ea typeface="SimSun" panose="02010600030101010101" pitchFamily="2" charset="-122"/>
                            </a:rPr>
                            <a:t>1.00 (baseline)</a:t>
                          </a:r>
                        </a:p>
                      </a:txBody>
                      <a:tcPr marL="68580" marR="68580" marT="0" marB="0" anchor="ctr"/>
                    </a:tc>
                    <a:tc>
                      <a:txBody>
                        <a:bodyPr/>
                        <a:lstStyle/>
                        <a:p>
                          <a:pPr marL="0" marR="0" algn="ctr">
                            <a:buNone/>
                          </a:pPr>
                          <a:r>
                            <a:rPr lang="en-US" sz="2400">
                              <a:effectLst/>
                              <a:latin typeface="+mn-lt"/>
                              <a:ea typeface="SimSun" panose="02010600030101010101" pitchFamily="2" charset="-122"/>
                            </a:rPr>
                            <a:t>0.2540</a:t>
                          </a:r>
                        </a:p>
                      </a:txBody>
                      <a:tcPr marL="68580" marR="68580" marT="0" marB="0"/>
                    </a:tc>
                    <a:tc>
                      <a:txBody>
                        <a:bodyPr/>
                        <a:lstStyle/>
                        <a:p>
                          <a:pPr marL="0" marR="0" algn="ctr">
                            <a:buNone/>
                          </a:pPr>
                          <a:r>
                            <a:rPr lang="en-US" sz="2400">
                              <a:effectLst/>
                              <a:latin typeface="+mn-lt"/>
                              <a:ea typeface="SimSun" panose="02010600030101010101" pitchFamily="2" charset="-122"/>
                            </a:rPr>
                            <a:t>0.2540</a:t>
                          </a:r>
                        </a:p>
                      </a:txBody>
                      <a:tcPr marL="68580" marR="68580" marT="0" marB="0"/>
                    </a:tc>
                    <a:extLst>
                      <a:ext uri="{0D108BD9-81ED-4DB2-BD59-A6C34878D82A}">
                        <a16:rowId xmlns:a16="http://schemas.microsoft.com/office/drawing/2014/main" val="437224419"/>
                      </a:ext>
                    </a:extLst>
                  </a:tr>
                  <a:tr h="402295">
                    <a:tc>
                      <a:txBody>
                        <a:bodyPr/>
                        <a:lstStyle/>
                        <a:p>
                          <a:pPr marL="0" marR="0" algn="just">
                            <a:buNone/>
                          </a:pPr>
                          <a:r>
                            <a:rPr lang="en-US" sz="2400" dirty="0">
                              <a:effectLst/>
                              <a:latin typeface="+mn-lt"/>
                              <a:ea typeface="SimSun" panose="02010600030101010101" pitchFamily="2" charset="-122"/>
                            </a:rPr>
                            <a:t>CNN</a:t>
                          </a:r>
                        </a:p>
                      </a:txBody>
                      <a:tcPr marL="68580" marR="68580" marT="0" marB="0" anchor="ctr"/>
                    </a:tc>
                    <a:tc>
                      <a:txBody>
                        <a:bodyPr/>
                        <a:lstStyle/>
                        <a:p>
                          <a:pPr marL="0" marR="0" algn="just">
                            <a:buNone/>
                          </a:pPr>
                          <a:r>
                            <a:rPr lang="en-US" sz="2400">
                              <a:effectLst/>
                              <a:latin typeface="+mn-lt"/>
                              <a:ea typeface="SimSun" panose="02010600030101010101" pitchFamily="2" charset="-122"/>
                            </a:rPr>
                            <a:t>11843.09</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a:effectLst/>
                              <a:latin typeface="+mn-lt"/>
                              <a:ea typeface="SimSun" panose="02010600030101010101" pitchFamily="2" charset="-122"/>
                            </a:rPr>
                            <a:t>7.52</a:t>
                          </a:r>
                        </a:p>
                      </a:txBody>
                      <a:tcPr marL="68580" marR="68580" marT="0" marB="0" anchor="ctr"/>
                    </a:tc>
                    <a:tc>
                      <a:txBody>
                        <a:bodyPr/>
                        <a:lstStyle/>
                        <a:p>
                          <a:pPr marL="0" marR="0" algn="ctr">
                            <a:buNone/>
                          </a:pPr>
                          <a:r>
                            <a:rPr lang="en-US" sz="2400" dirty="0">
                              <a:effectLst/>
                              <a:latin typeface="+mn-lt"/>
                              <a:ea typeface="SimSun" panose="02010600030101010101" pitchFamily="2" charset="-122"/>
                            </a:rPr>
                            <a:t>0.07973</a:t>
                          </a:r>
                        </a:p>
                      </a:txBody>
                      <a:tcPr marL="68580" marR="68580" marT="0" marB="0"/>
                    </a:tc>
                    <a:tc>
                      <a:txBody>
                        <a:bodyPr/>
                        <a:lstStyle/>
                        <a:p>
                          <a:pPr marL="0" marR="0" algn="ctr">
                            <a:buNone/>
                          </a:pPr>
                          <a:r>
                            <a:rPr lang="en-US" sz="2400" dirty="0">
                              <a:effectLst/>
                              <a:latin typeface="+mn-lt"/>
                              <a:ea typeface="SimSun" panose="02010600030101010101" pitchFamily="2" charset="-122"/>
                            </a:rPr>
                            <a:t>0.1053</a:t>
                          </a:r>
                        </a:p>
                      </a:txBody>
                      <a:tcPr marL="68580" marR="68580" marT="0" marB="0"/>
                    </a:tc>
                    <a:extLst>
                      <a:ext uri="{0D108BD9-81ED-4DB2-BD59-A6C34878D82A}">
                        <a16:rowId xmlns:a16="http://schemas.microsoft.com/office/drawing/2014/main" val="1992113738"/>
                      </a:ext>
                    </a:extLst>
                  </a:tr>
                  <a:tr h="594001">
                    <a:tc>
                      <a:txBody>
                        <a:bodyPr/>
                        <a:lstStyle/>
                        <a:p>
                          <a:pPr marL="0" marR="0" algn="just">
                            <a:buNone/>
                          </a:pPr>
                          <a:r>
                            <a:rPr lang="en-US" sz="2400">
                              <a:effectLst/>
                              <a:latin typeface="+mn-lt"/>
                              <a:ea typeface="SimSun" panose="02010600030101010101" pitchFamily="2" charset="-122"/>
                            </a:rPr>
                            <a:t>LSTM</a:t>
                          </a:r>
                        </a:p>
                      </a:txBody>
                      <a:tcPr marL="68580" marR="68580" marT="0" marB="0" anchor="ctr"/>
                    </a:tc>
                    <a:tc>
                      <a:txBody>
                        <a:bodyPr/>
                        <a:lstStyle/>
                        <a:p>
                          <a:pPr marL="0" marR="0" algn="just">
                            <a:buNone/>
                          </a:pPr>
                          <a:r>
                            <a:rPr lang="en-US" sz="2400">
                              <a:effectLst/>
                              <a:latin typeface="+mn-lt"/>
                              <a:ea typeface="SimSun" panose="02010600030101010101" pitchFamily="2" charset="-122"/>
                            </a:rPr>
                            <a:t>12115.87</a:t>
                          </a:r>
                        </a:p>
                      </a:txBody>
                      <a:tcPr marL="68580" marR="68580" marT="0" marB="0" anchor="ctr"/>
                    </a:tc>
                    <a:tc>
                      <a:txBody>
                        <a:bodyPr/>
                        <a:lstStyle/>
                        <a:p>
                          <a:pPr marL="0" marR="0" algn="ctr">
                            <a:buNone/>
                          </a:pPr>
                          <a:r>
                            <a:rPr lang="en-US" sz="2400" dirty="0">
                              <a:effectLst/>
                              <a:latin typeface="+mn-lt"/>
                              <a:ea typeface="SimSun" panose="02010600030101010101" pitchFamily="2" charset="-122"/>
                            </a:rPr>
                            <a:t>7.69</a:t>
                          </a:r>
                        </a:p>
                      </a:txBody>
                      <a:tcPr marL="68580" marR="68580" marT="0" marB="0" anchor="ctr"/>
                    </a:tc>
                    <a:tc>
                      <a:txBody>
                        <a:bodyPr/>
                        <a:lstStyle/>
                        <a:p>
                          <a:pPr marL="0" marR="0" algn="ctr">
                            <a:buNone/>
                          </a:pPr>
                          <a:r>
                            <a:rPr lang="en-US" sz="2400">
                              <a:effectLst/>
                              <a:latin typeface="+mn-lt"/>
                              <a:ea typeface="SimSun" panose="02010600030101010101" pitchFamily="2" charset="-122"/>
                            </a:rPr>
                            <a:t>0.07521</a:t>
                          </a:r>
                        </a:p>
                      </a:txBody>
                      <a:tcPr marL="68580" marR="68580" marT="0" marB="0"/>
                    </a:tc>
                    <a:tc>
                      <a:txBody>
                        <a:bodyPr/>
                        <a:lstStyle/>
                        <a:p>
                          <a:pPr marL="0" marR="0" algn="ctr">
                            <a:buNone/>
                          </a:pPr>
                          <a:r>
                            <a:rPr lang="en-US" sz="2400" dirty="0">
                              <a:effectLst/>
                              <a:latin typeface="+mn-lt"/>
                              <a:ea typeface="SimSun" panose="02010600030101010101" pitchFamily="2" charset="-122"/>
                            </a:rPr>
                            <a:t>0.09744</a:t>
                          </a:r>
                        </a:p>
                      </a:txBody>
                      <a:tcPr marL="68580" marR="68580" marT="0" marB="0"/>
                    </a:tc>
                    <a:extLst>
                      <a:ext uri="{0D108BD9-81ED-4DB2-BD59-A6C34878D82A}">
                        <a16:rowId xmlns:a16="http://schemas.microsoft.com/office/drawing/2014/main" val="893138968"/>
                      </a:ext>
                    </a:extLst>
                  </a:tr>
                  <a:tr h="558000">
                    <a:tc>
                      <a:txBody>
                        <a:bodyPr/>
                        <a:lstStyle/>
                        <a:p>
                          <a:pPr marL="0" marR="0" algn="just">
                            <a:buNone/>
                          </a:pPr>
                          <a:r>
                            <a:rPr lang="en-US" sz="2400">
                              <a:effectLst/>
                              <a:latin typeface="+mn-lt"/>
                              <a:ea typeface="SimSun" panose="02010600030101010101" pitchFamily="2" charset="-122"/>
                            </a:rPr>
                            <a:t>GRU</a:t>
                          </a:r>
                        </a:p>
                      </a:txBody>
                      <a:tcPr marL="68580" marR="68580" marT="0" marB="0" anchor="ctr"/>
                    </a:tc>
                    <a:tc>
                      <a:txBody>
                        <a:bodyPr/>
                        <a:lstStyle/>
                        <a:p>
                          <a:pPr marL="0" marR="0" algn="just">
                            <a:buNone/>
                          </a:pPr>
                          <a:r>
                            <a:rPr lang="en-US" sz="2400">
                              <a:effectLst/>
                              <a:latin typeface="+mn-lt"/>
                              <a:ea typeface="SimSun" panose="02010600030101010101" pitchFamily="2" charset="-122"/>
                            </a:rPr>
                            <a:t>15806.98</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a:effectLst/>
                              <a:latin typeface="+mn-lt"/>
                              <a:ea typeface="SimSun" panose="02010600030101010101" pitchFamily="2" charset="-122"/>
                            </a:rPr>
                            <a:t>10.04 </a:t>
                          </a:r>
                        </a:p>
                      </a:txBody>
                      <a:tcPr marL="68580" marR="68580" marT="0" marB="0" anchor="ctr"/>
                    </a:tc>
                    <a:tc>
                      <a:txBody>
                        <a:bodyPr/>
                        <a:lstStyle/>
                        <a:p>
                          <a:pPr marL="0" marR="0" algn="ctr">
                            <a:buNone/>
                          </a:pPr>
                          <a:r>
                            <a:rPr lang="en-US" sz="2400">
                              <a:effectLst/>
                              <a:latin typeface="+mn-lt"/>
                              <a:ea typeface="SimSun" panose="02010600030101010101" pitchFamily="2" charset="-122"/>
                            </a:rPr>
                            <a:t>0.08132</a:t>
                          </a:r>
                          <a:endParaRPr lang="en-US" sz="2400" dirty="0">
                            <a:effectLst/>
                            <a:latin typeface="+mn-lt"/>
                            <a:ea typeface="SimSun" panose="02010600030101010101" pitchFamily="2" charset="-122"/>
                          </a:endParaRPr>
                        </a:p>
                      </a:txBody>
                      <a:tcPr marL="68580" marR="68580" marT="0" marB="0"/>
                    </a:tc>
                    <a:tc>
                      <a:txBody>
                        <a:bodyPr/>
                        <a:lstStyle/>
                        <a:p>
                          <a:pPr marL="0" marR="0" algn="ctr">
                            <a:buNone/>
                          </a:pPr>
                          <a:r>
                            <a:rPr lang="en-US" sz="2400" dirty="0">
                              <a:effectLst/>
                              <a:latin typeface="+mn-lt"/>
                              <a:ea typeface="SimSun" panose="02010600030101010101" pitchFamily="2" charset="-122"/>
                            </a:rPr>
                            <a:t>0.1030</a:t>
                          </a:r>
                        </a:p>
                      </a:txBody>
                      <a:tcPr marL="68580" marR="68580" marT="0" marB="0"/>
                    </a:tc>
                    <a:extLst>
                      <a:ext uri="{0D108BD9-81ED-4DB2-BD59-A6C34878D82A}">
                        <a16:rowId xmlns:a16="http://schemas.microsoft.com/office/drawing/2014/main" val="2841151959"/>
                      </a:ext>
                    </a:extLst>
                  </a:tr>
                  <a:tr h="376174">
                    <a:tc>
                      <a:txBody>
                        <a:bodyPr/>
                        <a:lstStyle/>
                        <a:p>
                          <a:pPr marL="0" marR="0" algn="just">
                            <a:buNone/>
                          </a:pPr>
                          <a:r>
                            <a:rPr lang="en-US" sz="2400">
                              <a:effectLst/>
                              <a:latin typeface="+mn-lt"/>
                              <a:ea typeface="SimSun" panose="02010600030101010101" pitchFamily="2" charset="-122"/>
                            </a:rPr>
                            <a:t>CNN-LSTM</a:t>
                          </a:r>
                        </a:p>
                      </a:txBody>
                      <a:tcPr marL="68580" marR="68580" marT="0" marB="0" anchor="ctr"/>
                    </a:tc>
                    <a:tc>
                      <a:txBody>
                        <a:bodyPr/>
                        <a:lstStyle/>
                        <a:p>
                          <a:pPr marL="0" marR="0" algn="just">
                            <a:buNone/>
                          </a:pPr>
                          <a:r>
                            <a:rPr lang="en-US" sz="2400">
                              <a:effectLst/>
                              <a:latin typeface="+mn-lt"/>
                              <a:ea typeface="SimSun" panose="02010600030101010101" pitchFamily="2" charset="-122"/>
                            </a:rPr>
                            <a:t>18001.19</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a:effectLst/>
                              <a:latin typeface="+mn-lt"/>
                              <a:ea typeface="SimSun" panose="02010600030101010101" pitchFamily="2" charset="-122"/>
                            </a:rPr>
                            <a:t>11.43</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a:effectLst/>
                              <a:latin typeface="+mn-lt"/>
                              <a:ea typeface="SimSun" panose="02010600030101010101" pitchFamily="2" charset="-122"/>
                            </a:rPr>
                            <a:t>0.08728</a:t>
                          </a:r>
                          <a:endParaRPr lang="en-US" sz="2400" dirty="0">
                            <a:effectLst/>
                            <a:latin typeface="+mn-lt"/>
                            <a:ea typeface="SimSun" panose="02010600030101010101" pitchFamily="2" charset="-122"/>
                          </a:endParaRPr>
                        </a:p>
                      </a:txBody>
                      <a:tcPr marL="68580" marR="68580" marT="0" marB="0"/>
                    </a:tc>
                    <a:tc>
                      <a:txBody>
                        <a:bodyPr/>
                        <a:lstStyle/>
                        <a:p>
                          <a:pPr marL="0" marR="0" algn="ctr">
                            <a:buNone/>
                          </a:pPr>
                          <a:r>
                            <a:rPr lang="en-US" sz="2400" dirty="0">
                              <a:effectLst/>
                              <a:latin typeface="+mn-lt"/>
                              <a:ea typeface="SimSun" panose="02010600030101010101" pitchFamily="2" charset="-122"/>
                            </a:rPr>
                            <a:t>0.1018</a:t>
                          </a:r>
                        </a:p>
                      </a:txBody>
                      <a:tcPr marL="68580" marR="68580" marT="0" marB="0"/>
                    </a:tc>
                    <a:extLst>
                      <a:ext uri="{0D108BD9-81ED-4DB2-BD59-A6C34878D82A}">
                        <a16:rowId xmlns:a16="http://schemas.microsoft.com/office/drawing/2014/main" val="3665453127"/>
                      </a:ext>
                    </a:extLst>
                  </a:tr>
                </a:tbl>
              </a:graphicData>
            </a:graphic>
          </p:graphicFrame>
        </mc:Choice>
        <mc:Fallback xmlns="">
          <p:graphicFrame>
            <p:nvGraphicFramePr>
              <p:cNvPr id="5" name="Table 4">
                <a:extLst>
                  <a:ext uri="{FF2B5EF4-FFF2-40B4-BE49-F238E27FC236}">
                    <a16:creationId xmlns:a16="http://schemas.microsoft.com/office/drawing/2014/main" id="{C889AE5B-455C-30E6-F712-C6F5C0EF3EEF}"/>
                  </a:ext>
                </a:extLst>
              </p:cNvPr>
              <p:cNvGraphicFramePr>
                <a:graphicFrameLocks noGrp="1"/>
              </p:cNvGraphicFramePr>
              <p:nvPr>
                <p:extLst>
                  <p:ext uri="{D42A27DB-BD31-4B8C-83A1-F6EECF244321}">
                    <p14:modId xmlns:p14="http://schemas.microsoft.com/office/powerpoint/2010/main" val="591124883"/>
                  </p:ext>
                </p:extLst>
              </p:nvPr>
            </p:nvGraphicFramePr>
            <p:xfrm>
              <a:off x="1593497" y="1923950"/>
              <a:ext cx="9005003" cy="3546143"/>
            </p:xfrm>
            <a:graphic>
              <a:graphicData uri="http://schemas.openxmlformats.org/drawingml/2006/table">
                <a:tbl>
                  <a:tblPr firstRow="1" bandRow="1">
                    <a:tableStyleId>{5C22544A-7EE6-4342-B048-85BDC9FD1C3A}</a:tableStyleId>
                  </a:tblPr>
                  <a:tblGrid>
                    <a:gridCol w="1582784">
                      <a:extLst>
                        <a:ext uri="{9D8B030D-6E8A-4147-A177-3AD203B41FA5}">
                          <a16:colId xmlns:a16="http://schemas.microsoft.com/office/drawing/2014/main" val="4195027135"/>
                        </a:ext>
                      </a:extLst>
                    </a:gridCol>
                    <a:gridCol w="2178535">
                      <a:extLst>
                        <a:ext uri="{9D8B030D-6E8A-4147-A177-3AD203B41FA5}">
                          <a16:colId xmlns:a16="http://schemas.microsoft.com/office/drawing/2014/main" val="2827351159"/>
                        </a:ext>
                      </a:extLst>
                    </a:gridCol>
                    <a:gridCol w="2749904">
                      <a:extLst>
                        <a:ext uri="{9D8B030D-6E8A-4147-A177-3AD203B41FA5}">
                          <a16:colId xmlns:a16="http://schemas.microsoft.com/office/drawing/2014/main" val="2882725835"/>
                        </a:ext>
                      </a:extLst>
                    </a:gridCol>
                    <a:gridCol w="1290519">
                      <a:extLst>
                        <a:ext uri="{9D8B030D-6E8A-4147-A177-3AD203B41FA5}">
                          <a16:colId xmlns:a16="http://schemas.microsoft.com/office/drawing/2014/main" val="3444303270"/>
                        </a:ext>
                      </a:extLst>
                    </a:gridCol>
                    <a:gridCol w="1203261">
                      <a:extLst>
                        <a:ext uri="{9D8B030D-6E8A-4147-A177-3AD203B41FA5}">
                          <a16:colId xmlns:a16="http://schemas.microsoft.com/office/drawing/2014/main" val="3986792574"/>
                        </a:ext>
                      </a:extLst>
                    </a:gridCol>
                  </a:tblGrid>
                  <a:tr h="1097280">
                    <a:tc>
                      <a:txBody>
                        <a:bodyPr/>
                        <a:lstStyle/>
                        <a:p>
                          <a:pPr marL="0" marR="0" algn="ctr">
                            <a:buNone/>
                          </a:pPr>
                          <a:r>
                            <a:rPr lang="en-US" sz="2400" b="1" dirty="0">
                              <a:effectLst/>
                              <a:latin typeface="+mn-lt"/>
                              <a:ea typeface="SimSun" panose="02010600030101010101" pitchFamily="2" charset="-122"/>
                            </a:rPr>
                            <a:t>Model</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Energy per sample (µJ/sample)</a:t>
                          </a:r>
                        </a:p>
                      </a:txBody>
                      <a:tcPr marL="68580" marR="68580" marT="0" marB="0" anchor="ctr"/>
                    </a:tc>
                    <a:tc>
                      <a:txBody>
                        <a:bodyPr/>
                        <a:lstStyle/>
                        <a:p>
                          <a:endParaRPr lang="en-US"/>
                        </a:p>
                      </a:txBody>
                      <a:tcPr marL="68580" marR="68580" marT="0" marB="0" anchor="ctr">
                        <a:blipFill>
                          <a:blip r:embed="rId3"/>
                          <a:stretch>
                            <a:fillRect l="-136726" t="-8333" r="-91372" b="-240000"/>
                          </a:stretch>
                        </a:blipFill>
                      </a:tcPr>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MAE</a:t>
                          </a:r>
                        </a:p>
                      </a:txBody>
                      <a:tcPr marL="68580" marR="68580" marT="0" marB="0"/>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RMSE</a:t>
                          </a:r>
                        </a:p>
                      </a:txBody>
                      <a:tcPr marL="68580" marR="68580" marT="0" marB="0"/>
                    </a:tc>
                    <a:extLst>
                      <a:ext uri="{0D108BD9-81ED-4DB2-BD59-A6C34878D82A}">
                        <a16:rowId xmlns:a16="http://schemas.microsoft.com/office/drawing/2014/main" val="1184997548"/>
                      </a:ext>
                    </a:extLst>
                  </a:tr>
                  <a:tr h="518393">
                    <a:tc>
                      <a:txBody>
                        <a:bodyPr/>
                        <a:lstStyle/>
                        <a:p>
                          <a:pPr marL="0" marR="0" algn="just">
                            <a:buNone/>
                          </a:pPr>
                          <a:r>
                            <a:rPr lang="en-US" sz="2400">
                              <a:effectLst/>
                              <a:latin typeface="+mn-lt"/>
                              <a:ea typeface="SimSun" panose="02010600030101010101" pitchFamily="2" charset="-122"/>
                            </a:rPr>
                            <a:t>RingSNN</a:t>
                          </a:r>
                        </a:p>
                      </a:txBody>
                      <a:tcPr marL="68580" marR="68580" marT="0" marB="0" anchor="ctr"/>
                    </a:tc>
                    <a:tc>
                      <a:txBody>
                        <a:bodyPr/>
                        <a:lstStyle/>
                        <a:p>
                          <a:pPr marL="0" marR="0" algn="just">
                            <a:buNone/>
                          </a:pPr>
                          <a:r>
                            <a:rPr lang="en-US" sz="2400" dirty="0">
                              <a:effectLst/>
                              <a:latin typeface="+mn-lt"/>
                              <a:ea typeface="SimSun" panose="02010600030101010101" pitchFamily="2" charset="-122"/>
                            </a:rPr>
                            <a:t>1575.14</a:t>
                          </a:r>
                        </a:p>
                      </a:txBody>
                      <a:tcPr marL="68580" marR="68580" marT="0" marB="0" anchor="ctr"/>
                    </a:tc>
                    <a:tc>
                      <a:txBody>
                        <a:bodyPr/>
                        <a:lstStyle/>
                        <a:p>
                          <a:pPr marL="0" marR="0" algn="ctr">
                            <a:buNone/>
                          </a:pPr>
                          <a:r>
                            <a:rPr lang="en-US" sz="2400">
                              <a:effectLst/>
                              <a:latin typeface="+mn-lt"/>
                              <a:ea typeface="SimSun" panose="02010600030101010101" pitchFamily="2" charset="-122"/>
                            </a:rPr>
                            <a:t>1.00 (baseline)</a:t>
                          </a:r>
                        </a:p>
                      </a:txBody>
                      <a:tcPr marL="68580" marR="68580" marT="0" marB="0" anchor="ctr"/>
                    </a:tc>
                    <a:tc>
                      <a:txBody>
                        <a:bodyPr/>
                        <a:lstStyle/>
                        <a:p>
                          <a:pPr marL="0" marR="0" algn="ctr">
                            <a:buNone/>
                          </a:pPr>
                          <a:r>
                            <a:rPr lang="en-US" sz="2400">
                              <a:effectLst/>
                              <a:latin typeface="+mn-lt"/>
                              <a:ea typeface="SimSun" panose="02010600030101010101" pitchFamily="2" charset="-122"/>
                            </a:rPr>
                            <a:t>0.2540</a:t>
                          </a:r>
                        </a:p>
                      </a:txBody>
                      <a:tcPr marL="68580" marR="68580" marT="0" marB="0"/>
                    </a:tc>
                    <a:tc>
                      <a:txBody>
                        <a:bodyPr/>
                        <a:lstStyle/>
                        <a:p>
                          <a:pPr marL="0" marR="0" algn="ctr">
                            <a:buNone/>
                          </a:pPr>
                          <a:r>
                            <a:rPr lang="en-US" sz="2400">
                              <a:effectLst/>
                              <a:latin typeface="+mn-lt"/>
                              <a:ea typeface="SimSun" panose="02010600030101010101" pitchFamily="2" charset="-122"/>
                            </a:rPr>
                            <a:t>0.2540</a:t>
                          </a:r>
                        </a:p>
                      </a:txBody>
                      <a:tcPr marL="68580" marR="68580" marT="0" marB="0"/>
                    </a:tc>
                    <a:extLst>
                      <a:ext uri="{0D108BD9-81ED-4DB2-BD59-A6C34878D82A}">
                        <a16:rowId xmlns:a16="http://schemas.microsoft.com/office/drawing/2014/main" val="437224419"/>
                      </a:ext>
                    </a:extLst>
                  </a:tr>
                  <a:tr h="402295">
                    <a:tc>
                      <a:txBody>
                        <a:bodyPr/>
                        <a:lstStyle/>
                        <a:p>
                          <a:pPr marL="0" marR="0" algn="just">
                            <a:buNone/>
                          </a:pPr>
                          <a:r>
                            <a:rPr lang="en-US" sz="2400" dirty="0">
                              <a:effectLst/>
                              <a:latin typeface="+mn-lt"/>
                              <a:ea typeface="SimSun" panose="02010600030101010101" pitchFamily="2" charset="-122"/>
                            </a:rPr>
                            <a:t>CNN</a:t>
                          </a:r>
                        </a:p>
                      </a:txBody>
                      <a:tcPr marL="68580" marR="68580" marT="0" marB="0" anchor="ctr"/>
                    </a:tc>
                    <a:tc>
                      <a:txBody>
                        <a:bodyPr/>
                        <a:lstStyle/>
                        <a:p>
                          <a:pPr marL="0" marR="0" algn="just">
                            <a:buNone/>
                          </a:pPr>
                          <a:r>
                            <a:rPr lang="en-US" sz="2400">
                              <a:effectLst/>
                              <a:latin typeface="+mn-lt"/>
                              <a:ea typeface="SimSun" panose="02010600030101010101" pitchFamily="2" charset="-122"/>
                            </a:rPr>
                            <a:t>11843.09</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a:effectLst/>
                              <a:latin typeface="+mn-lt"/>
                              <a:ea typeface="SimSun" panose="02010600030101010101" pitchFamily="2" charset="-122"/>
                            </a:rPr>
                            <a:t>7.52</a:t>
                          </a:r>
                        </a:p>
                      </a:txBody>
                      <a:tcPr marL="68580" marR="68580" marT="0" marB="0" anchor="ctr"/>
                    </a:tc>
                    <a:tc>
                      <a:txBody>
                        <a:bodyPr/>
                        <a:lstStyle/>
                        <a:p>
                          <a:pPr marL="0" marR="0" algn="ctr">
                            <a:buNone/>
                          </a:pPr>
                          <a:r>
                            <a:rPr lang="en-US" sz="2400" dirty="0">
                              <a:effectLst/>
                              <a:latin typeface="+mn-lt"/>
                              <a:ea typeface="SimSun" panose="02010600030101010101" pitchFamily="2" charset="-122"/>
                            </a:rPr>
                            <a:t>0.07973</a:t>
                          </a:r>
                        </a:p>
                      </a:txBody>
                      <a:tcPr marL="68580" marR="68580" marT="0" marB="0"/>
                    </a:tc>
                    <a:tc>
                      <a:txBody>
                        <a:bodyPr/>
                        <a:lstStyle/>
                        <a:p>
                          <a:pPr marL="0" marR="0" algn="ctr">
                            <a:buNone/>
                          </a:pPr>
                          <a:r>
                            <a:rPr lang="en-US" sz="2400" dirty="0">
                              <a:effectLst/>
                              <a:latin typeface="+mn-lt"/>
                              <a:ea typeface="SimSun" panose="02010600030101010101" pitchFamily="2" charset="-122"/>
                            </a:rPr>
                            <a:t>0.1053</a:t>
                          </a:r>
                        </a:p>
                      </a:txBody>
                      <a:tcPr marL="68580" marR="68580" marT="0" marB="0"/>
                    </a:tc>
                    <a:extLst>
                      <a:ext uri="{0D108BD9-81ED-4DB2-BD59-A6C34878D82A}">
                        <a16:rowId xmlns:a16="http://schemas.microsoft.com/office/drawing/2014/main" val="1992113738"/>
                      </a:ext>
                    </a:extLst>
                  </a:tr>
                  <a:tr h="594001">
                    <a:tc>
                      <a:txBody>
                        <a:bodyPr/>
                        <a:lstStyle/>
                        <a:p>
                          <a:pPr marL="0" marR="0" algn="just">
                            <a:buNone/>
                          </a:pPr>
                          <a:r>
                            <a:rPr lang="en-US" sz="2400">
                              <a:effectLst/>
                              <a:latin typeface="+mn-lt"/>
                              <a:ea typeface="SimSun" panose="02010600030101010101" pitchFamily="2" charset="-122"/>
                            </a:rPr>
                            <a:t>LSTM</a:t>
                          </a:r>
                        </a:p>
                      </a:txBody>
                      <a:tcPr marL="68580" marR="68580" marT="0" marB="0" anchor="ctr"/>
                    </a:tc>
                    <a:tc>
                      <a:txBody>
                        <a:bodyPr/>
                        <a:lstStyle/>
                        <a:p>
                          <a:pPr marL="0" marR="0" algn="just">
                            <a:buNone/>
                          </a:pPr>
                          <a:r>
                            <a:rPr lang="en-US" sz="2400">
                              <a:effectLst/>
                              <a:latin typeface="+mn-lt"/>
                              <a:ea typeface="SimSun" panose="02010600030101010101" pitchFamily="2" charset="-122"/>
                            </a:rPr>
                            <a:t>12115.87</a:t>
                          </a:r>
                        </a:p>
                      </a:txBody>
                      <a:tcPr marL="68580" marR="68580" marT="0" marB="0" anchor="ctr"/>
                    </a:tc>
                    <a:tc>
                      <a:txBody>
                        <a:bodyPr/>
                        <a:lstStyle/>
                        <a:p>
                          <a:pPr marL="0" marR="0" algn="ctr">
                            <a:buNone/>
                          </a:pPr>
                          <a:r>
                            <a:rPr lang="en-US" sz="2400" dirty="0">
                              <a:effectLst/>
                              <a:latin typeface="+mn-lt"/>
                              <a:ea typeface="SimSun" panose="02010600030101010101" pitchFamily="2" charset="-122"/>
                            </a:rPr>
                            <a:t>7.69</a:t>
                          </a:r>
                        </a:p>
                      </a:txBody>
                      <a:tcPr marL="68580" marR="68580" marT="0" marB="0" anchor="ctr"/>
                    </a:tc>
                    <a:tc>
                      <a:txBody>
                        <a:bodyPr/>
                        <a:lstStyle/>
                        <a:p>
                          <a:pPr marL="0" marR="0" algn="ctr">
                            <a:buNone/>
                          </a:pPr>
                          <a:r>
                            <a:rPr lang="en-US" sz="2400">
                              <a:effectLst/>
                              <a:latin typeface="+mn-lt"/>
                              <a:ea typeface="SimSun" panose="02010600030101010101" pitchFamily="2" charset="-122"/>
                            </a:rPr>
                            <a:t>0.07521</a:t>
                          </a:r>
                        </a:p>
                      </a:txBody>
                      <a:tcPr marL="68580" marR="68580" marT="0" marB="0"/>
                    </a:tc>
                    <a:tc>
                      <a:txBody>
                        <a:bodyPr/>
                        <a:lstStyle/>
                        <a:p>
                          <a:pPr marL="0" marR="0" algn="ctr">
                            <a:buNone/>
                          </a:pPr>
                          <a:r>
                            <a:rPr lang="en-US" sz="2400" dirty="0">
                              <a:effectLst/>
                              <a:latin typeface="+mn-lt"/>
                              <a:ea typeface="SimSun" panose="02010600030101010101" pitchFamily="2" charset="-122"/>
                            </a:rPr>
                            <a:t>0.09744</a:t>
                          </a:r>
                        </a:p>
                      </a:txBody>
                      <a:tcPr marL="68580" marR="68580" marT="0" marB="0"/>
                    </a:tc>
                    <a:extLst>
                      <a:ext uri="{0D108BD9-81ED-4DB2-BD59-A6C34878D82A}">
                        <a16:rowId xmlns:a16="http://schemas.microsoft.com/office/drawing/2014/main" val="893138968"/>
                      </a:ext>
                    </a:extLst>
                  </a:tr>
                  <a:tr h="558000">
                    <a:tc>
                      <a:txBody>
                        <a:bodyPr/>
                        <a:lstStyle/>
                        <a:p>
                          <a:pPr marL="0" marR="0" algn="just">
                            <a:buNone/>
                          </a:pPr>
                          <a:r>
                            <a:rPr lang="en-US" sz="2400">
                              <a:effectLst/>
                              <a:latin typeface="+mn-lt"/>
                              <a:ea typeface="SimSun" panose="02010600030101010101" pitchFamily="2" charset="-122"/>
                            </a:rPr>
                            <a:t>GRU</a:t>
                          </a:r>
                        </a:p>
                      </a:txBody>
                      <a:tcPr marL="68580" marR="68580" marT="0" marB="0" anchor="ctr"/>
                    </a:tc>
                    <a:tc>
                      <a:txBody>
                        <a:bodyPr/>
                        <a:lstStyle/>
                        <a:p>
                          <a:pPr marL="0" marR="0" algn="just">
                            <a:buNone/>
                          </a:pPr>
                          <a:r>
                            <a:rPr lang="en-US" sz="2400">
                              <a:effectLst/>
                              <a:latin typeface="+mn-lt"/>
                              <a:ea typeface="SimSun" panose="02010600030101010101" pitchFamily="2" charset="-122"/>
                            </a:rPr>
                            <a:t>15806.98</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a:effectLst/>
                              <a:latin typeface="+mn-lt"/>
                              <a:ea typeface="SimSun" panose="02010600030101010101" pitchFamily="2" charset="-122"/>
                            </a:rPr>
                            <a:t>10.04 </a:t>
                          </a:r>
                        </a:p>
                      </a:txBody>
                      <a:tcPr marL="68580" marR="68580" marT="0" marB="0" anchor="ctr"/>
                    </a:tc>
                    <a:tc>
                      <a:txBody>
                        <a:bodyPr/>
                        <a:lstStyle/>
                        <a:p>
                          <a:pPr marL="0" marR="0" algn="ctr">
                            <a:buNone/>
                          </a:pPr>
                          <a:r>
                            <a:rPr lang="en-US" sz="2400">
                              <a:effectLst/>
                              <a:latin typeface="+mn-lt"/>
                              <a:ea typeface="SimSun" panose="02010600030101010101" pitchFamily="2" charset="-122"/>
                            </a:rPr>
                            <a:t>0.08132</a:t>
                          </a:r>
                          <a:endParaRPr lang="en-US" sz="2400" dirty="0">
                            <a:effectLst/>
                            <a:latin typeface="+mn-lt"/>
                            <a:ea typeface="SimSun" panose="02010600030101010101" pitchFamily="2" charset="-122"/>
                          </a:endParaRPr>
                        </a:p>
                      </a:txBody>
                      <a:tcPr marL="68580" marR="68580" marT="0" marB="0"/>
                    </a:tc>
                    <a:tc>
                      <a:txBody>
                        <a:bodyPr/>
                        <a:lstStyle/>
                        <a:p>
                          <a:pPr marL="0" marR="0" algn="ctr">
                            <a:buNone/>
                          </a:pPr>
                          <a:r>
                            <a:rPr lang="en-US" sz="2400" dirty="0">
                              <a:effectLst/>
                              <a:latin typeface="+mn-lt"/>
                              <a:ea typeface="SimSun" panose="02010600030101010101" pitchFamily="2" charset="-122"/>
                            </a:rPr>
                            <a:t>0.1030</a:t>
                          </a:r>
                        </a:p>
                      </a:txBody>
                      <a:tcPr marL="68580" marR="68580" marT="0" marB="0"/>
                    </a:tc>
                    <a:extLst>
                      <a:ext uri="{0D108BD9-81ED-4DB2-BD59-A6C34878D82A}">
                        <a16:rowId xmlns:a16="http://schemas.microsoft.com/office/drawing/2014/main" val="2841151959"/>
                      </a:ext>
                    </a:extLst>
                  </a:tr>
                  <a:tr h="376174">
                    <a:tc>
                      <a:txBody>
                        <a:bodyPr/>
                        <a:lstStyle/>
                        <a:p>
                          <a:pPr marL="0" marR="0" algn="just">
                            <a:buNone/>
                          </a:pPr>
                          <a:r>
                            <a:rPr lang="en-US" sz="2400">
                              <a:effectLst/>
                              <a:latin typeface="+mn-lt"/>
                              <a:ea typeface="SimSun" panose="02010600030101010101" pitchFamily="2" charset="-122"/>
                            </a:rPr>
                            <a:t>CNN-LSTM</a:t>
                          </a:r>
                        </a:p>
                      </a:txBody>
                      <a:tcPr marL="68580" marR="68580" marT="0" marB="0" anchor="ctr"/>
                    </a:tc>
                    <a:tc>
                      <a:txBody>
                        <a:bodyPr/>
                        <a:lstStyle/>
                        <a:p>
                          <a:pPr marL="0" marR="0" algn="just">
                            <a:buNone/>
                          </a:pPr>
                          <a:r>
                            <a:rPr lang="en-US" sz="2400">
                              <a:effectLst/>
                              <a:latin typeface="+mn-lt"/>
                              <a:ea typeface="SimSun" panose="02010600030101010101" pitchFamily="2" charset="-122"/>
                            </a:rPr>
                            <a:t>18001.19</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a:effectLst/>
                              <a:latin typeface="+mn-lt"/>
                              <a:ea typeface="SimSun" panose="02010600030101010101" pitchFamily="2" charset="-122"/>
                            </a:rPr>
                            <a:t>11.43</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a:effectLst/>
                              <a:latin typeface="+mn-lt"/>
                              <a:ea typeface="SimSun" panose="02010600030101010101" pitchFamily="2" charset="-122"/>
                            </a:rPr>
                            <a:t>0.08728</a:t>
                          </a:r>
                          <a:endParaRPr lang="en-US" sz="2400" dirty="0">
                            <a:effectLst/>
                            <a:latin typeface="+mn-lt"/>
                            <a:ea typeface="SimSun" panose="02010600030101010101" pitchFamily="2" charset="-122"/>
                          </a:endParaRPr>
                        </a:p>
                      </a:txBody>
                      <a:tcPr marL="68580" marR="68580" marT="0" marB="0"/>
                    </a:tc>
                    <a:tc>
                      <a:txBody>
                        <a:bodyPr/>
                        <a:lstStyle/>
                        <a:p>
                          <a:pPr marL="0" marR="0" algn="ctr">
                            <a:buNone/>
                          </a:pPr>
                          <a:r>
                            <a:rPr lang="en-US" sz="2400" dirty="0">
                              <a:effectLst/>
                              <a:latin typeface="+mn-lt"/>
                              <a:ea typeface="SimSun" panose="02010600030101010101" pitchFamily="2" charset="-122"/>
                            </a:rPr>
                            <a:t>0.1018</a:t>
                          </a:r>
                        </a:p>
                      </a:txBody>
                      <a:tcPr marL="68580" marR="68580" marT="0" marB="0"/>
                    </a:tc>
                    <a:extLst>
                      <a:ext uri="{0D108BD9-81ED-4DB2-BD59-A6C34878D82A}">
                        <a16:rowId xmlns:a16="http://schemas.microsoft.com/office/drawing/2014/main" val="3665453127"/>
                      </a:ext>
                    </a:extLst>
                  </a:tr>
                </a:tbl>
              </a:graphicData>
            </a:graphic>
          </p:graphicFrame>
        </mc:Fallback>
      </mc:AlternateContent>
      <p:sp>
        <p:nvSpPr>
          <p:cNvPr id="6" name="TextBox 5">
            <a:extLst>
              <a:ext uri="{FF2B5EF4-FFF2-40B4-BE49-F238E27FC236}">
                <a16:creationId xmlns:a16="http://schemas.microsoft.com/office/drawing/2014/main" id="{2B7B0277-C8C1-A3C2-66E7-5672B39F6BB8}"/>
              </a:ext>
            </a:extLst>
          </p:cNvPr>
          <p:cNvSpPr txBox="1"/>
          <p:nvPr/>
        </p:nvSpPr>
        <p:spPr>
          <a:xfrm>
            <a:off x="1679357" y="1387907"/>
            <a:ext cx="8833285" cy="461665"/>
          </a:xfrm>
          <a:prstGeom prst="rect">
            <a:avLst/>
          </a:prstGeom>
          <a:noFill/>
        </p:spPr>
        <p:txBody>
          <a:bodyPr wrap="square" rtlCol="0">
            <a:spAutoFit/>
          </a:bodyPr>
          <a:lstStyle/>
          <a:p>
            <a:pPr algn="ctr"/>
            <a:r>
              <a:rPr lang="en-US" sz="2400" cap="small" dirty="0"/>
              <a:t>Monthly Sunspot Dataset</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32397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817F085B-B021-51AE-0741-60435AAA36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F4E97C-5CF5-5EDF-5585-759F5BCB7B4B}"/>
              </a:ext>
            </a:extLst>
          </p:cNvPr>
          <p:cNvSpPr>
            <a:spLocks noGrp="1"/>
          </p:cNvSpPr>
          <p:nvPr>
            <p:ph type="title"/>
          </p:nvPr>
        </p:nvSpPr>
        <p:spPr>
          <a:xfrm>
            <a:off x="411627" y="457200"/>
            <a:ext cx="9282907" cy="896025"/>
          </a:xfrm>
        </p:spPr>
        <p:txBody>
          <a:bodyPr/>
          <a:lstStyle/>
          <a:p>
            <a:r>
              <a:rPr lang="en-US" kern="100" dirty="0">
                <a:latin typeface="Calibri Light" panose="020F0302020204030204" pitchFamily="34" charset="0"/>
                <a:ea typeface="Calibri" panose="020F0502020204030204" pitchFamily="34" charset="0"/>
                <a:cs typeface="Calibri Light" panose="020F0302020204030204" pitchFamily="34" charset="0"/>
              </a:rPr>
              <a:t>Efficiency Ratio, Energy, MAE, and RMSE </a:t>
            </a:r>
            <a:endParaRPr lang="en-US" dirty="0">
              <a:latin typeface="Calibri Light" panose="020F0302020204030204" pitchFamily="34" charset="0"/>
              <a:cs typeface="Calibri Light" panose="020F0302020204030204" pitchFamily="34" charset="0"/>
            </a:endParaRPr>
          </a:p>
        </p:txBody>
      </p:sp>
      <p:sp>
        <p:nvSpPr>
          <p:cNvPr id="2" name="Rectangle 4">
            <a:extLst>
              <a:ext uri="{FF2B5EF4-FFF2-40B4-BE49-F238E27FC236}">
                <a16:creationId xmlns:a16="http://schemas.microsoft.com/office/drawing/2014/main" id="{82F537A5-7B5E-C7A5-ADA3-1273CF646E9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8F20784A-6F9C-E419-4BBD-8EB1870C39F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F4C78A89-7E18-3088-3720-56AD2FB3E725}"/>
                  </a:ext>
                </a:extLst>
              </p:cNvPr>
              <p:cNvGraphicFramePr>
                <a:graphicFrameLocks noGrp="1"/>
              </p:cNvGraphicFramePr>
              <p:nvPr>
                <p:extLst>
                  <p:ext uri="{D42A27DB-BD31-4B8C-83A1-F6EECF244321}">
                    <p14:modId xmlns:p14="http://schemas.microsoft.com/office/powerpoint/2010/main" val="21889653"/>
                  </p:ext>
                </p:extLst>
              </p:nvPr>
            </p:nvGraphicFramePr>
            <p:xfrm>
              <a:off x="1549244" y="1984178"/>
              <a:ext cx="9093505" cy="3068665"/>
            </p:xfrm>
            <a:graphic>
              <a:graphicData uri="http://schemas.openxmlformats.org/drawingml/2006/table">
                <a:tbl>
                  <a:tblPr firstRow="1" bandRow="1">
                    <a:tableStyleId>{5C22544A-7EE6-4342-B048-85BDC9FD1C3A}</a:tableStyleId>
                  </a:tblPr>
                  <a:tblGrid>
                    <a:gridCol w="1803357">
                      <a:extLst>
                        <a:ext uri="{9D8B030D-6E8A-4147-A177-3AD203B41FA5}">
                          <a16:colId xmlns:a16="http://schemas.microsoft.com/office/drawing/2014/main" val="4195027135"/>
                        </a:ext>
                      </a:extLst>
                    </a:gridCol>
                    <a:gridCol w="1903956">
                      <a:extLst>
                        <a:ext uri="{9D8B030D-6E8A-4147-A177-3AD203B41FA5}">
                          <a16:colId xmlns:a16="http://schemas.microsoft.com/office/drawing/2014/main" val="2827351159"/>
                        </a:ext>
                      </a:extLst>
                    </a:gridCol>
                    <a:gridCol w="2705622">
                      <a:extLst>
                        <a:ext uri="{9D8B030D-6E8A-4147-A177-3AD203B41FA5}">
                          <a16:colId xmlns:a16="http://schemas.microsoft.com/office/drawing/2014/main" val="2882725835"/>
                        </a:ext>
                      </a:extLst>
                    </a:gridCol>
                    <a:gridCol w="1227551">
                      <a:extLst>
                        <a:ext uri="{9D8B030D-6E8A-4147-A177-3AD203B41FA5}">
                          <a16:colId xmlns:a16="http://schemas.microsoft.com/office/drawing/2014/main" val="3444303270"/>
                        </a:ext>
                      </a:extLst>
                    </a:gridCol>
                    <a:gridCol w="1453019">
                      <a:extLst>
                        <a:ext uri="{9D8B030D-6E8A-4147-A177-3AD203B41FA5}">
                          <a16:colId xmlns:a16="http://schemas.microsoft.com/office/drawing/2014/main" val="3986792574"/>
                        </a:ext>
                      </a:extLst>
                    </a:gridCol>
                  </a:tblGrid>
                  <a:tr h="707638">
                    <a:tc>
                      <a:txBody>
                        <a:bodyPr/>
                        <a:lstStyle/>
                        <a:p>
                          <a:pPr marL="0" marR="0" algn="ctr">
                            <a:buNone/>
                          </a:pPr>
                          <a:r>
                            <a:rPr lang="en-US" sz="2400" b="1" dirty="0">
                              <a:effectLst/>
                              <a:latin typeface="+mn-lt"/>
                              <a:ea typeface="SimSun" panose="02010600030101010101" pitchFamily="2" charset="-122"/>
                            </a:rPr>
                            <a:t>Model</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Energy per sample (µJ/sample)</a:t>
                          </a: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Efficiency Ratio</a:t>
                          </a:r>
                        </a:p>
                        <a:p>
                          <a:pPr marL="0" marR="0" algn="ctr">
                            <a:buNone/>
                          </a:pPr>
                          <a14:m>
                            <m:oMath xmlns:m="http://schemas.openxmlformats.org/officeDocument/2006/math">
                              <m:r>
                                <a:rPr lang="en-US" sz="2400" b="1" i="0" smtClean="0">
                                  <a:effectLst/>
                                  <a:latin typeface="Cambria Math" panose="02040503050406030204" pitchFamily="18" charset="0"/>
                                  <a:ea typeface="SimSun" panose="02010600030101010101" pitchFamily="2" charset="-122"/>
                                </a:rPr>
                                <m:t>(</m:t>
                              </m:r>
                            </m:oMath>
                          </a14:m>
                          <a:r>
                            <a:rPr lang="en-US" sz="2400" b="1" i="0" dirty="0">
                              <a:effectLst/>
                              <a:latin typeface="+mn-lt"/>
                              <a:ea typeface="SimSun" panose="02010600030101010101" pitchFamily="2" charset="-122"/>
                            </a:rPr>
                            <a:t>× more efficient)</a:t>
                          </a:r>
                        </a:p>
                      </a:txBody>
                      <a:tcPr marL="68580" marR="68580" marT="0" marB="0" anchor="ctr"/>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MAE</a:t>
                          </a:r>
                        </a:p>
                      </a:txBody>
                      <a:tcPr marL="68580" marR="68580" marT="0" marB="0"/>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RMSE</a:t>
                          </a:r>
                        </a:p>
                      </a:txBody>
                      <a:tcPr marL="68580" marR="68580" marT="0" marB="0"/>
                    </a:tc>
                    <a:extLst>
                      <a:ext uri="{0D108BD9-81ED-4DB2-BD59-A6C34878D82A}">
                        <a16:rowId xmlns:a16="http://schemas.microsoft.com/office/drawing/2014/main" val="1184997548"/>
                      </a:ext>
                    </a:extLst>
                  </a:tr>
                  <a:tr h="346944">
                    <a:tc>
                      <a:txBody>
                        <a:bodyPr/>
                        <a:lstStyle/>
                        <a:p>
                          <a:pPr marL="0" marR="0" algn="just">
                            <a:buNone/>
                          </a:pPr>
                          <a:r>
                            <a:rPr lang="en-US" sz="2400">
                              <a:effectLst/>
                              <a:latin typeface="+mn-lt"/>
                              <a:ea typeface="SimSun" panose="02010600030101010101" pitchFamily="2" charset="-122"/>
                            </a:rPr>
                            <a:t>RingSNN</a:t>
                          </a:r>
                        </a:p>
                      </a:txBody>
                      <a:tcPr marL="68580" marR="68580" marT="0" marB="0" anchor="ctr"/>
                    </a:tc>
                    <a:tc>
                      <a:txBody>
                        <a:bodyPr/>
                        <a:lstStyle/>
                        <a:p>
                          <a:pPr marL="0" marR="0" algn="just">
                            <a:buNone/>
                          </a:pPr>
                          <a:r>
                            <a:rPr lang="en-US" sz="2400" dirty="0">
                              <a:effectLst/>
                              <a:latin typeface="+mn-lt"/>
                              <a:ea typeface="SimSun" panose="02010600030101010101" pitchFamily="2" charset="-122"/>
                            </a:rPr>
                            <a:t>1575.03</a:t>
                          </a:r>
                        </a:p>
                      </a:txBody>
                      <a:tcPr marL="68580" marR="68580" marT="0" marB="0" anchor="ctr"/>
                    </a:tc>
                    <a:tc>
                      <a:txBody>
                        <a:bodyPr/>
                        <a:lstStyle/>
                        <a:p>
                          <a:pPr marL="0" marR="0" algn="ctr">
                            <a:buNone/>
                          </a:pPr>
                          <a:r>
                            <a:rPr lang="en-US" sz="2400">
                              <a:effectLst/>
                              <a:latin typeface="+mn-lt"/>
                              <a:ea typeface="SimSun" panose="02010600030101010101" pitchFamily="2" charset="-122"/>
                            </a:rPr>
                            <a:t>1.00 (baseline)</a:t>
                          </a:r>
                        </a:p>
                      </a:txBody>
                      <a:tcPr marL="68580" marR="68580" marT="0" marB="0" anchor="ctr"/>
                    </a:tc>
                    <a:tc>
                      <a:txBody>
                        <a:bodyPr/>
                        <a:lstStyle/>
                        <a:p>
                          <a:pPr marL="0" marR="0" algn="ctr">
                            <a:buNone/>
                          </a:pPr>
                          <a:r>
                            <a:rPr lang="en-US" sz="2400">
                              <a:effectLst/>
                              <a:latin typeface="+mn-lt"/>
                              <a:ea typeface="SimSun" panose="02010600030101010101" pitchFamily="2" charset="-122"/>
                            </a:rPr>
                            <a:t>0.1416</a:t>
                          </a:r>
                        </a:p>
                      </a:txBody>
                      <a:tcPr marL="68580" marR="68580" marT="0" marB="0"/>
                    </a:tc>
                    <a:tc>
                      <a:txBody>
                        <a:bodyPr/>
                        <a:lstStyle/>
                        <a:p>
                          <a:pPr marL="0" marR="0" algn="ctr">
                            <a:buNone/>
                          </a:pPr>
                          <a:r>
                            <a:rPr lang="en-US" sz="2400" dirty="0">
                              <a:effectLst/>
                              <a:latin typeface="+mn-lt"/>
                              <a:ea typeface="SimSun" panose="02010600030101010101" pitchFamily="2" charset="-122"/>
                            </a:rPr>
                            <a:t>0.1416</a:t>
                          </a:r>
                        </a:p>
                      </a:txBody>
                      <a:tcPr marL="68580" marR="68580" marT="0" marB="0"/>
                    </a:tc>
                    <a:extLst>
                      <a:ext uri="{0D108BD9-81ED-4DB2-BD59-A6C34878D82A}">
                        <a16:rowId xmlns:a16="http://schemas.microsoft.com/office/drawing/2014/main" val="437224419"/>
                      </a:ext>
                    </a:extLst>
                  </a:tr>
                  <a:tr h="311670">
                    <a:tc>
                      <a:txBody>
                        <a:bodyPr/>
                        <a:lstStyle/>
                        <a:p>
                          <a:pPr marL="0" marR="0" algn="just">
                            <a:buNone/>
                          </a:pPr>
                          <a:r>
                            <a:rPr lang="en-US" sz="2400">
                              <a:effectLst/>
                              <a:latin typeface="+mn-lt"/>
                              <a:ea typeface="SimSun" panose="02010600030101010101" pitchFamily="2" charset="-122"/>
                            </a:rPr>
                            <a:t>CNN</a:t>
                          </a:r>
                        </a:p>
                      </a:txBody>
                      <a:tcPr marL="68580" marR="68580" marT="0" marB="0" anchor="ctr"/>
                    </a:tc>
                    <a:tc>
                      <a:txBody>
                        <a:bodyPr/>
                        <a:lstStyle/>
                        <a:p>
                          <a:pPr marL="0" marR="0" algn="just">
                            <a:buNone/>
                          </a:pPr>
                          <a:r>
                            <a:rPr lang="en-US" sz="2400">
                              <a:effectLst/>
                              <a:latin typeface="+mn-lt"/>
                              <a:ea typeface="SimSun" panose="02010600030101010101" pitchFamily="2" charset="-122"/>
                            </a:rPr>
                            <a:t>3773.17</a:t>
                          </a:r>
                        </a:p>
                      </a:txBody>
                      <a:tcPr marL="68580" marR="68580" marT="0" marB="0" anchor="ctr"/>
                    </a:tc>
                    <a:tc>
                      <a:txBody>
                        <a:bodyPr/>
                        <a:lstStyle/>
                        <a:p>
                          <a:pPr marL="0" marR="0" algn="ctr">
                            <a:buNone/>
                          </a:pPr>
                          <a:r>
                            <a:rPr lang="en-US" sz="2400" dirty="0">
                              <a:effectLst/>
                              <a:latin typeface="+mn-lt"/>
                              <a:ea typeface="SimSun" panose="02010600030101010101" pitchFamily="2" charset="-122"/>
                            </a:rPr>
                            <a:t>2.40</a:t>
                          </a:r>
                        </a:p>
                      </a:txBody>
                      <a:tcPr marL="68580" marR="68580" marT="0" marB="0" anchor="ctr"/>
                    </a:tc>
                    <a:tc>
                      <a:txBody>
                        <a:bodyPr/>
                        <a:lstStyle/>
                        <a:p>
                          <a:pPr marL="0" marR="0" algn="ctr">
                            <a:buNone/>
                          </a:pPr>
                          <a:r>
                            <a:rPr lang="en-US" sz="2400">
                              <a:effectLst/>
                              <a:latin typeface="+mn-lt"/>
                              <a:ea typeface="SimSun" panose="02010600030101010101" pitchFamily="2" charset="-122"/>
                            </a:rPr>
                            <a:t>0.04740</a:t>
                          </a:r>
                        </a:p>
                      </a:txBody>
                      <a:tcPr marL="68580" marR="68580" marT="0" marB="0"/>
                    </a:tc>
                    <a:tc>
                      <a:txBody>
                        <a:bodyPr/>
                        <a:lstStyle/>
                        <a:p>
                          <a:pPr marL="0" marR="0" algn="ctr">
                            <a:buNone/>
                          </a:pPr>
                          <a:r>
                            <a:rPr lang="en-US" sz="2400" dirty="0">
                              <a:effectLst/>
                              <a:latin typeface="+mn-lt"/>
                              <a:ea typeface="SimSun" panose="02010600030101010101" pitchFamily="2" charset="-122"/>
                            </a:rPr>
                            <a:t>0.08259</a:t>
                          </a:r>
                        </a:p>
                      </a:txBody>
                      <a:tcPr marL="68580" marR="68580" marT="0" marB="0"/>
                    </a:tc>
                    <a:extLst>
                      <a:ext uri="{0D108BD9-81ED-4DB2-BD59-A6C34878D82A}">
                        <a16:rowId xmlns:a16="http://schemas.microsoft.com/office/drawing/2014/main" val="1992113738"/>
                      </a:ext>
                    </a:extLst>
                  </a:tr>
                  <a:tr h="423168">
                    <a:tc>
                      <a:txBody>
                        <a:bodyPr/>
                        <a:lstStyle/>
                        <a:p>
                          <a:pPr marL="0" marR="0" algn="just">
                            <a:buNone/>
                          </a:pPr>
                          <a:r>
                            <a:rPr lang="en-US" sz="2400">
                              <a:effectLst/>
                              <a:latin typeface="+mn-lt"/>
                              <a:ea typeface="SimSun" panose="02010600030101010101" pitchFamily="2" charset="-122"/>
                            </a:rPr>
                            <a:t>LSTM</a:t>
                          </a:r>
                        </a:p>
                      </a:txBody>
                      <a:tcPr marL="68580" marR="68580" marT="0" marB="0" anchor="ctr"/>
                    </a:tc>
                    <a:tc>
                      <a:txBody>
                        <a:bodyPr/>
                        <a:lstStyle/>
                        <a:p>
                          <a:pPr marL="0" marR="0" algn="just">
                            <a:buNone/>
                          </a:pPr>
                          <a:r>
                            <a:rPr lang="en-US" sz="2400">
                              <a:effectLst/>
                              <a:latin typeface="+mn-lt"/>
                              <a:ea typeface="SimSun" panose="02010600030101010101" pitchFamily="2" charset="-122"/>
                            </a:rPr>
                            <a:t>4418.24</a:t>
                          </a:r>
                        </a:p>
                      </a:txBody>
                      <a:tcPr marL="68580" marR="68580" marT="0" marB="0" anchor="ctr"/>
                    </a:tc>
                    <a:tc>
                      <a:txBody>
                        <a:bodyPr/>
                        <a:lstStyle/>
                        <a:p>
                          <a:pPr marL="0" marR="0" algn="ctr">
                            <a:buNone/>
                          </a:pPr>
                          <a:r>
                            <a:rPr lang="en-US" sz="2400" dirty="0">
                              <a:effectLst/>
                              <a:latin typeface="+mn-lt"/>
                              <a:ea typeface="SimSun" panose="02010600030101010101" pitchFamily="2" charset="-122"/>
                            </a:rPr>
                            <a:t>2.81</a:t>
                          </a:r>
                        </a:p>
                      </a:txBody>
                      <a:tcPr marL="68580" marR="68580" marT="0" marB="0" anchor="ctr"/>
                    </a:tc>
                    <a:tc>
                      <a:txBody>
                        <a:bodyPr/>
                        <a:lstStyle/>
                        <a:p>
                          <a:pPr marL="0" marR="0" algn="ctr">
                            <a:buNone/>
                          </a:pPr>
                          <a:r>
                            <a:rPr lang="en-US" sz="2400">
                              <a:effectLst/>
                              <a:latin typeface="+mn-lt"/>
                              <a:ea typeface="SimSun" panose="02010600030101010101" pitchFamily="2" charset="-122"/>
                            </a:rPr>
                            <a:t>0.05732</a:t>
                          </a:r>
                        </a:p>
                      </a:txBody>
                      <a:tcPr marL="68580" marR="68580" marT="0" marB="0"/>
                    </a:tc>
                    <a:tc>
                      <a:txBody>
                        <a:bodyPr/>
                        <a:lstStyle/>
                        <a:p>
                          <a:pPr marL="0" marR="0" algn="ctr">
                            <a:buNone/>
                          </a:pPr>
                          <a:r>
                            <a:rPr lang="en-US" sz="2400" dirty="0">
                              <a:effectLst/>
                              <a:latin typeface="+mn-lt"/>
                              <a:ea typeface="SimSun" panose="02010600030101010101" pitchFamily="2" charset="-122"/>
                            </a:rPr>
                            <a:t>0.07778</a:t>
                          </a:r>
                        </a:p>
                      </a:txBody>
                      <a:tcPr marL="68580" marR="68580" marT="0" marB="0"/>
                    </a:tc>
                    <a:extLst>
                      <a:ext uri="{0D108BD9-81ED-4DB2-BD59-A6C34878D82A}">
                        <a16:rowId xmlns:a16="http://schemas.microsoft.com/office/drawing/2014/main" val="893138968"/>
                      </a:ext>
                    </a:extLst>
                  </a:tr>
                  <a:tr h="450937">
                    <a:tc>
                      <a:txBody>
                        <a:bodyPr/>
                        <a:lstStyle/>
                        <a:p>
                          <a:pPr marL="0" marR="0" algn="just">
                            <a:buNone/>
                          </a:pPr>
                          <a:r>
                            <a:rPr lang="en-US" sz="2400">
                              <a:effectLst/>
                              <a:latin typeface="+mn-lt"/>
                              <a:ea typeface="SimSun" panose="02010600030101010101" pitchFamily="2" charset="-122"/>
                            </a:rPr>
                            <a:t>GRU</a:t>
                          </a:r>
                        </a:p>
                      </a:txBody>
                      <a:tcPr marL="68580" marR="68580" marT="0" marB="0" anchor="ctr"/>
                    </a:tc>
                    <a:tc>
                      <a:txBody>
                        <a:bodyPr/>
                        <a:lstStyle/>
                        <a:p>
                          <a:pPr marL="0" marR="0" algn="just">
                            <a:buNone/>
                          </a:pPr>
                          <a:r>
                            <a:rPr lang="en-US" sz="2400">
                              <a:effectLst/>
                              <a:latin typeface="+mn-lt"/>
                              <a:ea typeface="SimSun" panose="02010600030101010101" pitchFamily="2" charset="-122"/>
                            </a:rPr>
                            <a:t>5287.41</a:t>
                          </a:r>
                        </a:p>
                      </a:txBody>
                      <a:tcPr marL="68580" marR="68580" marT="0" marB="0" anchor="ctr"/>
                    </a:tc>
                    <a:tc>
                      <a:txBody>
                        <a:bodyPr/>
                        <a:lstStyle/>
                        <a:p>
                          <a:pPr marL="0" marR="0" algn="ctr">
                            <a:buNone/>
                          </a:pPr>
                          <a:r>
                            <a:rPr lang="en-US" sz="2400">
                              <a:effectLst/>
                              <a:latin typeface="+mn-lt"/>
                              <a:ea typeface="SimSun" panose="02010600030101010101" pitchFamily="2" charset="-122"/>
                            </a:rPr>
                            <a:t>3.36 </a:t>
                          </a:r>
                        </a:p>
                      </a:txBody>
                      <a:tcPr marL="68580" marR="68580" marT="0" marB="0" anchor="ctr"/>
                    </a:tc>
                    <a:tc>
                      <a:txBody>
                        <a:bodyPr/>
                        <a:lstStyle/>
                        <a:p>
                          <a:pPr marL="0" marR="0" algn="ctr">
                            <a:buNone/>
                          </a:pPr>
                          <a:r>
                            <a:rPr lang="en-US" sz="2400" dirty="0">
                              <a:effectLst/>
                              <a:latin typeface="+mn-lt"/>
                              <a:ea typeface="SimSun" panose="02010600030101010101" pitchFamily="2" charset="-122"/>
                            </a:rPr>
                            <a:t>0.04573</a:t>
                          </a:r>
                        </a:p>
                      </a:txBody>
                      <a:tcPr marL="68580" marR="68580" marT="0" marB="0"/>
                    </a:tc>
                    <a:tc>
                      <a:txBody>
                        <a:bodyPr/>
                        <a:lstStyle/>
                        <a:p>
                          <a:pPr marL="0" marR="0" algn="ctr">
                            <a:buNone/>
                          </a:pPr>
                          <a:r>
                            <a:rPr lang="en-US" sz="2400" dirty="0">
                              <a:effectLst/>
                              <a:latin typeface="+mn-lt"/>
                              <a:ea typeface="SimSun" panose="02010600030101010101" pitchFamily="2" charset="-122"/>
                            </a:rPr>
                            <a:t>0.06196</a:t>
                          </a:r>
                        </a:p>
                      </a:txBody>
                      <a:tcPr marL="68580" marR="68580" marT="0" marB="0"/>
                    </a:tc>
                    <a:extLst>
                      <a:ext uri="{0D108BD9-81ED-4DB2-BD59-A6C34878D82A}">
                        <a16:rowId xmlns:a16="http://schemas.microsoft.com/office/drawing/2014/main" val="2841151959"/>
                      </a:ext>
                    </a:extLst>
                  </a:tr>
                  <a:tr h="325677">
                    <a:tc>
                      <a:txBody>
                        <a:bodyPr/>
                        <a:lstStyle/>
                        <a:p>
                          <a:pPr marL="0" marR="0" algn="just">
                            <a:buNone/>
                          </a:pPr>
                          <a:r>
                            <a:rPr lang="en-US" sz="2400">
                              <a:effectLst/>
                              <a:latin typeface="+mn-lt"/>
                              <a:ea typeface="SimSun" panose="02010600030101010101" pitchFamily="2" charset="-122"/>
                            </a:rPr>
                            <a:t>CNN-LSTM</a:t>
                          </a:r>
                        </a:p>
                      </a:txBody>
                      <a:tcPr marL="68580" marR="68580" marT="0" marB="0" anchor="ctr"/>
                    </a:tc>
                    <a:tc>
                      <a:txBody>
                        <a:bodyPr/>
                        <a:lstStyle/>
                        <a:p>
                          <a:pPr marL="0" marR="0" algn="just">
                            <a:buNone/>
                          </a:pPr>
                          <a:r>
                            <a:rPr lang="en-US" sz="2400">
                              <a:effectLst/>
                              <a:latin typeface="+mn-lt"/>
                              <a:ea typeface="SimSun" panose="02010600030101010101" pitchFamily="2" charset="-122"/>
                            </a:rPr>
                            <a:t>5257.85</a:t>
                          </a:r>
                        </a:p>
                      </a:txBody>
                      <a:tcPr marL="68580" marR="68580" marT="0" marB="0" anchor="ctr"/>
                    </a:tc>
                    <a:tc>
                      <a:txBody>
                        <a:bodyPr/>
                        <a:lstStyle/>
                        <a:p>
                          <a:pPr marL="0" marR="0" algn="ctr">
                            <a:buNone/>
                          </a:pPr>
                          <a:r>
                            <a:rPr lang="en-US" sz="2400">
                              <a:effectLst/>
                              <a:latin typeface="+mn-lt"/>
                              <a:ea typeface="SimSun" panose="02010600030101010101" pitchFamily="2" charset="-122"/>
                            </a:rPr>
                            <a:t>3.34</a:t>
                          </a:r>
                        </a:p>
                      </a:txBody>
                      <a:tcPr marL="68580" marR="68580" marT="0" marB="0" anchor="ctr"/>
                    </a:tc>
                    <a:tc>
                      <a:txBody>
                        <a:bodyPr/>
                        <a:lstStyle/>
                        <a:p>
                          <a:pPr marL="0" marR="0" algn="ctr">
                            <a:buNone/>
                          </a:pPr>
                          <a:r>
                            <a:rPr lang="en-US" sz="2400" dirty="0">
                              <a:effectLst/>
                              <a:latin typeface="+mn-lt"/>
                              <a:ea typeface="SimSun" panose="02010600030101010101" pitchFamily="2" charset="-122"/>
                            </a:rPr>
                            <a:t>0.02707</a:t>
                          </a:r>
                        </a:p>
                      </a:txBody>
                      <a:tcPr marL="68580" marR="68580" marT="0" marB="0"/>
                    </a:tc>
                    <a:tc>
                      <a:txBody>
                        <a:bodyPr/>
                        <a:lstStyle/>
                        <a:p>
                          <a:pPr marL="0" marR="0" algn="ctr">
                            <a:buNone/>
                          </a:pPr>
                          <a:r>
                            <a:rPr lang="en-US" sz="2400" dirty="0">
                              <a:effectLst/>
                              <a:latin typeface="+mn-lt"/>
                              <a:ea typeface="SimSun" panose="02010600030101010101" pitchFamily="2" charset="-122"/>
                            </a:rPr>
                            <a:t>0.05628</a:t>
                          </a:r>
                        </a:p>
                      </a:txBody>
                      <a:tcPr marL="68580" marR="68580" marT="0" marB="0"/>
                    </a:tc>
                    <a:extLst>
                      <a:ext uri="{0D108BD9-81ED-4DB2-BD59-A6C34878D82A}">
                        <a16:rowId xmlns:a16="http://schemas.microsoft.com/office/drawing/2014/main" val="3665453127"/>
                      </a:ext>
                    </a:extLst>
                  </a:tr>
                </a:tbl>
              </a:graphicData>
            </a:graphic>
          </p:graphicFrame>
        </mc:Choice>
        <mc:Fallback xmlns="">
          <p:graphicFrame>
            <p:nvGraphicFramePr>
              <p:cNvPr id="5" name="Table 4">
                <a:extLst>
                  <a:ext uri="{FF2B5EF4-FFF2-40B4-BE49-F238E27FC236}">
                    <a16:creationId xmlns:a16="http://schemas.microsoft.com/office/drawing/2014/main" id="{F4C78A89-7E18-3088-3720-56AD2FB3E725}"/>
                  </a:ext>
                </a:extLst>
              </p:cNvPr>
              <p:cNvGraphicFramePr>
                <a:graphicFrameLocks noGrp="1"/>
              </p:cNvGraphicFramePr>
              <p:nvPr>
                <p:extLst>
                  <p:ext uri="{D42A27DB-BD31-4B8C-83A1-F6EECF244321}">
                    <p14:modId xmlns:p14="http://schemas.microsoft.com/office/powerpoint/2010/main" val="21889653"/>
                  </p:ext>
                </p:extLst>
              </p:nvPr>
            </p:nvGraphicFramePr>
            <p:xfrm>
              <a:off x="1549244" y="1984178"/>
              <a:ext cx="9093505" cy="3068665"/>
            </p:xfrm>
            <a:graphic>
              <a:graphicData uri="http://schemas.openxmlformats.org/drawingml/2006/table">
                <a:tbl>
                  <a:tblPr firstRow="1" bandRow="1">
                    <a:tableStyleId>{5C22544A-7EE6-4342-B048-85BDC9FD1C3A}</a:tableStyleId>
                  </a:tblPr>
                  <a:tblGrid>
                    <a:gridCol w="1803357">
                      <a:extLst>
                        <a:ext uri="{9D8B030D-6E8A-4147-A177-3AD203B41FA5}">
                          <a16:colId xmlns:a16="http://schemas.microsoft.com/office/drawing/2014/main" val="4195027135"/>
                        </a:ext>
                      </a:extLst>
                    </a:gridCol>
                    <a:gridCol w="1903956">
                      <a:extLst>
                        <a:ext uri="{9D8B030D-6E8A-4147-A177-3AD203B41FA5}">
                          <a16:colId xmlns:a16="http://schemas.microsoft.com/office/drawing/2014/main" val="2827351159"/>
                        </a:ext>
                      </a:extLst>
                    </a:gridCol>
                    <a:gridCol w="2705622">
                      <a:extLst>
                        <a:ext uri="{9D8B030D-6E8A-4147-A177-3AD203B41FA5}">
                          <a16:colId xmlns:a16="http://schemas.microsoft.com/office/drawing/2014/main" val="2882725835"/>
                        </a:ext>
                      </a:extLst>
                    </a:gridCol>
                    <a:gridCol w="1227551">
                      <a:extLst>
                        <a:ext uri="{9D8B030D-6E8A-4147-A177-3AD203B41FA5}">
                          <a16:colId xmlns:a16="http://schemas.microsoft.com/office/drawing/2014/main" val="3444303270"/>
                        </a:ext>
                      </a:extLst>
                    </a:gridCol>
                    <a:gridCol w="1453019">
                      <a:extLst>
                        <a:ext uri="{9D8B030D-6E8A-4147-A177-3AD203B41FA5}">
                          <a16:colId xmlns:a16="http://schemas.microsoft.com/office/drawing/2014/main" val="3986792574"/>
                        </a:ext>
                      </a:extLst>
                    </a:gridCol>
                  </a:tblGrid>
                  <a:tr h="1097280">
                    <a:tc>
                      <a:txBody>
                        <a:bodyPr/>
                        <a:lstStyle/>
                        <a:p>
                          <a:pPr marL="0" marR="0" algn="ctr">
                            <a:buNone/>
                          </a:pPr>
                          <a:r>
                            <a:rPr lang="en-US" sz="2400" b="1" dirty="0">
                              <a:effectLst/>
                              <a:latin typeface="+mn-lt"/>
                              <a:ea typeface="SimSun" panose="02010600030101010101" pitchFamily="2" charset="-122"/>
                            </a:rPr>
                            <a:t>Model</a:t>
                          </a:r>
                          <a:endParaRPr lang="en-US" sz="2400" dirty="0">
                            <a:effectLst/>
                            <a:latin typeface="+mn-lt"/>
                            <a:ea typeface="SimSun" panose="02010600030101010101" pitchFamily="2" charset="-122"/>
                          </a:endParaRPr>
                        </a:p>
                      </a:txBody>
                      <a:tcPr marL="68580" marR="68580" marT="0" marB="0" anchor="ctr"/>
                    </a:tc>
                    <a:tc>
                      <a:txBody>
                        <a:bodyPr/>
                        <a:lstStyle/>
                        <a:p>
                          <a:pPr marL="0" marR="0" algn="ctr">
                            <a:buNone/>
                          </a:pPr>
                          <a:r>
                            <a:rPr lang="en-US" sz="2400" b="1" i="0" dirty="0">
                              <a:effectLst/>
                              <a:latin typeface="+mn-lt"/>
                              <a:ea typeface="SimSun" panose="02010600030101010101" pitchFamily="2" charset="-122"/>
                            </a:rPr>
                            <a:t>Energy per sample (µJ/sample)</a:t>
                          </a:r>
                        </a:p>
                      </a:txBody>
                      <a:tcPr marL="68580" marR="68580" marT="0" marB="0" anchor="ctr"/>
                    </a:tc>
                    <a:tc>
                      <a:txBody>
                        <a:bodyPr/>
                        <a:lstStyle/>
                        <a:p>
                          <a:endParaRPr lang="en-US"/>
                        </a:p>
                      </a:txBody>
                      <a:tcPr marL="68580" marR="68580" marT="0" marB="0" anchor="ctr">
                        <a:blipFill>
                          <a:blip r:embed="rId3"/>
                          <a:stretch>
                            <a:fillRect l="-137162" t="-8333" r="-100225" b="-196667"/>
                          </a:stretch>
                        </a:blipFill>
                      </a:tcPr>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MAE</a:t>
                          </a:r>
                        </a:p>
                      </a:txBody>
                      <a:tcPr marL="68580" marR="68580" marT="0" marB="0"/>
                    </a:tc>
                    <a:tc>
                      <a:txBody>
                        <a:bodyPr/>
                        <a:lstStyle/>
                        <a:p>
                          <a:pPr marL="0" marR="0" algn="ctr">
                            <a:buNone/>
                          </a:pPr>
                          <a:endParaRPr lang="en-US" sz="2400" b="1" i="0" dirty="0">
                            <a:effectLst/>
                            <a:latin typeface="+mn-lt"/>
                            <a:ea typeface="SimSun" panose="02010600030101010101" pitchFamily="2" charset="-122"/>
                          </a:endParaRPr>
                        </a:p>
                        <a:p>
                          <a:pPr marL="0" marR="0" algn="ctr">
                            <a:buNone/>
                          </a:pPr>
                          <a:r>
                            <a:rPr lang="en-US" sz="2400" b="1" i="0" dirty="0">
                              <a:effectLst/>
                              <a:latin typeface="+mn-lt"/>
                              <a:ea typeface="SimSun" panose="02010600030101010101" pitchFamily="2" charset="-122"/>
                            </a:rPr>
                            <a:t>RMSE</a:t>
                          </a:r>
                        </a:p>
                      </a:txBody>
                      <a:tcPr marL="68580" marR="68580" marT="0" marB="0"/>
                    </a:tc>
                    <a:extLst>
                      <a:ext uri="{0D108BD9-81ED-4DB2-BD59-A6C34878D82A}">
                        <a16:rowId xmlns:a16="http://schemas.microsoft.com/office/drawing/2014/main" val="1184997548"/>
                      </a:ext>
                    </a:extLst>
                  </a:tr>
                  <a:tr h="365760">
                    <a:tc>
                      <a:txBody>
                        <a:bodyPr/>
                        <a:lstStyle/>
                        <a:p>
                          <a:pPr marL="0" marR="0" algn="just">
                            <a:buNone/>
                          </a:pPr>
                          <a:r>
                            <a:rPr lang="en-US" sz="2400">
                              <a:effectLst/>
                              <a:latin typeface="+mn-lt"/>
                              <a:ea typeface="SimSun" panose="02010600030101010101" pitchFamily="2" charset="-122"/>
                            </a:rPr>
                            <a:t>RingSNN</a:t>
                          </a:r>
                        </a:p>
                      </a:txBody>
                      <a:tcPr marL="68580" marR="68580" marT="0" marB="0" anchor="ctr"/>
                    </a:tc>
                    <a:tc>
                      <a:txBody>
                        <a:bodyPr/>
                        <a:lstStyle/>
                        <a:p>
                          <a:pPr marL="0" marR="0" algn="just">
                            <a:buNone/>
                          </a:pPr>
                          <a:r>
                            <a:rPr lang="en-US" sz="2400" dirty="0">
                              <a:effectLst/>
                              <a:latin typeface="+mn-lt"/>
                              <a:ea typeface="SimSun" panose="02010600030101010101" pitchFamily="2" charset="-122"/>
                            </a:rPr>
                            <a:t>1575.03</a:t>
                          </a:r>
                        </a:p>
                      </a:txBody>
                      <a:tcPr marL="68580" marR="68580" marT="0" marB="0" anchor="ctr"/>
                    </a:tc>
                    <a:tc>
                      <a:txBody>
                        <a:bodyPr/>
                        <a:lstStyle/>
                        <a:p>
                          <a:pPr marL="0" marR="0" algn="ctr">
                            <a:buNone/>
                          </a:pPr>
                          <a:r>
                            <a:rPr lang="en-US" sz="2400">
                              <a:effectLst/>
                              <a:latin typeface="+mn-lt"/>
                              <a:ea typeface="SimSun" panose="02010600030101010101" pitchFamily="2" charset="-122"/>
                            </a:rPr>
                            <a:t>1.00 (baseline)</a:t>
                          </a:r>
                        </a:p>
                      </a:txBody>
                      <a:tcPr marL="68580" marR="68580" marT="0" marB="0" anchor="ctr"/>
                    </a:tc>
                    <a:tc>
                      <a:txBody>
                        <a:bodyPr/>
                        <a:lstStyle/>
                        <a:p>
                          <a:pPr marL="0" marR="0" algn="ctr">
                            <a:buNone/>
                          </a:pPr>
                          <a:r>
                            <a:rPr lang="en-US" sz="2400">
                              <a:effectLst/>
                              <a:latin typeface="+mn-lt"/>
                              <a:ea typeface="SimSun" panose="02010600030101010101" pitchFamily="2" charset="-122"/>
                            </a:rPr>
                            <a:t>0.1416</a:t>
                          </a:r>
                        </a:p>
                      </a:txBody>
                      <a:tcPr marL="68580" marR="68580" marT="0" marB="0"/>
                    </a:tc>
                    <a:tc>
                      <a:txBody>
                        <a:bodyPr/>
                        <a:lstStyle/>
                        <a:p>
                          <a:pPr marL="0" marR="0" algn="ctr">
                            <a:buNone/>
                          </a:pPr>
                          <a:r>
                            <a:rPr lang="en-US" sz="2400" dirty="0">
                              <a:effectLst/>
                              <a:latin typeface="+mn-lt"/>
                              <a:ea typeface="SimSun" panose="02010600030101010101" pitchFamily="2" charset="-122"/>
                            </a:rPr>
                            <a:t>0.1416</a:t>
                          </a:r>
                        </a:p>
                      </a:txBody>
                      <a:tcPr marL="68580" marR="68580" marT="0" marB="0"/>
                    </a:tc>
                    <a:extLst>
                      <a:ext uri="{0D108BD9-81ED-4DB2-BD59-A6C34878D82A}">
                        <a16:rowId xmlns:a16="http://schemas.microsoft.com/office/drawing/2014/main" val="437224419"/>
                      </a:ext>
                    </a:extLst>
                  </a:tr>
                  <a:tr h="365760">
                    <a:tc>
                      <a:txBody>
                        <a:bodyPr/>
                        <a:lstStyle/>
                        <a:p>
                          <a:pPr marL="0" marR="0" algn="just">
                            <a:buNone/>
                          </a:pPr>
                          <a:r>
                            <a:rPr lang="en-US" sz="2400">
                              <a:effectLst/>
                              <a:latin typeface="+mn-lt"/>
                              <a:ea typeface="SimSun" panose="02010600030101010101" pitchFamily="2" charset="-122"/>
                            </a:rPr>
                            <a:t>CNN</a:t>
                          </a:r>
                        </a:p>
                      </a:txBody>
                      <a:tcPr marL="68580" marR="68580" marT="0" marB="0" anchor="ctr"/>
                    </a:tc>
                    <a:tc>
                      <a:txBody>
                        <a:bodyPr/>
                        <a:lstStyle/>
                        <a:p>
                          <a:pPr marL="0" marR="0" algn="just">
                            <a:buNone/>
                          </a:pPr>
                          <a:r>
                            <a:rPr lang="en-US" sz="2400">
                              <a:effectLst/>
                              <a:latin typeface="+mn-lt"/>
                              <a:ea typeface="SimSun" panose="02010600030101010101" pitchFamily="2" charset="-122"/>
                            </a:rPr>
                            <a:t>3773.17</a:t>
                          </a:r>
                        </a:p>
                      </a:txBody>
                      <a:tcPr marL="68580" marR="68580" marT="0" marB="0" anchor="ctr"/>
                    </a:tc>
                    <a:tc>
                      <a:txBody>
                        <a:bodyPr/>
                        <a:lstStyle/>
                        <a:p>
                          <a:pPr marL="0" marR="0" algn="ctr">
                            <a:buNone/>
                          </a:pPr>
                          <a:r>
                            <a:rPr lang="en-US" sz="2400" dirty="0">
                              <a:effectLst/>
                              <a:latin typeface="+mn-lt"/>
                              <a:ea typeface="SimSun" panose="02010600030101010101" pitchFamily="2" charset="-122"/>
                            </a:rPr>
                            <a:t>2.40</a:t>
                          </a:r>
                        </a:p>
                      </a:txBody>
                      <a:tcPr marL="68580" marR="68580" marT="0" marB="0" anchor="ctr"/>
                    </a:tc>
                    <a:tc>
                      <a:txBody>
                        <a:bodyPr/>
                        <a:lstStyle/>
                        <a:p>
                          <a:pPr marL="0" marR="0" algn="ctr">
                            <a:buNone/>
                          </a:pPr>
                          <a:r>
                            <a:rPr lang="en-US" sz="2400">
                              <a:effectLst/>
                              <a:latin typeface="+mn-lt"/>
                              <a:ea typeface="SimSun" panose="02010600030101010101" pitchFamily="2" charset="-122"/>
                            </a:rPr>
                            <a:t>0.04740</a:t>
                          </a:r>
                        </a:p>
                      </a:txBody>
                      <a:tcPr marL="68580" marR="68580" marT="0" marB="0"/>
                    </a:tc>
                    <a:tc>
                      <a:txBody>
                        <a:bodyPr/>
                        <a:lstStyle/>
                        <a:p>
                          <a:pPr marL="0" marR="0" algn="ctr">
                            <a:buNone/>
                          </a:pPr>
                          <a:r>
                            <a:rPr lang="en-US" sz="2400" dirty="0">
                              <a:effectLst/>
                              <a:latin typeface="+mn-lt"/>
                              <a:ea typeface="SimSun" panose="02010600030101010101" pitchFamily="2" charset="-122"/>
                            </a:rPr>
                            <a:t>0.08259</a:t>
                          </a:r>
                        </a:p>
                      </a:txBody>
                      <a:tcPr marL="68580" marR="68580" marT="0" marB="0"/>
                    </a:tc>
                    <a:extLst>
                      <a:ext uri="{0D108BD9-81ED-4DB2-BD59-A6C34878D82A}">
                        <a16:rowId xmlns:a16="http://schemas.microsoft.com/office/drawing/2014/main" val="1992113738"/>
                      </a:ext>
                    </a:extLst>
                  </a:tr>
                  <a:tr h="423168">
                    <a:tc>
                      <a:txBody>
                        <a:bodyPr/>
                        <a:lstStyle/>
                        <a:p>
                          <a:pPr marL="0" marR="0" algn="just">
                            <a:buNone/>
                          </a:pPr>
                          <a:r>
                            <a:rPr lang="en-US" sz="2400">
                              <a:effectLst/>
                              <a:latin typeface="+mn-lt"/>
                              <a:ea typeface="SimSun" panose="02010600030101010101" pitchFamily="2" charset="-122"/>
                            </a:rPr>
                            <a:t>LSTM</a:t>
                          </a:r>
                        </a:p>
                      </a:txBody>
                      <a:tcPr marL="68580" marR="68580" marT="0" marB="0" anchor="ctr"/>
                    </a:tc>
                    <a:tc>
                      <a:txBody>
                        <a:bodyPr/>
                        <a:lstStyle/>
                        <a:p>
                          <a:pPr marL="0" marR="0" algn="just">
                            <a:buNone/>
                          </a:pPr>
                          <a:r>
                            <a:rPr lang="en-US" sz="2400">
                              <a:effectLst/>
                              <a:latin typeface="+mn-lt"/>
                              <a:ea typeface="SimSun" panose="02010600030101010101" pitchFamily="2" charset="-122"/>
                            </a:rPr>
                            <a:t>4418.24</a:t>
                          </a:r>
                        </a:p>
                      </a:txBody>
                      <a:tcPr marL="68580" marR="68580" marT="0" marB="0" anchor="ctr"/>
                    </a:tc>
                    <a:tc>
                      <a:txBody>
                        <a:bodyPr/>
                        <a:lstStyle/>
                        <a:p>
                          <a:pPr marL="0" marR="0" algn="ctr">
                            <a:buNone/>
                          </a:pPr>
                          <a:r>
                            <a:rPr lang="en-US" sz="2400" dirty="0">
                              <a:effectLst/>
                              <a:latin typeface="+mn-lt"/>
                              <a:ea typeface="SimSun" panose="02010600030101010101" pitchFamily="2" charset="-122"/>
                            </a:rPr>
                            <a:t>2.81</a:t>
                          </a:r>
                        </a:p>
                      </a:txBody>
                      <a:tcPr marL="68580" marR="68580" marT="0" marB="0" anchor="ctr"/>
                    </a:tc>
                    <a:tc>
                      <a:txBody>
                        <a:bodyPr/>
                        <a:lstStyle/>
                        <a:p>
                          <a:pPr marL="0" marR="0" algn="ctr">
                            <a:buNone/>
                          </a:pPr>
                          <a:r>
                            <a:rPr lang="en-US" sz="2400">
                              <a:effectLst/>
                              <a:latin typeface="+mn-lt"/>
                              <a:ea typeface="SimSun" panose="02010600030101010101" pitchFamily="2" charset="-122"/>
                            </a:rPr>
                            <a:t>0.05732</a:t>
                          </a:r>
                        </a:p>
                      </a:txBody>
                      <a:tcPr marL="68580" marR="68580" marT="0" marB="0"/>
                    </a:tc>
                    <a:tc>
                      <a:txBody>
                        <a:bodyPr/>
                        <a:lstStyle/>
                        <a:p>
                          <a:pPr marL="0" marR="0" algn="ctr">
                            <a:buNone/>
                          </a:pPr>
                          <a:r>
                            <a:rPr lang="en-US" sz="2400" dirty="0">
                              <a:effectLst/>
                              <a:latin typeface="+mn-lt"/>
                              <a:ea typeface="SimSun" panose="02010600030101010101" pitchFamily="2" charset="-122"/>
                            </a:rPr>
                            <a:t>0.07778</a:t>
                          </a:r>
                        </a:p>
                      </a:txBody>
                      <a:tcPr marL="68580" marR="68580" marT="0" marB="0"/>
                    </a:tc>
                    <a:extLst>
                      <a:ext uri="{0D108BD9-81ED-4DB2-BD59-A6C34878D82A}">
                        <a16:rowId xmlns:a16="http://schemas.microsoft.com/office/drawing/2014/main" val="893138968"/>
                      </a:ext>
                    </a:extLst>
                  </a:tr>
                  <a:tr h="450937">
                    <a:tc>
                      <a:txBody>
                        <a:bodyPr/>
                        <a:lstStyle/>
                        <a:p>
                          <a:pPr marL="0" marR="0" algn="just">
                            <a:buNone/>
                          </a:pPr>
                          <a:r>
                            <a:rPr lang="en-US" sz="2400">
                              <a:effectLst/>
                              <a:latin typeface="+mn-lt"/>
                              <a:ea typeface="SimSun" panose="02010600030101010101" pitchFamily="2" charset="-122"/>
                            </a:rPr>
                            <a:t>GRU</a:t>
                          </a:r>
                        </a:p>
                      </a:txBody>
                      <a:tcPr marL="68580" marR="68580" marT="0" marB="0" anchor="ctr"/>
                    </a:tc>
                    <a:tc>
                      <a:txBody>
                        <a:bodyPr/>
                        <a:lstStyle/>
                        <a:p>
                          <a:pPr marL="0" marR="0" algn="just">
                            <a:buNone/>
                          </a:pPr>
                          <a:r>
                            <a:rPr lang="en-US" sz="2400">
                              <a:effectLst/>
                              <a:latin typeface="+mn-lt"/>
                              <a:ea typeface="SimSun" panose="02010600030101010101" pitchFamily="2" charset="-122"/>
                            </a:rPr>
                            <a:t>5287.41</a:t>
                          </a:r>
                        </a:p>
                      </a:txBody>
                      <a:tcPr marL="68580" marR="68580" marT="0" marB="0" anchor="ctr"/>
                    </a:tc>
                    <a:tc>
                      <a:txBody>
                        <a:bodyPr/>
                        <a:lstStyle/>
                        <a:p>
                          <a:pPr marL="0" marR="0" algn="ctr">
                            <a:buNone/>
                          </a:pPr>
                          <a:r>
                            <a:rPr lang="en-US" sz="2400">
                              <a:effectLst/>
                              <a:latin typeface="+mn-lt"/>
                              <a:ea typeface="SimSun" panose="02010600030101010101" pitchFamily="2" charset="-122"/>
                            </a:rPr>
                            <a:t>3.36 </a:t>
                          </a:r>
                        </a:p>
                      </a:txBody>
                      <a:tcPr marL="68580" marR="68580" marT="0" marB="0" anchor="ctr"/>
                    </a:tc>
                    <a:tc>
                      <a:txBody>
                        <a:bodyPr/>
                        <a:lstStyle/>
                        <a:p>
                          <a:pPr marL="0" marR="0" algn="ctr">
                            <a:buNone/>
                          </a:pPr>
                          <a:r>
                            <a:rPr lang="en-US" sz="2400" dirty="0">
                              <a:effectLst/>
                              <a:latin typeface="+mn-lt"/>
                              <a:ea typeface="SimSun" panose="02010600030101010101" pitchFamily="2" charset="-122"/>
                            </a:rPr>
                            <a:t>0.04573</a:t>
                          </a:r>
                        </a:p>
                      </a:txBody>
                      <a:tcPr marL="68580" marR="68580" marT="0" marB="0"/>
                    </a:tc>
                    <a:tc>
                      <a:txBody>
                        <a:bodyPr/>
                        <a:lstStyle/>
                        <a:p>
                          <a:pPr marL="0" marR="0" algn="ctr">
                            <a:buNone/>
                          </a:pPr>
                          <a:r>
                            <a:rPr lang="en-US" sz="2400" dirty="0">
                              <a:effectLst/>
                              <a:latin typeface="+mn-lt"/>
                              <a:ea typeface="SimSun" panose="02010600030101010101" pitchFamily="2" charset="-122"/>
                            </a:rPr>
                            <a:t>0.06196</a:t>
                          </a:r>
                        </a:p>
                      </a:txBody>
                      <a:tcPr marL="68580" marR="68580" marT="0" marB="0"/>
                    </a:tc>
                    <a:extLst>
                      <a:ext uri="{0D108BD9-81ED-4DB2-BD59-A6C34878D82A}">
                        <a16:rowId xmlns:a16="http://schemas.microsoft.com/office/drawing/2014/main" val="2841151959"/>
                      </a:ext>
                    </a:extLst>
                  </a:tr>
                  <a:tr h="365760">
                    <a:tc>
                      <a:txBody>
                        <a:bodyPr/>
                        <a:lstStyle/>
                        <a:p>
                          <a:pPr marL="0" marR="0" algn="just">
                            <a:buNone/>
                          </a:pPr>
                          <a:r>
                            <a:rPr lang="en-US" sz="2400">
                              <a:effectLst/>
                              <a:latin typeface="+mn-lt"/>
                              <a:ea typeface="SimSun" panose="02010600030101010101" pitchFamily="2" charset="-122"/>
                            </a:rPr>
                            <a:t>CNN-LSTM</a:t>
                          </a:r>
                        </a:p>
                      </a:txBody>
                      <a:tcPr marL="68580" marR="68580" marT="0" marB="0" anchor="ctr"/>
                    </a:tc>
                    <a:tc>
                      <a:txBody>
                        <a:bodyPr/>
                        <a:lstStyle/>
                        <a:p>
                          <a:pPr marL="0" marR="0" algn="just">
                            <a:buNone/>
                          </a:pPr>
                          <a:r>
                            <a:rPr lang="en-US" sz="2400">
                              <a:effectLst/>
                              <a:latin typeface="+mn-lt"/>
                              <a:ea typeface="SimSun" panose="02010600030101010101" pitchFamily="2" charset="-122"/>
                            </a:rPr>
                            <a:t>5257.85</a:t>
                          </a:r>
                        </a:p>
                      </a:txBody>
                      <a:tcPr marL="68580" marR="68580" marT="0" marB="0" anchor="ctr"/>
                    </a:tc>
                    <a:tc>
                      <a:txBody>
                        <a:bodyPr/>
                        <a:lstStyle/>
                        <a:p>
                          <a:pPr marL="0" marR="0" algn="ctr">
                            <a:buNone/>
                          </a:pPr>
                          <a:r>
                            <a:rPr lang="en-US" sz="2400">
                              <a:effectLst/>
                              <a:latin typeface="+mn-lt"/>
                              <a:ea typeface="SimSun" panose="02010600030101010101" pitchFamily="2" charset="-122"/>
                            </a:rPr>
                            <a:t>3.34</a:t>
                          </a:r>
                        </a:p>
                      </a:txBody>
                      <a:tcPr marL="68580" marR="68580" marT="0" marB="0" anchor="ctr"/>
                    </a:tc>
                    <a:tc>
                      <a:txBody>
                        <a:bodyPr/>
                        <a:lstStyle/>
                        <a:p>
                          <a:pPr marL="0" marR="0" algn="ctr">
                            <a:buNone/>
                          </a:pPr>
                          <a:r>
                            <a:rPr lang="en-US" sz="2400" dirty="0">
                              <a:effectLst/>
                              <a:latin typeface="+mn-lt"/>
                              <a:ea typeface="SimSun" panose="02010600030101010101" pitchFamily="2" charset="-122"/>
                            </a:rPr>
                            <a:t>0.02707</a:t>
                          </a:r>
                        </a:p>
                      </a:txBody>
                      <a:tcPr marL="68580" marR="68580" marT="0" marB="0"/>
                    </a:tc>
                    <a:tc>
                      <a:txBody>
                        <a:bodyPr/>
                        <a:lstStyle/>
                        <a:p>
                          <a:pPr marL="0" marR="0" algn="ctr">
                            <a:buNone/>
                          </a:pPr>
                          <a:r>
                            <a:rPr lang="en-US" sz="2400" dirty="0">
                              <a:effectLst/>
                              <a:latin typeface="+mn-lt"/>
                              <a:ea typeface="SimSun" panose="02010600030101010101" pitchFamily="2" charset="-122"/>
                            </a:rPr>
                            <a:t>0.05628</a:t>
                          </a:r>
                        </a:p>
                      </a:txBody>
                      <a:tcPr marL="68580" marR="68580" marT="0" marB="0"/>
                    </a:tc>
                    <a:extLst>
                      <a:ext uri="{0D108BD9-81ED-4DB2-BD59-A6C34878D82A}">
                        <a16:rowId xmlns:a16="http://schemas.microsoft.com/office/drawing/2014/main" val="3665453127"/>
                      </a:ext>
                    </a:extLst>
                  </a:tr>
                </a:tbl>
              </a:graphicData>
            </a:graphic>
          </p:graphicFrame>
        </mc:Fallback>
      </mc:AlternateContent>
      <p:sp>
        <p:nvSpPr>
          <p:cNvPr id="6" name="TextBox 5">
            <a:extLst>
              <a:ext uri="{FF2B5EF4-FFF2-40B4-BE49-F238E27FC236}">
                <a16:creationId xmlns:a16="http://schemas.microsoft.com/office/drawing/2014/main" id="{B9F51350-BAE7-6601-E0FA-058C81748EBD}"/>
              </a:ext>
            </a:extLst>
          </p:cNvPr>
          <p:cNvSpPr txBox="1"/>
          <p:nvPr/>
        </p:nvSpPr>
        <p:spPr>
          <a:xfrm>
            <a:off x="1679355" y="1538769"/>
            <a:ext cx="8833285" cy="461665"/>
          </a:xfrm>
          <a:prstGeom prst="rect">
            <a:avLst/>
          </a:prstGeom>
          <a:noFill/>
        </p:spPr>
        <p:txBody>
          <a:bodyPr wrap="square" rtlCol="0">
            <a:spAutoFit/>
          </a:bodyPr>
          <a:lstStyle/>
          <a:p>
            <a:pPr algn="ctr"/>
            <a:r>
              <a:rPr lang="en-US" sz="2400" cap="small" dirty="0"/>
              <a:t>Solar Production Dataset</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43424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230C42A1-07FE-425B-8771-A414D3C653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7DEF41-C543-E7E2-B068-D4B159A77BEB}"/>
              </a:ext>
            </a:extLst>
          </p:cNvPr>
          <p:cNvSpPr>
            <a:spLocks noGrp="1"/>
          </p:cNvSpPr>
          <p:nvPr>
            <p:ph type="title"/>
          </p:nvPr>
        </p:nvSpPr>
        <p:spPr>
          <a:xfrm>
            <a:off x="349685" y="188479"/>
            <a:ext cx="10334357" cy="1528025"/>
          </a:xfrm>
        </p:spPr>
        <p:txBody>
          <a:bodyPr>
            <a:normAutofit/>
          </a:bodyPr>
          <a:lstStyle/>
          <a:p>
            <a:r>
              <a:rPr lang="en-US" dirty="0"/>
              <a:t>Energy vs MAE Tradeoff Across Models (With Efficiency Ratios)</a:t>
            </a:r>
          </a:p>
        </p:txBody>
      </p:sp>
      <p:sp>
        <p:nvSpPr>
          <p:cNvPr id="4" name="AutoShape 2" descr="Uploaded image">
            <a:extLst>
              <a:ext uri="{FF2B5EF4-FFF2-40B4-BE49-F238E27FC236}">
                <a16:creationId xmlns:a16="http://schemas.microsoft.com/office/drawing/2014/main" id="{96147C2B-6B80-732F-AF13-C355CBD692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8" name="Table 7">
            <a:extLst>
              <a:ext uri="{FF2B5EF4-FFF2-40B4-BE49-F238E27FC236}">
                <a16:creationId xmlns:a16="http://schemas.microsoft.com/office/drawing/2014/main" id="{D6A0210B-0A30-FC6D-58AD-73064E6370CB}"/>
              </a:ext>
            </a:extLst>
          </p:cNvPr>
          <p:cNvGraphicFramePr>
            <a:graphicFrameLocks noGrp="1"/>
          </p:cNvGraphicFramePr>
          <p:nvPr>
            <p:extLst>
              <p:ext uri="{D42A27DB-BD31-4B8C-83A1-F6EECF244321}">
                <p14:modId xmlns:p14="http://schemas.microsoft.com/office/powerpoint/2010/main" val="1304945047"/>
              </p:ext>
            </p:extLst>
          </p:nvPr>
        </p:nvGraphicFramePr>
        <p:xfrm>
          <a:off x="400050" y="1716503"/>
          <a:ext cx="11512296" cy="4953017"/>
        </p:xfrm>
        <a:graphic>
          <a:graphicData uri="http://schemas.openxmlformats.org/drawingml/2006/table">
            <a:tbl>
              <a:tblPr firstRow="1" bandRow="1">
                <a:tableStyleId>{5940675A-B579-460E-94D1-54222C63F5DA}</a:tableStyleId>
              </a:tblPr>
              <a:tblGrid>
                <a:gridCol w="3837432">
                  <a:extLst>
                    <a:ext uri="{9D8B030D-6E8A-4147-A177-3AD203B41FA5}">
                      <a16:colId xmlns:a16="http://schemas.microsoft.com/office/drawing/2014/main" val="2709510914"/>
                    </a:ext>
                  </a:extLst>
                </a:gridCol>
                <a:gridCol w="3837432">
                  <a:extLst>
                    <a:ext uri="{9D8B030D-6E8A-4147-A177-3AD203B41FA5}">
                      <a16:colId xmlns:a16="http://schemas.microsoft.com/office/drawing/2014/main" val="479399839"/>
                    </a:ext>
                  </a:extLst>
                </a:gridCol>
                <a:gridCol w="3837432">
                  <a:extLst>
                    <a:ext uri="{9D8B030D-6E8A-4147-A177-3AD203B41FA5}">
                      <a16:colId xmlns:a16="http://schemas.microsoft.com/office/drawing/2014/main" val="1865791676"/>
                    </a:ext>
                  </a:extLst>
                </a:gridCol>
              </a:tblGrid>
              <a:tr h="4953017">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340774"/>
                  </a:ext>
                </a:extLst>
              </a:tr>
            </a:tbl>
          </a:graphicData>
        </a:graphic>
      </p:graphicFrame>
      <p:pic>
        <p:nvPicPr>
          <p:cNvPr id="5" name="Picture 4">
            <a:extLst>
              <a:ext uri="{FF2B5EF4-FFF2-40B4-BE49-F238E27FC236}">
                <a16:creationId xmlns:a16="http://schemas.microsoft.com/office/drawing/2014/main" id="{79EE39E0-FA07-4022-BDF0-CA03435534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050" y="1716502"/>
            <a:ext cx="3821221" cy="4953017"/>
          </a:xfrm>
          <a:prstGeom prst="rect">
            <a:avLst/>
          </a:prstGeom>
        </p:spPr>
      </p:pic>
      <p:pic>
        <p:nvPicPr>
          <p:cNvPr id="7" name="Picture 6">
            <a:extLst>
              <a:ext uri="{FF2B5EF4-FFF2-40B4-BE49-F238E27FC236}">
                <a16:creationId xmlns:a16="http://schemas.microsoft.com/office/drawing/2014/main" id="{3CB729A2-BCC8-A51D-55A7-C50CEF74E5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1271" y="1716501"/>
            <a:ext cx="3871585" cy="4953017"/>
          </a:xfrm>
          <a:prstGeom prst="rect">
            <a:avLst/>
          </a:prstGeom>
        </p:spPr>
      </p:pic>
      <p:pic>
        <p:nvPicPr>
          <p:cNvPr id="13" name="Picture 12">
            <a:extLst>
              <a:ext uri="{FF2B5EF4-FFF2-40B4-BE49-F238E27FC236}">
                <a16:creationId xmlns:a16="http://schemas.microsoft.com/office/drawing/2014/main" id="{76963964-0E94-1FC9-56FB-E7563FBF6F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92857" y="1716501"/>
            <a:ext cx="3819490" cy="4953017"/>
          </a:xfrm>
          <a:prstGeom prst="rect">
            <a:avLst/>
          </a:prstGeom>
        </p:spPr>
      </p:pic>
    </p:spTree>
    <p:extLst>
      <p:ext uri="{BB962C8B-B14F-4D97-AF65-F5344CB8AC3E}">
        <p14:creationId xmlns:p14="http://schemas.microsoft.com/office/powerpoint/2010/main" val="739451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AD0E5644-85A7-705F-58A5-8AA0F4C222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7A1A3E-798D-F727-BD8D-1A49C840E35B}"/>
              </a:ext>
            </a:extLst>
          </p:cNvPr>
          <p:cNvSpPr>
            <a:spLocks noGrp="1"/>
          </p:cNvSpPr>
          <p:nvPr>
            <p:ph type="title"/>
          </p:nvPr>
        </p:nvSpPr>
        <p:spPr>
          <a:xfrm>
            <a:off x="339852" y="279144"/>
            <a:ext cx="11225085" cy="1196729"/>
          </a:xfrm>
        </p:spPr>
        <p:txBody>
          <a:bodyPr>
            <a:normAutofit fontScale="90000"/>
          </a:bodyPr>
          <a:lstStyle/>
          <a:p>
            <a:r>
              <a:rPr lang="en-US" dirty="0"/>
              <a:t>Prediction vs Ground Truth Plots for </a:t>
            </a:r>
            <a:r>
              <a:rPr lang="en-US" dirty="0" err="1"/>
              <a:t>RingSNN</a:t>
            </a:r>
            <a:r>
              <a:rPr lang="en-US" dirty="0"/>
              <a:t> and ANN</a:t>
            </a:r>
          </a:p>
        </p:txBody>
      </p:sp>
      <p:sp>
        <p:nvSpPr>
          <p:cNvPr id="4" name="AutoShape 2" descr="Uploaded image">
            <a:extLst>
              <a:ext uri="{FF2B5EF4-FFF2-40B4-BE49-F238E27FC236}">
                <a16:creationId xmlns:a16="http://schemas.microsoft.com/office/drawing/2014/main" id="{BAD9BD4D-681E-1179-1FC4-0862527181B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a:extLst>
              <a:ext uri="{FF2B5EF4-FFF2-40B4-BE49-F238E27FC236}">
                <a16:creationId xmlns:a16="http://schemas.microsoft.com/office/drawing/2014/main" id="{FB4E1A40-A01F-EA19-E0C1-C8331DB8AE98}"/>
              </a:ext>
            </a:extLst>
          </p:cNvPr>
          <p:cNvGraphicFramePr>
            <a:graphicFrameLocks noGrp="1"/>
          </p:cNvGraphicFramePr>
          <p:nvPr>
            <p:extLst>
              <p:ext uri="{D42A27DB-BD31-4B8C-83A1-F6EECF244321}">
                <p14:modId xmlns:p14="http://schemas.microsoft.com/office/powerpoint/2010/main" val="1631863974"/>
              </p:ext>
            </p:extLst>
          </p:nvPr>
        </p:nvGraphicFramePr>
        <p:xfrm>
          <a:off x="627062" y="1771710"/>
          <a:ext cx="10937876" cy="4453918"/>
        </p:xfrm>
        <a:graphic>
          <a:graphicData uri="http://schemas.openxmlformats.org/drawingml/2006/table">
            <a:tbl>
              <a:tblPr firstRow="1" bandRow="1">
                <a:tableStyleId>{5940675A-B579-460E-94D1-54222C63F5DA}</a:tableStyleId>
              </a:tblPr>
              <a:tblGrid>
                <a:gridCol w="5468938">
                  <a:extLst>
                    <a:ext uri="{9D8B030D-6E8A-4147-A177-3AD203B41FA5}">
                      <a16:colId xmlns:a16="http://schemas.microsoft.com/office/drawing/2014/main" val="2248158723"/>
                    </a:ext>
                  </a:extLst>
                </a:gridCol>
                <a:gridCol w="5468938">
                  <a:extLst>
                    <a:ext uri="{9D8B030D-6E8A-4147-A177-3AD203B41FA5}">
                      <a16:colId xmlns:a16="http://schemas.microsoft.com/office/drawing/2014/main" val="3296288636"/>
                    </a:ext>
                  </a:extLst>
                </a:gridCol>
              </a:tblGrid>
              <a:tr h="4453918">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29948773"/>
                  </a:ext>
                </a:extLst>
              </a:tr>
            </a:tbl>
          </a:graphicData>
        </a:graphic>
      </p:graphicFrame>
      <p:graphicFrame>
        <p:nvGraphicFramePr>
          <p:cNvPr id="7" name="Table 6">
            <a:extLst>
              <a:ext uri="{FF2B5EF4-FFF2-40B4-BE49-F238E27FC236}">
                <a16:creationId xmlns:a16="http://schemas.microsoft.com/office/drawing/2014/main" id="{690EE89A-37F3-377F-8A6A-05185395D059}"/>
              </a:ext>
            </a:extLst>
          </p:cNvPr>
          <p:cNvGraphicFramePr>
            <a:graphicFrameLocks noGrp="1"/>
          </p:cNvGraphicFramePr>
          <p:nvPr>
            <p:extLst>
              <p:ext uri="{D42A27DB-BD31-4B8C-83A1-F6EECF244321}">
                <p14:modId xmlns:p14="http://schemas.microsoft.com/office/powerpoint/2010/main" val="2221182934"/>
              </p:ext>
            </p:extLst>
          </p:nvPr>
        </p:nvGraphicFramePr>
        <p:xfrm>
          <a:off x="339852" y="1475873"/>
          <a:ext cx="11512296" cy="5086942"/>
        </p:xfrm>
        <a:graphic>
          <a:graphicData uri="http://schemas.openxmlformats.org/drawingml/2006/table">
            <a:tbl>
              <a:tblPr firstRow="1" bandRow="1">
                <a:tableStyleId>{5940675A-B579-460E-94D1-54222C63F5DA}</a:tableStyleId>
              </a:tblPr>
              <a:tblGrid>
                <a:gridCol w="5756148">
                  <a:extLst>
                    <a:ext uri="{9D8B030D-6E8A-4147-A177-3AD203B41FA5}">
                      <a16:colId xmlns:a16="http://schemas.microsoft.com/office/drawing/2014/main" val="4051338566"/>
                    </a:ext>
                  </a:extLst>
                </a:gridCol>
                <a:gridCol w="5756148">
                  <a:extLst>
                    <a:ext uri="{9D8B030D-6E8A-4147-A177-3AD203B41FA5}">
                      <a16:colId xmlns:a16="http://schemas.microsoft.com/office/drawing/2014/main" val="3068494608"/>
                    </a:ext>
                  </a:extLst>
                </a:gridCol>
              </a:tblGrid>
              <a:tr h="5086942">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89216042"/>
                  </a:ext>
                </a:extLst>
              </a:tr>
            </a:tbl>
          </a:graphicData>
        </a:graphic>
      </p:graphicFrame>
      <p:pic>
        <p:nvPicPr>
          <p:cNvPr id="8" name="Picture 7">
            <a:extLst>
              <a:ext uri="{FF2B5EF4-FFF2-40B4-BE49-F238E27FC236}">
                <a16:creationId xmlns:a16="http://schemas.microsoft.com/office/drawing/2014/main" id="{81068C87-C175-9A03-40A0-9AE179657C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852" y="1475873"/>
            <a:ext cx="5756148" cy="5070899"/>
          </a:xfrm>
          <a:prstGeom prst="rect">
            <a:avLst/>
          </a:prstGeom>
        </p:spPr>
      </p:pic>
      <p:pic>
        <p:nvPicPr>
          <p:cNvPr id="10" name="Picture 9">
            <a:extLst>
              <a:ext uri="{FF2B5EF4-FFF2-40B4-BE49-F238E27FC236}">
                <a16:creationId xmlns:a16="http://schemas.microsoft.com/office/drawing/2014/main" id="{F07E262F-692D-B5E4-4E9F-784C3FFC14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1475873"/>
            <a:ext cx="5756148" cy="5070899"/>
          </a:xfrm>
          <a:prstGeom prst="rect">
            <a:avLst/>
          </a:prstGeom>
        </p:spPr>
      </p:pic>
    </p:spTree>
    <p:extLst>
      <p:ext uri="{BB962C8B-B14F-4D97-AF65-F5344CB8AC3E}">
        <p14:creationId xmlns:p14="http://schemas.microsoft.com/office/powerpoint/2010/main" val="4274645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65D3E4CF-7389-BE97-C4F2-C1FB840736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F16AB0-B620-D9BD-799C-1E777B1AB3DA}"/>
              </a:ext>
            </a:extLst>
          </p:cNvPr>
          <p:cNvSpPr>
            <a:spLocks noGrp="1"/>
          </p:cNvSpPr>
          <p:nvPr>
            <p:ph type="title"/>
          </p:nvPr>
        </p:nvSpPr>
        <p:spPr>
          <a:xfrm>
            <a:off x="339849" y="347617"/>
            <a:ext cx="10937875" cy="1219379"/>
          </a:xfrm>
        </p:spPr>
        <p:txBody>
          <a:bodyPr>
            <a:normAutofit fontScale="90000"/>
          </a:bodyPr>
          <a:lstStyle/>
          <a:p>
            <a:r>
              <a:rPr lang="en-US" dirty="0"/>
              <a:t>Prediction vs Ground Truth Plots for </a:t>
            </a:r>
            <a:r>
              <a:rPr lang="en-US" dirty="0" err="1"/>
              <a:t>RingSNN</a:t>
            </a:r>
            <a:r>
              <a:rPr lang="en-US" dirty="0"/>
              <a:t> and ANN</a:t>
            </a:r>
          </a:p>
        </p:txBody>
      </p:sp>
      <p:sp>
        <p:nvSpPr>
          <p:cNvPr id="4" name="AutoShape 2" descr="Uploaded image">
            <a:extLst>
              <a:ext uri="{FF2B5EF4-FFF2-40B4-BE49-F238E27FC236}">
                <a16:creationId xmlns:a16="http://schemas.microsoft.com/office/drawing/2014/main" id="{249684ED-5BD4-AC60-5068-0D1BF2EE966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a:extLst>
              <a:ext uri="{FF2B5EF4-FFF2-40B4-BE49-F238E27FC236}">
                <a16:creationId xmlns:a16="http://schemas.microsoft.com/office/drawing/2014/main" id="{9C6A991B-CC06-3F4E-1F88-CAB49146020F}"/>
              </a:ext>
            </a:extLst>
          </p:cNvPr>
          <p:cNvGraphicFramePr>
            <a:graphicFrameLocks noGrp="1"/>
          </p:cNvGraphicFramePr>
          <p:nvPr>
            <p:extLst>
              <p:ext uri="{D42A27DB-BD31-4B8C-83A1-F6EECF244321}">
                <p14:modId xmlns:p14="http://schemas.microsoft.com/office/powerpoint/2010/main" val="1979885377"/>
              </p:ext>
            </p:extLst>
          </p:nvPr>
        </p:nvGraphicFramePr>
        <p:xfrm>
          <a:off x="627062" y="1771710"/>
          <a:ext cx="10937876" cy="4453918"/>
        </p:xfrm>
        <a:graphic>
          <a:graphicData uri="http://schemas.openxmlformats.org/drawingml/2006/table">
            <a:tbl>
              <a:tblPr firstRow="1" bandRow="1">
                <a:tableStyleId>{5940675A-B579-460E-94D1-54222C63F5DA}</a:tableStyleId>
              </a:tblPr>
              <a:tblGrid>
                <a:gridCol w="5468938">
                  <a:extLst>
                    <a:ext uri="{9D8B030D-6E8A-4147-A177-3AD203B41FA5}">
                      <a16:colId xmlns:a16="http://schemas.microsoft.com/office/drawing/2014/main" val="2248158723"/>
                    </a:ext>
                  </a:extLst>
                </a:gridCol>
                <a:gridCol w="5468938">
                  <a:extLst>
                    <a:ext uri="{9D8B030D-6E8A-4147-A177-3AD203B41FA5}">
                      <a16:colId xmlns:a16="http://schemas.microsoft.com/office/drawing/2014/main" val="3296288636"/>
                    </a:ext>
                  </a:extLst>
                </a:gridCol>
              </a:tblGrid>
              <a:tr h="4453918">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29948773"/>
                  </a:ext>
                </a:extLst>
              </a:tr>
            </a:tbl>
          </a:graphicData>
        </a:graphic>
      </p:graphicFrame>
      <p:graphicFrame>
        <p:nvGraphicFramePr>
          <p:cNvPr id="5" name="Table 4">
            <a:extLst>
              <a:ext uri="{FF2B5EF4-FFF2-40B4-BE49-F238E27FC236}">
                <a16:creationId xmlns:a16="http://schemas.microsoft.com/office/drawing/2014/main" id="{53D97DA2-CBB8-4987-E2F3-85D693FB3314}"/>
              </a:ext>
            </a:extLst>
          </p:cNvPr>
          <p:cNvGraphicFramePr>
            <a:graphicFrameLocks noGrp="1"/>
          </p:cNvGraphicFramePr>
          <p:nvPr>
            <p:extLst>
              <p:ext uri="{D42A27DB-BD31-4B8C-83A1-F6EECF244321}">
                <p14:modId xmlns:p14="http://schemas.microsoft.com/office/powerpoint/2010/main" val="2458544092"/>
              </p:ext>
            </p:extLst>
          </p:nvPr>
        </p:nvGraphicFramePr>
        <p:xfrm>
          <a:off x="339852" y="1566996"/>
          <a:ext cx="11512296" cy="5084064"/>
        </p:xfrm>
        <a:graphic>
          <a:graphicData uri="http://schemas.openxmlformats.org/drawingml/2006/table">
            <a:tbl>
              <a:tblPr firstRow="1" bandRow="1">
                <a:tableStyleId>{5940675A-B579-460E-94D1-54222C63F5DA}</a:tableStyleId>
              </a:tblPr>
              <a:tblGrid>
                <a:gridCol w="5756148">
                  <a:extLst>
                    <a:ext uri="{9D8B030D-6E8A-4147-A177-3AD203B41FA5}">
                      <a16:colId xmlns:a16="http://schemas.microsoft.com/office/drawing/2014/main" val="67419668"/>
                    </a:ext>
                  </a:extLst>
                </a:gridCol>
                <a:gridCol w="5756148">
                  <a:extLst>
                    <a:ext uri="{9D8B030D-6E8A-4147-A177-3AD203B41FA5}">
                      <a16:colId xmlns:a16="http://schemas.microsoft.com/office/drawing/2014/main" val="1094901020"/>
                    </a:ext>
                  </a:extLst>
                </a:gridCol>
              </a:tblGrid>
              <a:tr h="5084064">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01841062"/>
                  </a:ext>
                </a:extLst>
              </a:tr>
            </a:tbl>
          </a:graphicData>
        </a:graphic>
      </p:graphicFrame>
      <p:pic>
        <p:nvPicPr>
          <p:cNvPr id="6" name="Picture 5">
            <a:extLst>
              <a:ext uri="{FF2B5EF4-FFF2-40B4-BE49-F238E27FC236}">
                <a16:creationId xmlns:a16="http://schemas.microsoft.com/office/drawing/2014/main" id="{F4321920-AD99-C838-2CBF-7DB148A438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5998" y="1566996"/>
            <a:ext cx="5756149" cy="5084064"/>
          </a:xfrm>
          <a:prstGeom prst="rect">
            <a:avLst/>
          </a:prstGeom>
        </p:spPr>
      </p:pic>
      <p:pic>
        <p:nvPicPr>
          <p:cNvPr id="7" name="Picture 6">
            <a:extLst>
              <a:ext uri="{FF2B5EF4-FFF2-40B4-BE49-F238E27FC236}">
                <a16:creationId xmlns:a16="http://schemas.microsoft.com/office/drawing/2014/main" id="{95C57B29-0054-018A-539D-67A78B4910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851" y="1566996"/>
            <a:ext cx="5756147" cy="5084064"/>
          </a:xfrm>
          <a:prstGeom prst="rect">
            <a:avLst/>
          </a:prstGeom>
        </p:spPr>
      </p:pic>
    </p:spTree>
    <p:extLst>
      <p:ext uri="{BB962C8B-B14F-4D97-AF65-F5344CB8AC3E}">
        <p14:creationId xmlns:p14="http://schemas.microsoft.com/office/powerpoint/2010/main" val="9652823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CACB9CD0-5097-92F0-315A-62947C356E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CFA3B6-D050-D537-1628-7258A7855B98}"/>
              </a:ext>
            </a:extLst>
          </p:cNvPr>
          <p:cNvSpPr>
            <a:spLocks noGrp="1"/>
          </p:cNvSpPr>
          <p:nvPr>
            <p:ph type="title"/>
          </p:nvPr>
        </p:nvSpPr>
        <p:spPr>
          <a:xfrm>
            <a:off x="353567" y="278958"/>
            <a:ext cx="11211371" cy="1219379"/>
          </a:xfrm>
        </p:spPr>
        <p:txBody>
          <a:bodyPr>
            <a:normAutofit fontScale="90000"/>
          </a:bodyPr>
          <a:lstStyle/>
          <a:p>
            <a:r>
              <a:rPr lang="en-US" dirty="0"/>
              <a:t>Prediction vs Ground Truth Plots for </a:t>
            </a:r>
            <a:r>
              <a:rPr lang="en-US" dirty="0" err="1"/>
              <a:t>RingSNN</a:t>
            </a:r>
            <a:r>
              <a:rPr lang="en-US" dirty="0"/>
              <a:t> and ANN</a:t>
            </a:r>
          </a:p>
        </p:txBody>
      </p:sp>
      <p:sp>
        <p:nvSpPr>
          <p:cNvPr id="4" name="AutoShape 2" descr="Uploaded image">
            <a:extLst>
              <a:ext uri="{FF2B5EF4-FFF2-40B4-BE49-F238E27FC236}">
                <a16:creationId xmlns:a16="http://schemas.microsoft.com/office/drawing/2014/main" id="{F2FD1B26-05E4-7A1A-91CE-D50D4B9439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a:extLst>
              <a:ext uri="{FF2B5EF4-FFF2-40B4-BE49-F238E27FC236}">
                <a16:creationId xmlns:a16="http://schemas.microsoft.com/office/drawing/2014/main" id="{4F05C971-1954-23B2-92E2-FF6AF7EAA7CE}"/>
              </a:ext>
            </a:extLst>
          </p:cNvPr>
          <p:cNvGraphicFramePr>
            <a:graphicFrameLocks noGrp="1"/>
          </p:cNvGraphicFramePr>
          <p:nvPr>
            <p:extLst>
              <p:ext uri="{D42A27DB-BD31-4B8C-83A1-F6EECF244321}">
                <p14:modId xmlns:p14="http://schemas.microsoft.com/office/powerpoint/2010/main" val="3439760766"/>
              </p:ext>
            </p:extLst>
          </p:nvPr>
        </p:nvGraphicFramePr>
        <p:xfrm>
          <a:off x="627062" y="1771710"/>
          <a:ext cx="10937876" cy="4453918"/>
        </p:xfrm>
        <a:graphic>
          <a:graphicData uri="http://schemas.openxmlformats.org/drawingml/2006/table">
            <a:tbl>
              <a:tblPr firstRow="1" bandRow="1">
                <a:tableStyleId>{5940675A-B579-460E-94D1-54222C63F5DA}</a:tableStyleId>
              </a:tblPr>
              <a:tblGrid>
                <a:gridCol w="5468938">
                  <a:extLst>
                    <a:ext uri="{9D8B030D-6E8A-4147-A177-3AD203B41FA5}">
                      <a16:colId xmlns:a16="http://schemas.microsoft.com/office/drawing/2014/main" val="2248158723"/>
                    </a:ext>
                  </a:extLst>
                </a:gridCol>
                <a:gridCol w="5468938">
                  <a:extLst>
                    <a:ext uri="{9D8B030D-6E8A-4147-A177-3AD203B41FA5}">
                      <a16:colId xmlns:a16="http://schemas.microsoft.com/office/drawing/2014/main" val="3296288636"/>
                    </a:ext>
                  </a:extLst>
                </a:gridCol>
              </a:tblGrid>
              <a:tr h="4453918">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29948773"/>
                  </a:ext>
                </a:extLst>
              </a:tr>
            </a:tbl>
          </a:graphicData>
        </a:graphic>
      </p:graphicFrame>
      <p:graphicFrame>
        <p:nvGraphicFramePr>
          <p:cNvPr id="7" name="Table 6">
            <a:extLst>
              <a:ext uri="{FF2B5EF4-FFF2-40B4-BE49-F238E27FC236}">
                <a16:creationId xmlns:a16="http://schemas.microsoft.com/office/drawing/2014/main" id="{79008D72-F77C-B1E6-F85D-618020D81BD0}"/>
              </a:ext>
            </a:extLst>
          </p:cNvPr>
          <p:cNvGraphicFramePr>
            <a:graphicFrameLocks noGrp="1"/>
          </p:cNvGraphicFramePr>
          <p:nvPr>
            <p:extLst>
              <p:ext uri="{D42A27DB-BD31-4B8C-83A1-F6EECF244321}">
                <p14:modId xmlns:p14="http://schemas.microsoft.com/office/powerpoint/2010/main" val="4152431091"/>
              </p:ext>
            </p:extLst>
          </p:nvPr>
        </p:nvGraphicFramePr>
        <p:xfrm>
          <a:off x="353568" y="1498337"/>
          <a:ext cx="11484864" cy="5084064"/>
        </p:xfrm>
        <a:graphic>
          <a:graphicData uri="http://schemas.openxmlformats.org/drawingml/2006/table">
            <a:tbl>
              <a:tblPr firstRow="1" bandRow="1">
                <a:tableStyleId>{5940675A-B579-460E-94D1-54222C63F5DA}</a:tableStyleId>
              </a:tblPr>
              <a:tblGrid>
                <a:gridCol w="5742432">
                  <a:extLst>
                    <a:ext uri="{9D8B030D-6E8A-4147-A177-3AD203B41FA5}">
                      <a16:colId xmlns:a16="http://schemas.microsoft.com/office/drawing/2014/main" val="4229553148"/>
                    </a:ext>
                  </a:extLst>
                </a:gridCol>
                <a:gridCol w="5742432">
                  <a:extLst>
                    <a:ext uri="{9D8B030D-6E8A-4147-A177-3AD203B41FA5}">
                      <a16:colId xmlns:a16="http://schemas.microsoft.com/office/drawing/2014/main" val="4014081994"/>
                    </a:ext>
                  </a:extLst>
                </a:gridCol>
              </a:tblGrid>
              <a:tr h="5084064">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7782545"/>
                  </a:ext>
                </a:extLst>
              </a:tr>
            </a:tbl>
          </a:graphicData>
        </a:graphic>
      </p:graphicFrame>
      <p:pic>
        <p:nvPicPr>
          <p:cNvPr id="8" name="Picture 7">
            <a:extLst>
              <a:ext uri="{FF2B5EF4-FFF2-40B4-BE49-F238E27FC236}">
                <a16:creationId xmlns:a16="http://schemas.microsoft.com/office/drawing/2014/main" id="{9340EFE7-8FCD-8EB0-4ECE-8C3CD0E47C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494979"/>
            <a:ext cx="5742432" cy="5090780"/>
          </a:xfrm>
          <a:prstGeom prst="rect">
            <a:avLst/>
          </a:prstGeom>
        </p:spPr>
      </p:pic>
      <p:pic>
        <p:nvPicPr>
          <p:cNvPr id="11" name="Picture 10">
            <a:extLst>
              <a:ext uri="{FF2B5EF4-FFF2-40B4-BE49-F238E27FC236}">
                <a16:creationId xmlns:a16="http://schemas.microsoft.com/office/drawing/2014/main" id="{6C47BCFD-A743-7A47-569F-C7B044F3DA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567" y="1494979"/>
            <a:ext cx="5742434" cy="5090780"/>
          </a:xfrm>
          <a:prstGeom prst="rect">
            <a:avLst/>
          </a:prstGeom>
        </p:spPr>
      </p:pic>
    </p:spTree>
    <p:extLst>
      <p:ext uri="{BB962C8B-B14F-4D97-AF65-F5344CB8AC3E}">
        <p14:creationId xmlns:p14="http://schemas.microsoft.com/office/powerpoint/2010/main" val="30190835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AD57EC59-51D9-B9C6-FB26-ED8DA7766F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2517F3-582E-9CB5-F329-FD030696786F}"/>
              </a:ext>
            </a:extLst>
          </p:cNvPr>
          <p:cNvSpPr>
            <a:spLocks noGrp="1"/>
          </p:cNvSpPr>
          <p:nvPr>
            <p:ph type="title"/>
          </p:nvPr>
        </p:nvSpPr>
        <p:spPr>
          <a:xfrm>
            <a:off x="339852" y="457170"/>
            <a:ext cx="4607326" cy="940234"/>
          </a:xfrm>
        </p:spPr>
        <p:txBody>
          <a:bodyPr>
            <a:normAutofit/>
          </a:bodyPr>
          <a:lstStyle/>
          <a:p>
            <a:r>
              <a:rPr lang="en-US" kern="100" dirty="0">
                <a:ea typeface="Calibri" panose="020F0502020204030204" pitchFamily="34" charset="0"/>
                <a:cs typeface="Times New Roman" panose="02020603050405020304" pitchFamily="18" charset="0"/>
              </a:rPr>
              <a:t>Decoder Weights</a:t>
            </a:r>
            <a:endParaRPr lang="en-US" dirty="0"/>
          </a:p>
        </p:txBody>
      </p:sp>
      <p:sp>
        <p:nvSpPr>
          <p:cNvPr id="4" name="AutoShape 2" descr="Uploaded image">
            <a:extLst>
              <a:ext uri="{FF2B5EF4-FFF2-40B4-BE49-F238E27FC236}">
                <a16:creationId xmlns:a16="http://schemas.microsoft.com/office/drawing/2014/main" id="{FD9C091C-DAAA-8BA5-44D5-85A8A2A6957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30440BDB-50D8-DDC5-5657-F2501E821B77}"/>
              </a:ext>
            </a:extLst>
          </p:cNvPr>
          <p:cNvGraphicFramePr>
            <a:graphicFrameLocks noGrp="1"/>
          </p:cNvGraphicFramePr>
          <p:nvPr>
            <p:extLst>
              <p:ext uri="{D42A27DB-BD31-4B8C-83A1-F6EECF244321}">
                <p14:modId xmlns:p14="http://schemas.microsoft.com/office/powerpoint/2010/main" val="2719748211"/>
              </p:ext>
            </p:extLst>
          </p:nvPr>
        </p:nvGraphicFramePr>
        <p:xfrm>
          <a:off x="339852" y="1752600"/>
          <a:ext cx="11512296" cy="3657600"/>
        </p:xfrm>
        <a:graphic>
          <a:graphicData uri="http://schemas.openxmlformats.org/drawingml/2006/table">
            <a:tbl>
              <a:tblPr firstRow="1" bandRow="1">
                <a:tableStyleId>{5940675A-B579-460E-94D1-54222C63F5DA}</a:tableStyleId>
              </a:tblPr>
              <a:tblGrid>
                <a:gridCol w="3837432">
                  <a:extLst>
                    <a:ext uri="{9D8B030D-6E8A-4147-A177-3AD203B41FA5}">
                      <a16:colId xmlns:a16="http://schemas.microsoft.com/office/drawing/2014/main" val="4066198822"/>
                    </a:ext>
                  </a:extLst>
                </a:gridCol>
                <a:gridCol w="3837432">
                  <a:extLst>
                    <a:ext uri="{9D8B030D-6E8A-4147-A177-3AD203B41FA5}">
                      <a16:colId xmlns:a16="http://schemas.microsoft.com/office/drawing/2014/main" val="1668405650"/>
                    </a:ext>
                  </a:extLst>
                </a:gridCol>
                <a:gridCol w="3837432">
                  <a:extLst>
                    <a:ext uri="{9D8B030D-6E8A-4147-A177-3AD203B41FA5}">
                      <a16:colId xmlns:a16="http://schemas.microsoft.com/office/drawing/2014/main" val="2388011701"/>
                    </a:ext>
                  </a:extLst>
                </a:gridCol>
              </a:tblGrid>
              <a:tr h="365760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926930"/>
                  </a:ext>
                </a:extLst>
              </a:tr>
            </a:tbl>
          </a:graphicData>
        </a:graphic>
      </p:graphicFrame>
      <p:pic>
        <p:nvPicPr>
          <p:cNvPr id="6" name="Picture 5">
            <a:extLst>
              <a:ext uri="{FF2B5EF4-FFF2-40B4-BE49-F238E27FC236}">
                <a16:creationId xmlns:a16="http://schemas.microsoft.com/office/drawing/2014/main" id="{EDD6DB9B-B978-5141-E6DC-7596001F6C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56414" y="1748589"/>
            <a:ext cx="3816562" cy="3665622"/>
          </a:xfrm>
          <a:prstGeom prst="rect">
            <a:avLst/>
          </a:prstGeom>
        </p:spPr>
      </p:pic>
      <p:pic>
        <p:nvPicPr>
          <p:cNvPr id="7" name="Picture 6">
            <a:extLst>
              <a:ext uri="{FF2B5EF4-FFF2-40B4-BE49-F238E27FC236}">
                <a16:creationId xmlns:a16="http://schemas.microsoft.com/office/drawing/2014/main" id="{9CF24394-6C76-D8C0-4AA5-FCA012AF0C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72976" y="1748589"/>
            <a:ext cx="3879171" cy="3665622"/>
          </a:xfrm>
          <a:prstGeom prst="rect">
            <a:avLst/>
          </a:prstGeom>
        </p:spPr>
      </p:pic>
      <p:pic>
        <p:nvPicPr>
          <p:cNvPr id="8" name="Picture 7">
            <a:extLst>
              <a:ext uri="{FF2B5EF4-FFF2-40B4-BE49-F238E27FC236}">
                <a16:creationId xmlns:a16="http://schemas.microsoft.com/office/drawing/2014/main" id="{5FDAE09B-B49E-BA85-392A-2497BBCD27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9851" y="1744578"/>
            <a:ext cx="3816562" cy="3665622"/>
          </a:xfrm>
          <a:prstGeom prst="rect">
            <a:avLst/>
          </a:prstGeom>
        </p:spPr>
      </p:pic>
    </p:spTree>
    <p:extLst>
      <p:ext uri="{BB962C8B-B14F-4D97-AF65-F5344CB8AC3E}">
        <p14:creationId xmlns:p14="http://schemas.microsoft.com/office/powerpoint/2010/main" val="1089333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431BE434-186F-793A-EB8E-6F5AF0599C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9DBADB-DED6-B0D1-0BA6-0E40F3F5A4A5}"/>
              </a:ext>
            </a:extLst>
          </p:cNvPr>
          <p:cNvSpPr>
            <a:spLocks noGrp="1"/>
          </p:cNvSpPr>
          <p:nvPr>
            <p:ph type="title"/>
          </p:nvPr>
        </p:nvSpPr>
        <p:spPr>
          <a:xfrm>
            <a:off x="404317" y="420550"/>
            <a:ext cx="4045852" cy="940234"/>
          </a:xfrm>
        </p:spPr>
        <p:txBody>
          <a:bodyPr>
            <a:normAutofit fontScale="90000"/>
          </a:bodyPr>
          <a:lstStyle/>
          <a:p>
            <a:r>
              <a:rPr lang="en-US" dirty="0"/>
              <a:t>Spike Raster Plots</a:t>
            </a:r>
          </a:p>
        </p:txBody>
      </p:sp>
      <p:sp>
        <p:nvSpPr>
          <p:cNvPr id="4" name="AutoShape 2" descr="Uploaded image">
            <a:extLst>
              <a:ext uri="{FF2B5EF4-FFF2-40B4-BE49-F238E27FC236}">
                <a16:creationId xmlns:a16="http://schemas.microsoft.com/office/drawing/2014/main" id="{A292AE56-3446-F078-109E-4F9ED2C65CA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5" name="Table 14">
            <a:extLst>
              <a:ext uri="{FF2B5EF4-FFF2-40B4-BE49-F238E27FC236}">
                <a16:creationId xmlns:a16="http://schemas.microsoft.com/office/drawing/2014/main" id="{45F72C4A-5067-82D7-B059-75B158E6C017}"/>
              </a:ext>
            </a:extLst>
          </p:cNvPr>
          <p:cNvGraphicFramePr>
            <a:graphicFrameLocks noGrp="1"/>
          </p:cNvGraphicFramePr>
          <p:nvPr>
            <p:extLst>
              <p:ext uri="{D42A27DB-BD31-4B8C-83A1-F6EECF244321}">
                <p14:modId xmlns:p14="http://schemas.microsoft.com/office/powerpoint/2010/main" val="2346288869"/>
              </p:ext>
            </p:extLst>
          </p:nvPr>
        </p:nvGraphicFramePr>
        <p:xfrm>
          <a:off x="340518" y="1976005"/>
          <a:ext cx="11510964" cy="3657600"/>
        </p:xfrm>
        <a:graphic>
          <a:graphicData uri="http://schemas.openxmlformats.org/drawingml/2006/table">
            <a:tbl>
              <a:tblPr firstRow="1" bandRow="1">
                <a:tableStyleId>{5940675A-B579-460E-94D1-54222C63F5DA}</a:tableStyleId>
              </a:tblPr>
              <a:tblGrid>
                <a:gridCol w="3836988">
                  <a:extLst>
                    <a:ext uri="{9D8B030D-6E8A-4147-A177-3AD203B41FA5}">
                      <a16:colId xmlns:a16="http://schemas.microsoft.com/office/drawing/2014/main" val="1717221436"/>
                    </a:ext>
                  </a:extLst>
                </a:gridCol>
                <a:gridCol w="3836988">
                  <a:extLst>
                    <a:ext uri="{9D8B030D-6E8A-4147-A177-3AD203B41FA5}">
                      <a16:colId xmlns:a16="http://schemas.microsoft.com/office/drawing/2014/main" val="3325677941"/>
                    </a:ext>
                  </a:extLst>
                </a:gridCol>
                <a:gridCol w="3836988">
                  <a:extLst>
                    <a:ext uri="{9D8B030D-6E8A-4147-A177-3AD203B41FA5}">
                      <a16:colId xmlns:a16="http://schemas.microsoft.com/office/drawing/2014/main" val="3700228151"/>
                    </a:ext>
                  </a:extLst>
                </a:gridCol>
              </a:tblGrid>
              <a:tr h="365760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69793576"/>
                  </a:ext>
                </a:extLst>
              </a:tr>
            </a:tbl>
          </a:graphicData>
        </a:graphic>
      </p:graphicFrame>
      <p:graphicFrame>
        <p:nvGraphicFramePr>
          <p:cNvPr id="2" name="Table 1">
            <a:extLst>
              <a:ext uri="{FF2B5EF4-FFF2-40B4-BE49-F238E27FC236}">
                <a16:creationId xmlns:a16="http://schemas.microsoft.com/office/drawing/2014/main" id="{9CA822A6-EE8D-9CB1-CFAF-EF6A46B7122E}"/>
              </a:ext>
            </a:extLst>
          </p:cNvPr>
          <p:cNvGraphicFramePr>
            <a:graphicFrameLocks noGrp="1"/>
          </p:cNvGraphicFramePr>
          <p:nvPr>
            <p:extLst>
              <p:ext uri="{D42A27DB-BD31-4B8C-83A1-F6EECF244321}">
                <p14:modId xmlns:p14="http://schemas.microsoft.com/office/powerpoint/2010/main" val="1345180413"/>
              </p:ext>
            </p:extLst>
          </p:nvPr>
        </p:nvGraphicFramePr>
        <p:xfrm>
          <a:off x="340518" y="1839615"/>
          <a:ext cx="11512296" cy="3657600"/>
        </p:xfrm>
        <a:graphic>
          <a:graphicData uri="http://schemas.openxmlformats.org/drawingml/2006/table">
            <a:tbl>
              <a:tblPr firstRow="1" bandRow="1">
                <a:tableStyleId>{5940675A-B579-460E-94D1-54222C63F5DA}</a:tableStyleId>
              </a:tblPr>
              <a:tblGrid>
                <a:gridCol w="3837432">
                  <a:extLst>
                    <a:ext uri="{9D8B030D-6E8A-4147-A177-3AD203B41FA5}">
                      <a16:colId xmlns:a16="http://schemas.microsoft.com/office/drawing/2014/main" val="2830714628"/>
                    </a:ext>
                  </a:extLst>
                </a:gridCol>
                <a:gridCol w="3837432">
                  <a:extLst>
                    <a:ext uri="{9D8B030D-6E8A-4147-A177-3AD203B41FA5}">
                      <a16:colId xmlns:a16="http://schemas.microsoft.com/office/drawing/2014/main" val="4108740630"/>
                    </a:ext>
                  </a:extLst>
                </a:gridCol>
                <a:gridCol w="3837432">
                  <a:extLst>
                    <a:ext uri="{9D8B030D-6E8A-4147-A177-3AD203B41FA5}">
                      <a16:colId xmlns:a16="http://schemas.microsoft.com/office/drawing/2014/main" val="2032835275"/>
                    </a:ext>
                  </a:extLst>
                </a:gridCol>
              </a:tblGrid>
              <a:tr h="365760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5362833"/>
                  </a:ext>
                </a:extLst>
              </a:tr>
            </a:tbl>
          </a:graphicData>
        </a:graphic>
      </p:graphicFrame>
      <p:pic>
        <p:nvPicPr>
          <p:cNvPr id="5" name="Picture 4">
            <a:extLst>
              <a:ext uri="{FF2B5EF4-FFF2-40B4-BE49-F238E27FC236}">
                <a16:creationId xmlns:a16="http://schemas.microsoft.com/office/drawing/2014/main" id="{ED378EF1-F915-2527-6003-DDD3074551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0049" y="1833266"/>
            <a:ext cx="3771902" cy="3663949"/>
          </a:xfrm>
          <a:prstGeom prst="rect">
            <a:avLst/>
          </a:prstGeom>
        </p:spPr>
      </p:pic>
      <p:pic>
        <p:nvPicPr>
          <p:cNvPr id="6" name="Picture 5">
            <a:extLst>
              <a:ext uri="{FF2B5EF4-FFF2-40B4-BE49-F238E27FC236}">
                <a16:creationId xmlns:a16="http://schemas.microsoft.com/office/drawing/2014/main" id="{12B13FDA-00C5-9F4F-0560-F8FED836BF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05330" y="1845966"/>
            <a:ext cx="3846152" cy="3651249"/>
          </a:xfrm>
          <a:prstGeom prst="rect">
            <a:avLst/>
          </a:prstGeom>
        </p:spPr>
      </p:pic>
      <p:pic>
        <p:nvPicPr>
          <p:cNvPr id="7" name="Picture 6">
            <a:extLst>
              <a:ext uri="{FF2B5EF4-FFF2-40B4-BE49-F238E27FC236}">
                <a16:creationId xmlns:a16="http://schemas.microsoft.com/office/drawing/2014/main" id="{334E1696-DC15-D976-A70D-A4DB7F04AE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9186" y="1833265"/>
            <a:ext cx="3869530" cy="3800339"/>
          </a:xfrm>
          <a:prstGeom prst="rect">
            <a:avLst/>
          </a:prstGeom>
        </p:spPr>
      </p:pic>
    </p:spTree>
    <p:extLst>
      <p:ext uri="{BB962C8B-B14F-4D97-AF65-F5344CB8AC3E}">
        <p14:creationId xmlns:p14="http://schemas.microsoft.com/office/powerpoint/2010/main" val="41497709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547E9E0C-24FD-C355-FC7D-30B528CF050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0DB9451-4728-838C-2D76-25521CDE76D1}"/>
              </a:ext>
            </a:extLst>
          </p:cNvPr>
          <p:cNvSpPr>
            <a:spLocks noGrp="1"/>
          </p:cNvSpPr>
          <p:nvPr>
            <p:ph type="title"/>
          </p:nvPr>
        </p:nvSpPr>
        <p:spPr>
          <a:xfrm>
            <a:off x="339852" y="430353"/>
            <a:ext cx="7414694" cy="940234"/>
          </a:xfrm>
        </p:spPr>
        <p:txBody>
          <a:bodyPr>
            <a:normAutofit/>
          </a:bodyPr>
          <a:lstStyle/>
          <a:p>
            <a:r>
              <a:rPr lang="en-US" dirty="0"/>
              <a:t>Spike Density per Neuron</a:t>
            </a:r>
          </a:p>
        </p:txBody>
      </p:sp>
      <p:sp>
        <p:nvSpPr>
          <p:cNvPr id="4" name="AutoShape 2" descr="Uploaded image">
            <a:extLst>
              <a:ext uri="{FF2B5EF4-FFF2-40B4-BE49-F238E27FC236}">
                <a16:creationId xmlns:a16="http://schemas.microsoft.com/office/drawing/2014/main" id="{7597AE53-BCA6-3005-D248-4A20D4CAF4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1" name="Table 10">
            <a:extLst>
              <a:ext uri="{FF2B5EF4-FFF2-40B4-BE49-F238E27FC236}">
                <a16:creationId xmlns:a16="http://schemas.microsoft.com/office/drawing/2014/main" id="{FB6D837F-70E4-C95E-C00C-9279FC202E17}"/>
              </a:ext>
            </a:extLst>
          </p:cNvPr>
          <p:cNvGraphicFramePr>
            <a:graphicFrameLocks noGrp="1"/>
          </p:cNvGraphicFramePr>
          <p:nvPr/>
        </p:nvGraphicFramePr>
        <p:xfrm>
          <a:off x="642938" y="2086499"/>
          <a:ext cx="10515600" cy="4285726"/>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2673060669"/>
                    </a:ext>
                  </a:extLst>
                </a:gridCol>
                <a:gridCol w="3505200">
                  <a:extLst>
                    <a:ext uri="{9D8B030D-6E8A-4147-A177-3AD203B41FA5}">
                      <a16:colId xmlns:a16="http://schemas.microsoft.com/office/drawing/2014/main" val="319547702"/>
                    </a:ext>
                  </a:extLst>
                </a:gridCol>
                <a:gridCol w="3505200">
                  <a:extLst>
                    <a:ext uri="{9D8B030D-6E8A-4147-A177-3AD203B41FA5}">
                      <a16:colId xmlns:a16="http://schemas.microsoft.com/office/drawing/2014/main" val="774309067"/>
                    </a:ext>
                  </a:extLst>
                </a:gridCol>
              </a:tblGrid>
              <a:tr h="4285726">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3121236"/>
                  </a:ext>
                </a:extLst>
              </a:tr>
            </a:tbl>
          </a:graphicData>
        </a:graphic>
      </p:graphicFrame>
      <p:graphicFrame>
        <p:nvGraphicFramePr>
          <p:cNvPr id="7" name="Table 6">
            <a:extLst>
              <a:ext uri="{FF2B5EF4-FFF2-40B4-BE49-F238E27FC236}">
                <a16:creationId xmlns:a16="http://schemas.microsoft.com/office/drawing/2014/main" id="{5580818E-FC9A-0FC1-AC8F-F855AFBE3A45}"/>
              </a:ext>
            </a:extLst>
          </p:cNvPr>
          <p:cNvGraphicFramePr>
            <a:graphicFrameLocks noGrp="1"/>
          </p:cNvGraphicFramePr>
          <p:nvPr>
            <p:extLst>
              <p:ext uri="{D42A27DB-BD31-4B8C-83A1-F6EECF244321}">
                <p14:modId xmlns:p14="http://schemas.microsoft.com/office/powerpoint/2010/main" val="794883314"/>
              </p:ext>
            </p:extLst>
          </p:nvPr>
        </p:nvGraphicFramePr>
        <p:xfrm>
          <a:off x="339852" y="1965637"/>
          <a:ext cx="11512296" cy="3657600"/>
        </p:xfrm>
        <a:graphic>
          <a:graphicData uri="http://schemas.openxmlformats.org/drawingml/2006/table">
            <a:tbl>
              <a:tblPr firstRow="1" bandRow="1">
                <a:tableStyleId>{5940675A-B579-460E-94D1-54222C63F5DA}</a:tableStyleId>
              </a:tblPr>
              <a:tblGrid>
                <a:gridCol w="3837432">
                  <a:extLst>
                    <a:ext uri="{9D8B030D-6E8A-4147-A177-3AD203B41FA5}">
                      <a16:colId xmlns:a16="http://schemas.microsoft.com/office/drawing/2014/main" val="45506884"/>
                    </a:ext>
                  </a:extLst>
                </a:gridCol>
                <a:gridCol w="3837432">
                  <a:extLst>
                    <a:ext uri="{9D8B030D-6E8A-4147-A177-3AD203B41FA5}">
                      <a16:colId xmlns:a16="http://schemas.microsoft.com/office/drawing/2014/main" val="3760293337"/>
                    </a:ext>
                  </a:extLst>
                </a:gridCol>
                <a:gridCol w="3837432">
                  <a:extLst>
                    <a:ext uri="{9D8B030D-6E8A-4147-A177-3AD203B41FA5}">
                      <a16:colId xmlns:a16="http://schemas.microsoft.com/office/drawing/2014/main" val="2497224765"/>
                    </a:ext>
                  </a:extLst>
                </a:gridCol>
              </a:tblGrid>
              <a:tr h="365760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1891955"/>
                  </a:ext>
                </a:extLst>
              </a:tr>
            </a:tbl>
          </a:graphicData>
        </a:graphic>
      </p:graphicFrame>
      <p:pic>
        <p:nvPicPr>
          <p:cNvPr id="8" name="Picture 7">
            <a:extLst>
              <a:ext uri="{FF2B5EF4-FFF2-40B4-BE49-F238E27FC236}">
                <a16:creationId xmlns:a16="http://schemas.microsoft.com/office/drawing/2014/main" id="{F64ED5ED-A88B-4FBF-550B-31F05CDEA1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9852" y="1965637"/>
            <a:ext cx="3818317" cy="3657600"/>
          </a:xfrm>
          <a:prstGeom prst="rect">
            <a:avLst/>
          </a:prstGeom>
        </p:spPr>
      </p:pic>
      <p:pic>
        <p:nvPicPr>
          <p:cNvPr id="9" name="Picture 8">
            <a:extLst>
              <a:ext uri="{FF2B5EF4-FFF2-40B4-BE49-F238E27FC236}">
                <a16:creationId xmlns:a16="http://schemas.microsoft.com/office/drawing/2014/main" id="{D068E97E-1274-523B-46A8-8F915C42CF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58169" y="1965638"/>
            <a:ext cx="3875663" cy="3657600"/>
          </a:xfrm>
          <a:prstGeom prst="rect">
            <a:avLst/>
          </a:prstGeom>
        </p:spPr>
      </p:pic>
      <p:pic>
        <p:nvPicPr>
          <p:cNvPr id="12" name="Picture 11">
            <a:extLst>
              <a:ext uri="{FF2B5EF4-FFF2-40B4-BE49-F238E27FC236}">
                <a16:creationId xmlns:a16="http://schemas.microsoft.com/office/drawing/2014/main" id="{3E2EC48E-C031-211E-C39C-71A34F80FC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33831" y="1965637"/>
            <a:ext cx="3818316" cy="3768935"/>
          </a:xfrm>
          <a:prstGeom prst="rect">
            <a:avLst/>
          </a:prstGeom>
        </p:spPr>
      </p:pic>
    </p:spTree>
    <p:extLst>
      <p:ext uri="{BB962C8B-B14F-4D97-AF65-F5344CB8AC3E}">
        <p14:creationId xmlns:p14="http://schemas.microsoft.com/office/powerpoint/2010/main" val="7734566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9C1904C3-EE91-0B86-F342-6E9FA5A33E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A91F99-5E09-FC01-1F0C-2D9F4A3F26C9}"/>
              </a:ext>
            </a:extLst>
          </p:cNvPr>
          <p:cNvSpPr>
            <a:spLocks noGrp="1"/>
          </p:cNvSpPr>
          <p:nvPr>
            <p:ph type="title"/>
          </p:nvPr>
        </p:nvSpPr>
        <p:spPr>
          <a:xfrm>
            <a:off x="339852" y="430353"/>
            <a:ext cx="7414694" cy="940234"/>
          </a:xfrm>
        </p:spPr>
        <p:txBody>
          <a:bodyPr>
            <a:normAutofit/>
          </a:bodyPr>
          <a:lstStyle/>
          <a:p>
            <a:r>
              <a:rPr lang="en-US" dirty="0"/>
              <a:t>Energy States</a:t>
            </a:r>
          </a:p>
        </p:txBody>
      </p:sp>
      <p:sp>
        <p:nvSpPr>
          <p:cNvPr id="4" name="AutoShape 2" descr="Uploaded image">
            <a:extLst>
              <a:ext uri="{FF2B5EF4-FFF2-40B4-BE49-F238E27FC236}">
                <a16:creationId xmlns:a16="http://schemas.microsoft.com/office/drawing/2014/main" id="{0FA5B7B0-A375-B2F0-E240-7F95538B197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989FA00D-28F5-A679-61A7-CE62AFBE1CF3}"/>
              </a:ext>
            </a:extLst>
          </p:cNvPr>
          <p:cNvGraphicFramePr>
            <a:graphicFrameLocks noGrp="1"/>
          </p:cNvGraphicFramePr>
          <p:nvPr>
            <p:extLst>
              <p:ext uri="{D42A27DB-BD31-4B8C-83A1-F6EECF244321}">
                <p14:modId xmlns:p14="http://schemas.microsoft.com/office/powerpoint/2010/main" val="3269718860"/>
              </p:ext>
            </p:extLst>
          </p:nvPr>
        </p:nvGraphicFramePr>
        <p:xfrm>
          <a:off x="685580" y="2622745"/>
          <a:ext cx="11125640" cy="2614591"/>
        </p:xfrm>
        <a:graphic>
          <a:graphicData uri="http://schemas.openxmlformats.org/drawingml/2006/table">
            <a:tbl>
              <a:tblPr firstRow="1" bandRow="1">
                <a:tableStyleId>{5C22544A-7EE6-4342-B048-85BDC9FD1C3A}</a:tableStyleId>
              </a:tblPr>
              <a:tblGrid>
                <a:gridCol w="2422962">
                  <a:extLst>
                    <a:ext uri="{9D8B030D-6E8A-4147-A177-3AD203B41FA5}">
                      <a16:colId xmlns:a16="http://schemas.microsoft.com/office/drawing/2014/main" val="4041023439"/>
                    </a:ext>
                  </a:extLst>
                </a:gridCol>
                <a:gridCol w="2066795">
                  <a:extLst>
                    <a:ext uri="{9D8B030D-6E8A-4147-A177-3AD203B41FA5}">
                      <a16:colId xmlns:a16="http://schemas.microsoft.com/office/drawing/2014/main" val="3744466078"/>
                    </a:ext>
                  </a:extLst>
                </a:gridCol>
                <a:gridCol w="2154477">
                  <a:extLst>
                    <a:ext uri="{9D8B030D-6E8A-4147-A177-3AD203B41FA5}">
                      <a16:colId xmlns:a16="http://schemas.microsoft.com/office/drawing/2014/main" val="659723375"/>
                    </a:ext>
                  </a:extLst>
                </a:gridCol>
                <a:gridCol w="2636037">
                  <a:extLst>
                    <a:ext uri="{9D8B030D-6E8A-4147-A177-3AD203B41FA5}">
                      <a16:colId xmlns:a16="http://schemas.microsoft.com/office/drawing/2014/main" val="504128105"/>
                    </a:ext>
                  </a:extLst>
                </a:gridCol>
                <a:gridCol w="1845369">
                  <a:extLst>
                    <a:ext uri="{9D8B030D-6E8A-4147-A177-3AD203B41FA5}">
                      <a16:colId xmlns:a16="http://schemas.microsoft.com/office/drawing/2014/main" val="1674413401"/>
                    </a:ext>
                  </a:extLst>
                </a:gridCol>
              </a:tblGrid>
              <a:tr h="994793">
                <a:tc>
                  <a:txBody>
                    <a:bodyPr/>
                    <a:lstStyle/>
                    <a:p>
                      <a:pPr algn="ctr"/>
                      <a:endParaRPr lang="en-US" sz="2400" dirty="0"/>
                    </a:p>
                    <a:p>
                      <a:pPr algn="ctr"/>
                      <a:r>
                        <a:rPr lang="en-US" sz="2400" dirty="0"/>
                        <a:t>Dataset</a:t>
                      </a:r>
                    </a:p>
                  </a:txBody>
                  <a:tcPr/>
                </a:tc>
                <a:tc>
                  <a:txBody>
                    <a:bodyPr/>
                    <a:lstStyle/>
                    <a:p>
                      <a:pPr algn="ctr"/>
                      <a:r>
                        <a:rPr lang="en-US" sz="2400" dirty="0"/>
                        <a:t>Total Energy Consumption</a:t>
                      </a:r>
                    </a:p>
                    <a:p>
                      <a:pPr algn="ctr"/>
                      <a:r>
                        <a:rPr lang="en-US" sz="2400" dirty="0"/>
                        <a:t>(J)</a:t>
                      </a:r>
                    </a:p>
                  </a:txBody>
                  <a:tcPr/>
                </a:tc>
                <a:tc>
                  <a:txBody>
                    <a:bodyPr/>
                    <a:lstStyle/>
                    <a:p>
                      <a:pPr algn="ctr"/>
                      <a:r>
                        <a:rPr lang="en-US" sz="2400" dirty="0"/>
                        <a:t>Idle Energy</a:t>
                      </a:r>
                    </a:p>
                    <a:p>
                      <a:pPr algn="ctr"/>
                      <a:r>
                        <a:rPr lang="en-US" sz="2400" dirty="0"/>
                        <a:t>(J = idle power × runtime)</a:t>
                      </a:r>
                    </a:p>
                  </a:txBody>
                  <a:tcPr/>
                </a:tc>
                <a:tc>
                  <a:txBody>
                    <a:bodyPr/>
                    <a:lstStyle/>
                    <a:p>
                      <a:pPr algn="ctr"/>
                      <a:r>
                        <a:rPr lang="en-US" sz="2400" dirty="0"/>
                        <a:t>Active Energy</a:t>
                      </a:r>
                    </a:p>
                    <a:p>
                      <a:pPr algn="ctr"/>
                      <a:r>
                        <a:rPr lang="en-US" sz="2400" dirty="0"/>
                        <a:t>(Memory + Routing Energy in J)</a:t>
                      </a:r>
                    </a:p>
                  </a:txBody>
                  <a:tcPr/>
                </a:tc>
                <a:tc>
                  <a:txBody>
                    <a:bodyPr/>
                    <a:lstStyle/>
                    <a:p>
                      <a:pPr algn="ctr"/>
                      <a:r>
                        <a:rPr lang="en-US" sz="2400" dirty="0"/>
                        <a:t>Spike-Driven Energy</a:t>
                      </a:r>
                    </a:p>
                    <a:p>
                      <a:pPr algn="ctr"/>
                      <a:r>
                        <a:rPr lang="en-US" sz="2400" dirty="0"/>
                        <a:t>(J per spike)</a:t>
                      </a:r>
                    </a:p>
                  </a:txBody>
                  <a:tcPr/>
                </a:tc>
                <a:extLst>
                  <a:ext uri="{0D108BD9-81ED-4DB2-BD59-A6C34878D82A}">
                    <a16:rowId xmlns:a16="http://schemas.microsoft.com/office/drawing/2014/main" val="150318744"/>
                  </a:ext>
                </a:extLst>
              </a:tr>
              <a:tr h="0">
                <a:tc>
                  <a:txBody>
                    <a:bodyPr/>
                    <a:lstStyle/>
                    <a:p>
                      <a:pPr algn="ctr"/>
                      <a:r>
                        <a:rPr lang="en-US" sz="2400" dirty="0"/>
                        <a:t>AEP</a:t>
                      </a:r>
                    </a:p>
                  </a:txBody>
                  <a:tcPr/>
                </a:tc>
                <a:tc>
                  <a:txBody>
                    <a:bodyPr/>
                    <a:lstStyle/>
                    <a:p>
                      <a:pPr algn="ctr"/>
                      <a:r>
                        <a:rPr lang="en-US" sz="2400" b="0" i="0" kern="1200" dirty="0">
                          <a:solidFill>
                            <a:schemeClr val="dk1"/>
                          </a:solidFill>
                          <a:effectLst/>
                          <a:latin typeface="+mn-lt"/>
                          <a:ea typeface="+mn-ea"/>
                          <a:cs typeface="+mn-cs"/>
                        </a:rPr>
                        <a:t> 7.501 × 10</a:t>
                      </a:r>
                      <a:r>
                        <a:rPr lang="en-US" sz="2400" b="0" i="0" kern="1200" baseline="30000" dirty="0">
                          <a:solidFill>
                            <a:schemeClr val="dk1"/>
                          </a:solidFill>
                          <a:effectLst/>
                          <a:latin typeface="+mn-lt"/>
                          <a:ea typeface="+mn-ea"/>
                          <a:cs typeface="+mn-cs"/>
                        </a:rPr>
                        <a:t>-4</a:t>
                      </a:r>
                      <a:endParaRPr lang="en-US" sz="2400" dirty="0"/>
                    </a:p>
                  </a:txBody>
                  <a:tcPr/>
                </a:tc>
                <a:tc>
                  <a:txBody>
                    <a:bodyPr/>
                    <a:lstStyle/>
                    <a:p>
                      <a:pPr algn="ctr" latinLnBrk="1"/>
                      <a:r>
                        <a:rPr lang="en-US" sz="2400" b="0" i="0" kern="1200" dirty="0">
                          <a:solidFill>
                            <a:schemeClr val="dk1"/>
                          </a:solidFill>
                          <a:effectLst/>
                          <a:latin typeface="+mn-lt"/>
                          <a:ea typeface="+mn-ea"/>
                          <a:cs typeface="+mn-cs"/>
                        </a:rPr>
                        <a:t>7.5 × 10</a:t>
                      </a:r>
                      <a:r>
                        <a:rPr lang="en-US" sz="2400" b="0" i="0" kern="1200" baseline="30000" dirty="0">
                          <a:solidFill>
                            <a:schemeClr val="dk1"/>
                          </a:solidFill>
                          <a:effectLst/>
                          <a:latin typeface="+mn-lt"/>
                          <a:ea typeface="+mn-ea"/>
                          <a:cs typeface="+mn-cs"/>
                        </a:rPr>
                        <a:t>-4</a:t>
                      </a:r>
                      <a:endParaRPr lang="en-US" sz="24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1.1817x 10</a:t>
                      </a:r>
                      <a:r>
                        <a:rPr lang="en-US" sz="2400" b="0" i="0" kern="1200" baseline="30000" dirty="0">
                          <a:solidFill>
                            <a:schemeClr val="dk1"/>
                          </a:solidFill>
                          <a:effectLst/>
                          <a:latin typeface="+mn-lt"/>
                          <a:ea typeface="+mn-ea"/>
                          <a:cs typeface="+mn-cs"/>
                        </a:rPr>
                        <a:t>-7</a:t>
                      </a:r>
                      <a:r>
                        <a:rPr lang="en-US" sz="2400" b="0" i="0" kern="1200" dirty="0">
                          <a:solidFill>
                            <a:schemeClr val="dk1"/>
                          </a:solidFill>
                          <a:effectLst/>
                          <a:latin typeface="+mn-lt"/>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2.691 x 10</a:t>
                      </a:r>
                      <a:r>
                        <a:rPr lang="en-US" sz="2400" b="0" i="0" kern="1200" baseline="30000" dirty="0">
                          <a:solidFill>
                            <a:schemeClr val="dk1"/>
                          </a:solidFill>
                          <a:effectLst/>
                          <a:latin typeface="+mn-lt"/>
                          <a:ea typeface="+mn-ea"/>
                          <a:cs typeface="+mn-cs"/>
                        </a:rPr>
                        <a:t>-9</a:t>
                      </a:r>
                      <a:endParaRPr lang="en-US" sz="2400" b="0" i="0" kern="1200" dirty="0">
                        <a:solidFill>
                          <a:schemeClr val="dk1"/>
                        </a:solidFill>
                        <a:effectLst/>
                        <a:latin typeface="+mn-lt"/>
                        <a:ea typeface="+mn-ea"/>
                        <a:cs typeface="+mn-cs"/>
                      </a:endParaRPr>
                    </a:p>
                  </a:txBody>
                  <a:tcPr/>
                </a:tc>
                <a:extLst>
                  <a:ext uri="{0D108BD9-81ED-4DB2-BD59-A6C34878D82A}">
                    <a16:rowId xmlns:a16="http://schemas.microsoft.com/office/drawing/2014/main" val="3486344320"/>
                  </a:ext>
                </a:extLst>
              </a:tr>
              <a:tr h="123835">
                <a:tc>
                  <a:txBody>
                    <a:bodyPr/>
                    <a:lstStyle/>
                    <a:p>
                      <a:pPr algn="ctr"/>
                      <a:r>
                        <a:rPr lang="en-US" sz="2400" dirty="0"/>
                        <a:t>Sunspot</a:t>
                      </a:r>
                    </a:p>
                  </a:txBody>
                  <a:tcPr/>
                </a:tc>
                <a:tc>
                  <a:txBody>
                    <a:bodyPr/>
                    <a:lstStyle/>
                    <a:p>
                      <a:pPr algn="ctr" latinLnBrk="1"/>
                      <a:r>
                        <a:rPr lang="en-US" sz="2400" b="0" i="0" kern="1200" dirty="0">
                          <a:solidFill>
                            <a:schemeClr val="dk1"/>
                          </a:solidFill>
                          <a:effectLst/>
                          <a:latin typeface="+mn-lt"/>
                          <a:ea typeface="+mn-ea"/>
                          <a:cs typeface="+mn-cs"/>
                        </a:rPr>
                        <a:t>7.501 × 10</a:t>
                      </a:r>
                      <a:r>
                        <a:rPr lang="en-US" sz="2400" b="0" i="0" kern="1200" baseline="30000" dirty="0">
                          <a:solidFill>
                            <a:schemeClr val="dk1"/>
                          </a:solidFill>
                          <a:effectLst/>
                          <a:latin typeface="+mn-lt"/>
                          <a:ea typeface="+mn-ea"/>
                          <a:cs typeface="+mn-cs"/>
                        </a:rPr>
                        <a:t>-4</a:t>
                      </a:r>
                      <a:endParaRPr lang="en-US" sz="2400" dirty="0"/>
                    </a:p>
                  </a:txBody>
                  <a:tcPr/>
                </a:tc>
                <a:tc>
                  <a:txBody>
                    <a:bodyPr/>
                    <a:lstStyle/>
                    <a:p>
                      <a:pPr algn="ctr" latinLnBrk="1"/>
                      <a:r>
                        <a:rPr lang="en-US" sz="2400" b="0" i="0" kern="1200" dirty="0">
                          <a:solidFill>
                            <a:schemeClr val="dk1"/>
                          </a:solidFill>
                          <a:effectLst/>
                          <a:latin typeface="+mn-lt"/>
                          <a:ea typeface="+mn-ea"/>
                          <a:cs typeface="+mn-cs"/>
                        </a:rPr>
                        <a:t>7.5 × 10</a:t>
                      </a:r>
                      <a:r>
                        <a:rPr lang="en-US" sz="2400" b="0" i="0" kern="1200" baseline="30000" dirty="0">
                          <a:solidFill>
                            <a:schemeClr val="dk1"/>
                          </a:solidFill>
                          <a:effectLst/>
                          <a:latin typeface="+mn-lt"/>
                          <a:ea typeface="+mn-ea"/>
                          <a:cs typeface="+mn-cs"/>
                        </a:rPr>
                        <a:t>-4</a:t>
                      </a:r>
                      <a:endParaRPr lang="en-US" sz="2400" b="0" i="0" kern="1200" dirty="0">
                        <a:solidFill>
                          <a:schemeClr val="dk1"/>
                        </a:solidFill>
                        <a:effectLst/>
                        <a:latin typeface="+mn-lt"/>
                        <a:ea typeface="+mn-ea"/>
                        <a:cs typeface="+mn-cs"/>
                      </a:endParaRPr>
                    </a:p>
                  </a:txBody>
                  <a:tcPr/>
                </a:tc>
                <a:tc>
                  <a:txBody>
                    <a:bodyPr/>
                    <a:lstStyle/>
                    <a:p>
                      <a:pPr algn="ctr" latinLnBrk="1"/>
                      <a:r>
                        <a:rPr lang="en-US" sz="2400" b="0" i="0" kern="1200" dirty="0">
                          <a:solidFill>
                            <a:schemeClr val="dk1"/>
                          </a:solidFill>
                          <a:effectLst/>
                          <a:latin typeface="+mn-lt"/>
                          <a:ea typeface="+mn-ea"/>
                          <a:cs typeface="+mn-cs"/>
                        </a:rPr>
                        <a:t>1.3736 × 10</a:t>
                      </a:r>
                      <a:r>
                        <a:rPr lang="en-US" sz="2400" b="0" i="0" kern="1200" baseline="30000" dirty="0">
                          <a:solidFill>
                            <a:schemeClr val="dk1"/>
                          </a:solidFill>
                          <a:effectLst/>
                          <a:latin typeface="+mn-lt"/>
                          <a:ea typeface="+mn-ea"/>
                          <a:cs typeface="+mn-cs"/>
                        </a:rPr>
                        <a:t>-7</a:t>
                      </a:r>
                      <a:endParaRPr lang="en-US" sz="2400" b="0" i="0" kern="1200" dirty="0">
                        <a:solidFill>
                          <a:schemeClr val="dk1"/>
                        </a:solidFill>
                        <a:effectLst/>
                        <a:latin typeface="+mn-lt"/>
                        <a:ea typeface="+mn-ea"/>
                        <a:cs typeface="+mn-cs"/>
                      </a:endParaRPr>
                    </a:p>
                  </a:txBody>
                  <a:tcPr/>
                </a:tc>
                <a:tc>
                  <a:txBody>
                    <a:bodyPr/>
                    <a:lstStyle/>
                    <a:p>
                      <a:pPr algn="ctr" latinLnBrk="1"/>
                      <a:r>
                        <a:rPr lang="en-US" sz="2400" b="0" i="0" kern="1200" dirty="0">
                          <a:solidFill>
                            <a:schemeClr val="dk1"/>
                          </a:solidFill>
                          <a:effectLst/>
                          <a:latin typeface="+mn-lt"/>
                          <a:ea typeface="+mn-ea"/>
                          <a:cs typeface="+mn-cs"/>
                        </a:rPr>
                        <a:t>3.128 × 10</a:t>
                      </a:r>
                      <a:r>
                        <a:rPr lang="en-US" sz="2400" b="0" i="0" kern="1200" baseline="30000" dirty="0">
                          <a:solidFill>
                            <a:schemeClr val="dk1"/>
                          </a:solidFill>
                          <a:effectLst/>
                          <a:latin typeface="+mn-lt"/>
                          <a:ea typeface="+mn-ea"/>
                          <a:cs typeface="+mn-cs"/>
                        </a:rPr>
                        <a:t>-9</a:t>
                      </a:r>
                      <a:endParaRPr lang="en-US" sz="2400" b="0" i="0" kern="1200" dirty="0">
                        <a:solidFill>
                          <a:schemeClr val="dk1"/>
                        </a:solidFill>
                        <a:effectLst/>
                        <a:latin typeface="+mn-lt"/>
                        <a:ea typeface="+mn-ea"/>
                        <a:cs typeface="+mn-cs"/>
                      </a:endParaRPr>
                    </a:p>
                  </a:txBody>
                  <a:tcPr/>
                </a:tc>
                <a:extLst>
                  <a:ext uri="{0D108BD9-81ED-4DB2-BD59-A6C34878D82A}">
                    <a16:rowId xmlns:a16="http://schemas.microsoft.com/office/drawing/2014/main" val="1740259634"/>
                  </a:ext>
                </a:extLst>
              </a:tr>
              <a:tr h="511471">
                <a:tc>
                  <a:txBody>
                    <a:bodyPr/>
                    <a:lstStyle/>
                    <a:p>
                      <a:pPr algn="ctr"/>
                      <a:r>
                        <a:rPr lang="en-US" sz="2400" dirty="0"/>
                        <a:t>Solar Production</a:t>
                      </a:r>
                    </a:p>
                  </a:txBody>
                  <a:tcPr/>
                </a:tc>
                <a:tc>
                  <a:txBody>
                    <a:bodyPr/>
                    <a:lstStyle/>
                    <a:p>
                      <a:pPr algn="ctr" latinLnBrk="1"/>
                      <a:r>
                        <a:rPr lang="en-US" sz="2400" b="0" i="0" kern="1200" dirty="0">
                          <a:solidFill>
                            <a:schemeClr val="dk1"/>
                          </a:solidFill>
                          <a:effectLst/>
                          <a:latin typeface="+mn-lt"/>
                          <a:ea typeface="+mn-ea"/>
                          <a:cs typeface="+mn-cs"/>
                        </a:rPr>
                        <a:t>7.501× 10</a:t>
                      </a:r>
                      <a:r>
                        <a:rPr lang="en-US" sz="2400" b="0" i="0" kern="1200" baseline="30000" dirty="0">
                          <a:solidFill>
                            <a:schemeClr val="dk1"/>
                          </a:solidFill>
                          <a:effectLst/>
                          <a:latin typeface="+mn-lt"/>
                          <a:ea typeface="+mn-ea"/>
                          <a:cs typeface="+mn-cs"/>
                        </a:rPr>
                        <a:t>-4</a:t>
                      </a:r>
                      <a:endParaRPr lang="en-US" sz="2400" dirty="0"/>
                    </a:p>
                  </a:txBody>
                  <a:tcPr/>
                </a:tc>
                <a:tc>
                  <a:txBody>
                    <a:bodyPr/>
                    <a:lstStyle/>
                    <a:p>
                      <a:pPr algn="ctr" latinLnBrk="1"/>
                      <a:r>
                        <a:rPr lang="en-US" sz="2400" b="0" i="0" kern="1200" dirty="0">
                          <a:solidFill>
                            <a:schemeClr val="dk1"/>
                          </a:solidFill>
                          <a:effectLst/>
                          <a:latin typeface="+mn-lt"/>
                          <a:ea typeface="+mn-ea"/>
                          <a:cs typeface="+mn-cs"/>
                        </a:rPr>
                        <a:t>7.5 × 10</a:t>
                      </a:r>
                      <a:r>
                        <a:rPr lang="en-US" sz="2400" b="0" i="0" kern="1200" baseline="30000" dirty="0">
                          <a:solidFill>
                            <a:schemeClr val="dk1"/>
                          </a:solidFill>
                          <a:effectLst/>
                          <a:latin typeface="+mn-lt"/>
                          <a:ea typeface="+mn-ea"/>
                          <a:cs typeface="+mn-cs"/>
                        </a:rPr>
                        <a:t>-4</a:t>
                      </a:r>
                      <a:endParaRPr lang="en-US" sz="24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6.565× 10</a:t>
                      </a:r>
                      <a:r>
                        <a:rPr lang="en-US" sz="2400" b="0" i="0" kern="1200" baseline="30000" dirty="0">
                          <a:solidFill>
                            <a:schemeClr val="dk1"/>
                          </a:solidFill>
                          <a:effectLst/>
                          <a:latin typeface="+mn-lt"/>
                          <a:ea typeface="+mn-ea"/>
                          <a:cs typeface="+mn-cs"/>
                        </a:rPr>
                        <a:t>-8</a:t>
                      </a:r>
                      <a:endParaRPr lang="en-US" sz="2400" b="0" i="0" kern="1200" dirty="0">
                        <a:solidFill>
                          <a:schemeClr val="dk1"/>
                        </a:solidFill>
                        <a:effectLst/>
                        <a:latin typeface="+mn-lt"/>
                        <a:ea typeface="+mn-ea"/>
                        <a:cs typeface="+mn-cs"/>
                      </a:endParaRPr>
                    </a:p>
                  </a:txBody>
                  <a:tcPr/>
                </a:tc>
                <a:tc>
                  <a:txBody>
                    <a:bodyPr/>
                    <a:lstStyle/>
                    <a:p>
                      <a:pPr algn="ctr" latinLnBrk="1"/>
                      <a:r>
                        <a:rPr lang="en-US" sz="2400" b="0" i="0" kern="1200" dirty="0">
                          <a:solidFill>
                            <a:schemeClr val="dk1"/>
                          </a:solidFill>
                          <a:effectLst/>
                          <a:latin typeface="+mn-lt"/>
                          <a:ea typeface="+mn-ea"/>
                          <a:cs typeface="+mn-cs"/>
                        </a:rPr>
                        <a:t>1.495 × 10</a:t>
                      </a:r>
                      <a:r>
                        <a:rPr lang="en-US" sz="2400" b="0" i="0" kern="1200" baseline="30000" dirty="0">
                          <a:solidFill>
                            <a:schemeClr val="dk1"/>
                          </a:solidFill>
                          <a:effectLst/>
                          <a:latin typeface="+mn-lt"/>
                          <a:ea typeface="+mn-ea"/>
                          <a:cs typeface="+mn-cs"/>
                        </a:rPr>
                        <a:t>-9</a:t>
                      </a:r>
                      <a:endParaRPr lang="en-US" sz="2400" b="0" i="0" kern="1200" dirty="0">
                        <a:solidFill>
                          <a:schemeClr val="dk1"/>
                        </a:solidFill>
                        <a:effectLst/>
                        <a:latin typeface="+mn-lt"/>
                        <a:ea typeface="+mn-ea"/>
                        <a:cs typeface="+mn-cs"/>
                      </a:endParaRPr>
                    </a:p>
                  </a:txBody>
                  <a:tcPr/>
                </a:tc>
                <a:extLst>
                  <a:ext uri="{0D108BD9-81ED-4DB2-BD59-A6C34878D82A}">
                    <a16:rowId xmlns:a16="http://schemas.microsoft.com/office/drawing/2014/main" val="1915093388"/>
                  </a:ext>
                </a:extLst>
              </a:tr>
            </a:tbl>
          </a:graphicData>
        </a:graphic>
      </p:graphicFrame>
      <p:sp>
        <p:nvSpPr>
          <p:cNvPr id="5" name="TextBox 4">
            <a:extLst>
              <a:ext uri="{FF2B5EF4-FFF2-40B4-BE49-F238E27FC236}">
                <a16:creationId xmlns:a16="http://schemas.microsoft.com/office/drawing/2014/main" id="{F3B289DC-ADDF-BECD-79BB-2B2D63114196}"/>
              </a:ext>
            </a:extLst>
          </p:cNvPr>
          <p:cNvSpPr txBox="1"/>
          <p:nvPr/>
        </p:nvSpPr>
        <p:spPr>
          <a:xfrm>
            <a:off x="1106268" y="1783056"/>
            <a:ext cx="9979463" cy="830997"/>
          </a:xfrm>
          <a:prstGeom prst="rect">
            <a:avLst/>
          </a:prstGeom>
          <a:noFill/>
        </p:spPr>
        <p:txBody>
          <a:bodyPr wrap="square" rtlCol="0">
            <a:spAutoFit/>
          </a:bodyPr>
          <a:lstStyle/>
          <a:p>
            <a:pPr algn="ctr"/>
            <a:r>
              <a:rPr lang="en-US" sz="2400" cap="small" dirty="0" err="1"/>
              <a:t>RingSNN</a:t>
            </a:r>
            <a:r>
              <a:rPr lang="en-US" sz="2400" cap="small" dirty="0"/>
              <a:t> Idle, Active, and Spike-Driven Energy Decomposition for AEP, Sunspot, and Solar Production Datasets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02168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BC2F5A1F-4BB8-25A4-B63A-EEBFA82ECE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46F194-2F2B-F0FF-9EDB-350B1CCC0D54}"/>
              </a:ext>
            </a:extLst>
          </p:cNvPr>
          <p:cNvSpPr>
            <a:spLocks noGrp="1"/>
          </p:cNvSpPr>
          <p:nvPr>
            <p:ph type="title"/>
          </p:nvPr>
        </p:nvSpPr>
        <p:spPr>
          <a:xfrm>
            <a:off x="339852" y="430353"/>
            <a:ext cx="7414694" cy="940234"/>
          </a:xfrm>
        </p:spPr>
        <p:txBody>
          <a:bodyPr>
            <a:normAutofit/>
          </a:bodyPr>
          <a:lstStyle/>
          <a:p>
            <a:r>
              <a:rPr lang="en-US" dirty="0"/>
              <a:t>Energy States</a:t>
            </a:r>
          </a:p>
        </p:txBody>
      </p:sp>
      <p:sp>
        <p:nvSpPr>
          <p:cNvPr id="4" name="AutoShape 2" descr="Uploaded image">
            <a:extLst>
              <a:ext uri="{FF2B5EF4-FFF2-40B4-BE49-F238E27FC236}">
                <a16:creationId xmlns:a16="http://schemas.microsoft.com/office/drawing/2014/main" id="{9F614314-CCFC-14F1-9F42-46CED24338A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7434028F-7A9C-D800-6E85-87FA22A39526}"/>
              </a:ext>
            </a:extLst>
          </p:cNvPr>
          <p:cNvGraphicFramePr>
            <a:graphicFrameLocks noGrp="1"/>
          </p:cNvGraphicFramePr>
          <p:nvPr>
            <p:extLst>
              <p:ext uri="{D42A27DB-BD31-4B8C-83A1-F6EECF244321}">
                <p14:modId xmlns:p14="http://schemas.microsoft.com/office/powerpoint/2010/main" val="409755211"/>
              </p:ext>
            </p:extLst>
          </p:nvPr>
        </p:nvGraphicFramePr>
        <p:xfrm>
          <a:off x="1608264" y="2384129"/>
          <a:ext cx="9280271" cy="2394542"/>
        </p:xfrm>
        <a:graphic>
          <a:graphicData uri="http://schemas.openxmlformats.org/drawingml/2006/table">
            <a:tbl>
              <a:tblPr firstRow="1" bandRow="1">
                <a:tableStyleId>{5C22544A-7EE6-4342-B048-85BDC9FD1C3A}</a:tableStyleId>
              </a:tblPr>
              <a:tblGrid>
                <a:gridCol w="2422962">
                  <a:extLst>
                    <a:ext uri="{9D8B030D-6E8A-4147-A177-3AD203B41FA5}">
                      <a16:colId xmlns:a16="http://schemas.microsoft.com/office/drawing/2014/main" val="4041023439"/>
                    </a:ext>
                  </a:extLst>
                </a:gridCol>
                <a:gridCol w="2066795">
                  <a:extLst>
                    <a:ext uri="{9D8B030D-6E8A-4147-A177-3AD203B41FA5}">
                      <a16:colId xmlns:a16="http://schemas.microsoft.com/office/drawing/2014/main" val="3744466078"/>
                    </a:ext>
                  </a:extLst>
                </a:gridCol>
                <a:gridCol w="1903956">
                  <a:extLst>
                    <a:ext uri="{9D8B030D-6E8A-4147-A177-3AD203B41FA5}">
                      <a16:colId xmlns:a16="http://schemas.microsoft.com/office/drawing/2014/main" val="659723375"/>
                    </a:ext>
                  </a:extLst>
                </a:gridCol>
                <a:gridCol w="2886558">
                  <a:extLst>
                    <a:ext uri="{9D8B030D-6E8A-4147-A177-3AD203B41FA5}">
                      <a16:colId xmlns:a16="http://schemas.microsoft.com/office/drawing/2014/main" val="504128105"/>
                    </a:ext>
                  </a:extLst>
                </a:gridCol>
              </a:tblGrid>
              <a:tr h="0">
                <a:tc>
                  <a:txBody>
                    <a:bodyPr/>
                    <a:lstStyle/>
                    <a:p>
                      <a:pPr algn="ctr"/>
                      <a:r>
                        <a:rPr lang="en-US" sz="2400" dirty="0"/>
                        <a:t>ANN Baseline</a:t>
                      </a:r>
                    </a:p>
                  </a:txBody>
                  <a:tcPr/>
                </a:tc>
                <a:tc>
                  <a:txBody>
                    <a:bodyPr/>
                    <a:lstStyle/>
                    <a:p>
                      <a:pPr algn="ctr"/>
                      <a:r>
                        <a:rPr lang="en-US" sz="2400"/>
                        <a:t>AEP</a:t>
                      </a:r>
                      <a:endParaRPr lang="en-US" sz="2400" dirty="0"/>
                    </a:p>
                  </a:txBody>
                  <a:tcPr/>
                </a:tc>
                <a:tc>
                  <a:txBody>
                    <a:bodyPr/>
                    <a:lstStyle/>
                    <a:p>
                      <a:pPr algn="ctr"/>
                      <a:r>
                        <a:rPr lang="en-US" sz="2400" dirty="0"/>
                        <a:t>Sunspot</a:t>
                      </a:r>
                    </a:p>
                  </a:txBody>
                  <a:tcPr/>
                </a:tc>
                <a:tc>
                  <a:txBody>
                    <a:bodyPr/>
                    <a:lstStyle/>
                    <a:p>
                      <a:pPr algn="ctr"/>
                      <a:r>
                        <a:rPr lang="en-US" sz="2400" dirty="0"/>
                        <a:t>Solar Production</a:t>
                      </a:r>
                    </a:p>
                  </a:txBody>
                  <a:tcPr/>
                </a:tc>
                <a:extLst>
                  <a:ext uri="{0D108BD9-81ED-4DB2-BD59-A6C34878D82A}">
                    <a16:rowId xmlns:a16="http://schemas.microsoft.com/office/drawing/2014/main" val="150318744"/>
                  </a:ext>
                </a:extLst>
              </a:tr>
              <a:tr h="0">
                <a:tc>
                  <a:txBody>
                    <a:bodyPr/>
                    <a:lstStyle/>
                    <a:p>
                      <a:pPr algn="ctr"/>
                      <a:r>
                        <a:rPr lang="en-US" sz="2400" dirty="0"/>
                        <a:t>CNN</a:t>
                      </a:r>
                    </a:p>
                  </a:txBody>
                  <a:tcPr/>
                </a:tc>
                <a:tc>
                  <a:txBody>
                    <a:bodyPr/>
                    <a:lstStyle/>
                    <a:p>
                      <a:pPr marL="0" marR="0" algn="ctr">
                        <a:lnSpc>
                          <a:spcPct val="115000"/>
                        </a:lnSpc>
                        <a:buNone/>
                      </a:pPr>
                      <a:r>
                        <a:rPr lang="en-US" sz="2400" b="0" i="0" kern="1200" dirty="0">
                          <a:solidFill>
                            <a:schemeClr val="dk1"/>
                          </a:solidFill>
                          <a:effectLst/>
                          <a:latin typeface="+mn-lt"/>
                          <a:ea typeface="+mn-ea"/>
                          <a:cs typeface="+mn-cs"/>
                        </a:rPr>
                        <a:t>2935.75</a:t>
                      </a:r>
                      <a:endParaRPr lang="en-US" sz="2400" kern="100" dirty="0">
                        <a:effectLst/>
                        <a:latin typeface="+mn-lt"/>
                        <a:ea typeface="SimSun" panose="02010600030101010101" pitchFamily="2" charset="-122"/>
                        <a:cs typeface="Times New Roman" panose="02020603050405020304" pitchFamily="18" charset="0"/>
                      </a:endParaRPr>
                    </a:p>
                  </a:txBody>
                  <a:tcPr marL="68580" marR="68580" marT="0" marB="0"/>
                </a:tc>
                <a:tc>
                  <a:txBody>
                    <a:bodyPr/>
                    <a:lstStyle/>
                    <a:p>
                      <a:pPr marL="0" marR="0" algn="ctr">
                        <a:buNone/>
                      </a:pPr>
                      <a:r>
                        <a:rPr lang="en-US" sz="2400" dirty="0">
                          <a:effectLst/>
                          <a:latin typeface="+mn-lt"/>
                          <a:ea typeface="SimSun" panose="02010600030101010101" pitchFamily="2" charset="-122"/>
                        </a:rPr>
                        <a:t>187.5</a:t>
                      </a:r>
                    </a:p>
                  </a:txBody>
                  <a:tcPr marL="68580" marR="68580" marT="0" marB="0"/>
                </a:tc>
                <a:tc>
                  <a:txBody>
                    <a:bodyPr/>
                    <a:lstStyle/>
                    <a:p>
                      <a:pPr marL="0" marR="0" algn="ctr">
                        <a:buNone/>
                      </a:pPr>
                      <a:r>
                        <a:rPr lang="en-US" sz="2400" dirty="0">
                          <a:effectLst/>
                          <a:latin typeface="+mn-lt"/>
                          <a:ea typeface="SimSun" panose="02010600030101010101" pitchFamily="2" charset="-122"/>
                        </a:rPr>
                        <a:t>1981.25</a:t>
                      </a:r>
                    </a:p>
                  </a:txBody>
                  <a:tcPr marL="68580" marR="68580" marT="0" marB="0"/>
                </a:tc>
                <a:extLst>
                  <a:ext uri="{0D108BD9-81ED-4DB2-BD59-A6C34878D82A}">
                    <a16:rowId xmlns:a16="http://schemas.microsoft.com/office/drawing/2014/main" val="3486344320"/>
                  </a:ext>
                </a:extLst>
              </a:tr>
              <a:tr h="123835">
                <a:tc>
                  <a:txBody>
                    <a:bodyPr/>
                    <a:lstStyle/>
                    <a:p>
                      <a:pPr algn="ctr"/>
                      <a:r>
                        <a:rPr lang="en-US" sz="2400" dirty="0"/>
                        <a:t>LSTM</a:t>
                      </a:r>
                    </a:p>
                  </a:txBody>
                  <a:tcPr/>
                </a:tc>
                <a:tc>
                  <a:txBody>
                    <a:bodyPr/>
                    <a:lstStyle/>
                    <a:p>
                      <a:pPr marL="0" marR="0" algn="ctr">
                        <a:lnSpc>
                          <a:spcPct val="115000"/>
                        </a:lnSpc>
                        <a:buNone/>
                      </a:pPr>
                      <a:r>
                        <a:rPr lang="en-US" sz="2400" b="0" i="0" kern="1200" dirty="0">
                          <a:solidFill>
                            <a:schemeClr val="dk1"/>
                          </a:solidFill>
                          <a:effectLst/>
                          <a:latin typeface="+mn-lt"/>
                          <a:ea typeface="+mn-ea"/>
                          <a:cs typeface="+mn-cs"/>
                        </a:rPr>
                        <a:t>2641.25</a:t>
                      </a:r>
                      <a:endParaRPr lang="en-US" sz="2400" kern="100" dirty="0">
                        <a:effectLst/>
                        <a:latin typeface="+mn-lt"/>
                        <a:ea typeface="SimSun" panose="02010600030101010101" pitchFamily="2" charset="-122"/>
                        <a:cs typeface="Times New Roman" panose="02020603050405020304" pitchFamily="18" charset="0"/>
                      </a:endParaRPr>
                    </a:p>
                  </a:txBody>
                  <a:tcPr marL="68580" marR="68580" marT="0" marB="0"/>
                </a:tc>
                <a:tc>
                  <a:txBody>
                    <a:bodyPr/>
                    <a:lstStyle/>
                    <a:p>
                      <a:pPr marL="0" marR="0" algn="ctr">
                        <a:buNone/>
                      </a:pPr>
                      <a:r>
                        <a:rPr lang="en-US" sz="2400" dirty="0">
                          <a:effectLst/>
                          <a:latin typeface="+mn-lt"/>
                          <a:ea typeface="SimSun" panose="02010600030101010101" pitchFamily="2" charset="-122"/>
                        </a:rPr>
                        <a:t>191.5</a:t>
                      </a:r>
                    </a:p>
                  </a:txBody>
                  <a:tcPr marL="68580" marR="68580" marT="0" marB="0"/>
                </a:tc>
                <a:tc>
                  <a:txBody>
                    <a:bodyPr/>
                    <a:lstStyle/>
                    <a:p>
                      <a:pPr marL="0" marR="0" algn="ctr">
                        <a:buNone/>
                      </a:pPr>
                      <a:r>
                        <a:rPr lang="en-US" sz="2400" dirty="0">
                          <a:effectLst/>
                          <a:latin typeface="+mn-lt"/>
                          <a:ea typeface="SimSun" panose="02010600030101010101" pitchFamily="2" charset="-122"/>
                        </a:rPr>
                        <a:t>2320</a:t>
                      </a:r>
                    </a:p>
                  </a:txBody>
                  <a:tcPr marL="68580" marR="68580" marT="0" marB="0"/>
                </a:tc>
                <a:extLst>
                  <a:ext uri="{0D108BD9-81ED-4DB2-BD59-A6C34878D82A}">
                    <a16:rowId xmlns:a16="http://schemas.microsoft.com/office/drawing/2014/main" val="1740259634"/>
                  </a:ext>
                </a:extLst>
              </a:tr>
              <a:tr h="511471">
                <a:tc>
                  <a:txBody>
                    <a:bodyPr/>
                    <a:lstStyle/>
                    <a:p>
                      <a:pPr algn="ctr"/>
                      <a:r>
                        <a:rPr lang="en-US" sz="2400" dirty="0"/>
                        <a:t>GRU</a:t>
                      </a:r>
                    </a:p>
                  </a:txBody>
                  <a:tcPr/>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2753.5</a:t>
                      </a:r>
                    </a:p>
                  </a:txBody>
                  <a:tcPr marL="68580" marR="68580" marT="0" marB="0"/>
                </a:tc>
                <a:tc>
                  <a:txBody>
                    <a:bodyPr/>
                    <a:lstStyle/>
                    <a:p>
                      <a:pPr marL="0" marR="0" algn="ctr">
                        <a:buNone/>
                      </a:pPr>
                      <a:r>
                        <a:rPr lang="en-US" sz="2400" dirty="0">
                          <a:effectLst/>
                          <a:latin typeface="+mn-lt"/>
                          <a:ea typeface="SimSun" panose="02010600030101010101" pitchFamily="2" charset="-122"/>
                        </a:rPr>
                        <a:t>250</a:t>
                      </a:r>
                    </a:p>
                  </a:txBody>
                  <a:tcPr marL="68580" marR="68580" marT="0" marB="0"/>
                </a:tc>
                <a:tc>
                  <a:txBody>
                    <a:bodyPr/>
                    <a:lstStyle/>
                    <a:p>
                      <a:pPr marL="0" marR="0" algn="ctr">
                        <a:buNone/>
                      </a:pPr>
                      <a:r>
                        <a:rPr lang="en-US" sz="2400" dirty="0">
                          <a:effectLst/>
                          <a:latin typeface="+mn-lt"/>
                          <a:ea typeface="SimSun" panose="02010600030101010101" pitchFamily="2" charset="-122"/>
                        </a:rPr>
                        <a:t>2776.5</a:t>
                      </a:r>
                    </a:p>
                  </a:txBody>
                  <a:tcPr marL="68580" marR="68580" marT="0" marB="0"/>
                </a:tc>
                <a:extLst>
                  <a:ext uri="{0D108BD9-81ED-4DB2-BD59-A6C34878D82A}">
                    <a16:rowId xmlns:a16="http://schemas.microsoft.com/office/drawing/2014/main" val="1915093388"/>
                  </a:ext>
                </a:extLst>
              </a:tr>
              <a:tr h="511471">
                <a:tc>
                  <a:txBody>
                    <a:bodyPr/>
                    <a:lstStyle/>
                    <a:p>
                      <a:pPr algn="ctr"/>
                      <a:r>
                        <a:rPr lang="en-US" sz="2400" dirty="0"/>
                        <a:t>CNN-LSTM</a:t>
                      </a:r>
                    </a:p>
                  </a:txBody>
                  <a:tcPr/>
                </a:tc>
                <a:tc>
                  <a:txBody>
                    <a:bodyPr/>
                    <a:lstStyle/>
                    <a:p>
                      <a:pPr marL="0" marR="0" algn="ctr">
                        <a:lnSpc>
                          <a:spcPct val="115000"/>
                        </a:lnSpc>
                        <a:buNone/>
                      </a:pPr>
                      <a:r>
                        <a:rPr lang="en-US" sz="2400" kern="100" dirty="0">
                          <a:effectLst/>
                          <a:latin typeface="+mn-lt"/>
                          <a:ea typeface="SimSun" panose="02010600030101010101" pitchFamily="2" charset="-122"/>
                          <a:cs typeface="Times New Roman" panose="02020603050405020304" pitchFamily="18" charset="0"/>
                        </a:rPr>
                        <a:t>4250.5</a:t>
                      </a:r>
                    </a:p>
                  </a:txBody>
                  <a:tcPr marL="68580" marR="68580" marT="0" marB="0"/>
                </a:tc>
                <a:tc>
                  <a:txBody>
                    <a:bodyPr/>
                    <a:lstStyle/>
                    <a:p>
                      <a:pPr marL="0" marR="0" algn="ctr">
                        <a:buNone/>
                      </a:pPr>
                      <a:r>
                        <a:rPr lang="en-US" sz="2400" dirty="0">
                          <a:effectLst/>
                          <a:latin typeface="+mn-lt"/>
                          <a:ea typeface="SimSun" panose="02010600030101010101" pitchFamily="2" charset="-122"/>
                        </a:rPr>
                        <a:t>284.75</a:t>
                      </a:r>
                    </a:p>
                  </a:txBody>
                  <a:tcPr marL="68580" marR="68580" marT="0" marB="0"/>
                </a:tc>
                <a:tc>
                  <a:txBody>
                    <a:bodyPr/>
                    <a:lstStyle/>
                    <a:p>
                      <a:pPr marL="0" marR="0" algn="ctr">
                        <a:buNone/>
                      </a:pPr>
                      <a:r>
                        <a:rPr lang="en-US" sz="2400" dirty="0">
                          <a:effectLst/>
                          <a:latin typeface="+mn-lt"/>
                          <a:ea typeface="SimSun" panose="02010600030101010101" pitchFamily="2" charset="-122"/>
                        </a:rPr>
                        <a:t>2760.75</a:t>
                      </a:r>
                    </a:p>
                  </a:txBody>
                  <a:tcPr marL="68580" marR="68580" marT="0" marB="0"/>
                </a:tc>
                <a:extLst>
                  <a:ext uri="{0D108BD9-81ED-4DB2-BD59-A6C34878D82A}">
                    <a16:rowId xmlns:a16="http://schemas.microsoft.com/office/drawing/2014/main" val="2006727677"/>
                  </a:ext>
                </a:extLst>
              </a:tr>
            </a:tbl>
          </a:graphicData>
        </a:graphic>
      </p:graphicFrame>
      <p:sp>
        <p:nvSpPr>
          <p:cNvPr id="6" name="TextBox 5">
            <a:extLst>
              <a:ext uri="{FF2B5EF4-FFF2-40B4-BE49-F238E27FC236}">
                <a16:creationId xmlns:a16="http://schemas.microsoft.com/office/drawing/2014/main" id="{A72BDBBC-36B1-FF5C-1B34-DF89402C757D}"/>
              </a:ext>
            </a:extLst>
          </p:cNvPr>
          <p:cNvSpPr txBox="1"/>
          <p:nvPr/>
        </p:nvSpPr>
        <p:spPr>
          <a:xfrm>
            <a:off x="2404853" y="1922464"/>
            <a:ext cx="7382293" cy="461665"/>
          </a:xfrm>
          <a:prstGeom prst="rect">
            <a:avLst/>
          </a:prstGeom>
          <a:noFill/>
        </p:spPr>
        <p:txBody>
          <a:bodyPr wrap="square">
            <a:spAutoFit/>
          </a:bodyPr>
          <a:lstStyle/>
          <a:p>
            <a:pPr algn="ctr"/>
            <a:r>
              <a:rPr lang="en-US" sz="2400" cap="small" dirty="0"/>
              <a:t>ANN Baseline Power Consumption Measured in Watts (W). </a:t>
            </a:r>
            <a:endParaRPr lang="en-US" sz="2400" dirty="0"/>
          </a:p>
        </p:txBody>
      </p:sp>
    </p:spTree>
    <p:extLst>
      <p:ext uri="{BB962C8B-B14F-4D97-AF65-F5344CB8AC3E}">
        <p14:creationId xmlns:p14="http://schemas.microsoft.com/office/powerpoint/2010/main" val="1542781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69730EEA-9601-E6A5-91B7-F2AB19CFEC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0BE20A-CC5E-3944-1290-C0C3047993A6}"/>
              </a:ext>
            </a:extLst>
          </p:cNvPr>
          <p:cNvSpPr>
            <a:spLocks noGrp="1"/>
          </p:cNvSpPr>
          <p:nvPr>
            <p:ph type="title"/>
          </p:nvPr>
        </p:nvSpPr>
        <p:spPr>
          <a:xfrm>
            <a:off x="788622" y="157655"/>
            <a:ext cx="10288582" cy="1202515"/>
          </a:xfrm>
        </p:spPr>
        <p:txBody>
          <a:bodyPr>
            <a:normAutofit fontScale="90000"/>
          </a:bodyPr>
          <a:lstStyle/>
          <a:p>
            <a:r>
              <a:rPr lang="en-US" dirty="0"/>
              <a:t>Hardware‑Validated Benchmarking Analysis on </a:t>
            </a:r>
            <a:r>
              <a:rPr lang="en-US" dirty="0" err="1"/>
              <a:t>Loihi</a:t>
            </a:r>
            <a:r>
              <a:rPr lang="en-US" dirty="0"/>
              <a:t> 2 and GPU Platforms</a:t>
            </a:r>
          </a:p>
        </p:txBody>
      </p:sp>
      <p:sp>
        <p:nvSpPr>
          <p:cNvPr id="4" name="AutoShape 2" descr="Uploaded image">
            <a:extLst>
              <a:ext uri="{FF2B5EF4-FFF2-40B4-BE49-F238E27FC236}">
                <a16:creationId xmlns:a16="http://schemas.microsoft.com/office/drawing/2014/main" id="{B751D469-CA41-8091-DFC5-B62F2D84A75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Table 6">
            <a:extLst>
              <a:ext uri="{FF2B5EF4-FFF2-40B4-BE49-F238E27FC236}">
                <a16:creationId xmlns:a16="http://schemas.microsoft.com/office/drawing/2014/main" id="{61CEE45F-B94D-3039-3C8F-85C307E05963}"/>
              </a:ext>
            </a:extLst>
          </p:cNvPr>
          <p:cNvGraphicFramePr>
            <a:graphicFrameLocks noGrp="1"/>
          </p:cNvGraphicFramePr>
          <p:nvPr>
            <p:extLst>
              <p:ext uri="{D42A27DB-BD31-4B8C-83A1-F6EECF244321}">
                <p14:modId xmlns:p14="http://schemas.microsoft.com/office/powerpoint/2010/main" val="1420342962"/>
              </p:ext>
            </p:extLst>
          </p:nvPr>
        </p:nvGraphicFramePr>
        <p:xfrm>
          <a:off x="788622" y="1360170"/>
          <a:ext cx="10362854" cy="5241424"/>
        </p:xfrm>
        <a:graphic>
          <a:graphicData uri="http://schemas.openxmlformats.org/drawingml/2006/table">
            <a:tbl>
              <a:tblPr firstRow="1" firstCol="1" bandRow="1">
                <a:tableStyleId>{5C22544A-7EE6-4342-B048-85BDC9FD1C3A}</a:tableStyleId>
              </a:tblPr>
              <a:tblGrid>
                <a:gridCol w="2196316">
                  <a:extLst>
                    <a:ext uri="{9D8B030D-6E8A-4147-A177-3AD203B41FA5}">
                      <a16:colId xmlns:a16="http://schemas.microsoft.com/office/drawing/2014/main" val="3042532285"/>
                    </a:ext>
                  </a:extLst>
                </a:gridCol>
                <a:gridCol w="3573517">
                  <a:extLst>
                    <a:ext uri="{9D8B030D-6E8A-4147-A177-3AD203B41FA5}">
                      <a16:colId xmlns:a16="http://schemas.microsoft.com/office/drawing/2014/main" val="977776229"/>
                    </a:ext>
                  </a:extLst>
                </a:gridCol>
                <a:gridCol w="4593021">
                  <a:extLst>
                    <a:ext uri="{9D8B030D-6E8A-4147-A177-3AD203B41FA5}">
                      <a16:colId xmlns:a16="http://schemas.microsoft.com/office/drawing/2014/main" val="2414737741"/>
                    </a:ext>
                  </a:extLst>
                </a:gridCol>
              </a:tblGrid>
              <a:tr h="657448">
                <a:tc>
                  <a:txBody>
                    <a:bodyPr/>
                    <a:lstStyle/>
                    <a:p>
                      <a:pPr marL="0" marR="0" algn="ctr">
                        <a:buNone/>
                      </a:pPr>
                      <a:r>
                        <a:rPr lang="en-US" sz="2000" dirty="0">
                          <a:effectLst/>
                        </a:rPr>
                        <a:t>Aspect / Metric</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a:effectLst/>
                        </a:rPr>
                        <a:t>SeqSNN [1]</a:t>
                      </a:r>
                      <a:endParaRPr lang="en-US"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a:effectLst/>
                        </a:rPr>
                        <a:t>RingSNN Decoder Pipelines on Loihi 2 &amp; ANN/Hybrid DNN GPU</a:t>
                      </a:r>
                      <a:endParaRPr lang="en-US" sz="200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62467409"/>
                  </a:ext>
                </a:extLst>
              </a:tr>
              <a:tr h="657448">
                <a:tc>
                  <a:txBody>
                    <a:bodyPr/>
                    <a:lstStyle/>
                    <a:p>
                      <a:pPr marL="0" marR="0" algn="ctr">
                        <a:buNone/>
                      </a:pPr>
                      <a:r>
                        <a:rPr lang="en-US" sz="2000" dirty="0">
                          <a:effectLst/>
                        </a:rPr>
                        <a:t>Datasets</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dirty="0">
                          <a:effectLst/>
                        </a:rPr>
                        <a:t>Finance, healthcare, </a:t>
                      </a:r>
                    </a:p>
                    <a:p>
                      <a:pPr marL="0" marR="0" algn="ctr">
                        <a:buNone/>
                      </a:pPr>
                      <a:r>
                        <a:rPr lang="en-US" sz="2000" dirty="0">
                          <a:effectLst/>
                        </a:rPr>
                        <a:t>climate benchmarks</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a:effectLst/>
                        </a:rPr>
                        <a:t>Solar production, AEP load, Sunspot datasets</a:t>
                      </a:r>
                      <a:endParaRPr lang="en-US" sz="200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3595082828"/>
                  </a:ext>
                </a:extLst>
              </a:tr>
              <a:tr h="977092">
                <a:tc>
                  <a:txBody>
                    <a:bodyPr/>
                    <a:lstStyle/>
                    <a:p>
                      <a:pPr marL="0" marR="0" algn="ctr">
                        <a:buNone/>
                      </a:pPr>
                      <a:r>
                        <a:rPr lang="en-US" sz="2000">
                          <a:effectLst/>
                        </a:rPr>
                        <a:t>Architecture</a:t>
                      </a:r>
                      <a:endParaRPr lang="en-US"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dirty="0" err="1">
                          <a:effectLst/>
                        </a:rPr>
                        <a:t>SeqSNN</a:t>
                      </a:r>
                      <a:r>
                        <a:rPr lang="en-US" sz="2000" dirty="0">
                          <a:effectLst/>
                        </a:rPr>
                        <a:t> framework (temporal alignment + encoding)</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dirty="0">
                          <a:effectLst/>
                        </a:rPr>
                        <a:t>Decoder pipeline (Dense + LIF layers) replayed across epochs</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2817993571"/>
                  </a:ext>
                </a:extLst>
              </a:tr>
              <a:tr h="657448">
                <a:tc>
                  <a:txBody>
                    <a:bodyPr/>
                    <a:lstStyle/>
                    <a:p>
                      <a:pPr marL="0" marR="0" algn="ctr">
                        <a:buNone/>
                      </a:pPr>
                      <a:r>
                        <a:rPr lang="en-US" sz="2000" dirty="0">
                          <a:effectLst/>
                        </a:rPr>
                        <a:t>Accuracy (MAE)</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dirty="0">
                          <a:effectLst/>
                        </a:rPr>
                        <a:t>MAE ≈ 0.08–0.12</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dirty="0">
                          <a:effectLst/>
                        </a:rPr>
                        <a:t>Solar: MAE ≈ 0.1416; AEP: MAE ≈ 0.1761; Sunspot: MAE ≈ 0.2540</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2793736224"/>
                  </a:ext>
                </a:extLst>
              </a:tr>
              <a:tr h="977092">
                <a:tc>
                  <a:txBody>
                    <a:bodyPr/>
                    <a:lstStyle/>
                    <a:p>
                      <a:pPr marL="0" marR="0" algn="ctr">
                        <a:buNone/>
                      </a:pPr>
                      <a:r>
                        <a:rPr lang="en-US" sz="2000">
                          <a:effectLst/>
                        </a:rPr>
                        <a:t>Runtime</a:t>
                      </a:r>
                      <a:endParaRPr lang="en-US"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a:effectLst/>
                        </a:rPr>
                        <a:t>Simulation only; efficiency gains vs LSTM/GRU</a:t>
                      </a:r>
                      <a:endParaRPr lang="en-US"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dirty="0" err="1">
                          <a:effectLst/>
                        </a:rPr>
                        <a:t>Loihi</a:t>
                      </a:r>
                      <a:r>
                        <a:rPr lang="en-US" sz="2000" dirty="0">
                          <a:effectLst/>
                        </a:rPr>
                        <a:t> 2: ~12–15 </a:t>
                      </a:r>
                      <a:r>
                        <a:rPr lang="en-US" sz="2000" dirty="0" err="1">
                          <a:effectLst/>
                        </a:rPr>
                        <a:t>ms</a:t>
                      </a:r>
                      <a:r>
                        <a:rPr lang="en-US" sz="2000" dirty="0">
                          <a:effectLst/>
                        </a:rPr>
                        <a:t> per epoch; </a:t>
                      </a:r>
                    </a:p>
                    <a:p>
                      <a:pPr marL="0" marR="0" algn="ctr">
                        <a:buNone/>
                      </a:pPr>
                      <a:r>
                        <a:rPr lang="en-US" sz="2000" dirty="0">
                          <a:effectLst/>
                        </a:rPr>
                        <a:t>GPU: ~3–5 </a:t>
                      </a:r>
                      <a:r>
                        <a:rPr lang="en-US" sz="2000" dirty="0" err="1">
                          <a:effectLst/>
                        </a:rPr>
                        <a:t>ms</a:t>
                      </a:r>
                      <a:r>
                        <a:rPr lang="en-US" sz="2000" dirty="0">
                          <a:effectLst/>
                        </a:rPr>
                        <a:t> per epoch</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157478977"/>
                  </a:ext>
                </a:extLst>
              </a:tr>
              <a:tr h="657448">
                <a:tc>
                  <a:txBody>
                    <a:bodyPr/>
                    <a:lstStyle/>
                    <a:p>
                      <a:pPr marL="0" marR="0" algn="ctr">
                        <a:buNone/>
                      </a:pPr>
                      <a:r>
                        <a:rPr lang="en-US" sz="2000">
                          <a:effectLst/>
                        </a:rPr>
                        <a:t>Energy / Spikes</a:t>
                      </a:r>
                      <a:endParaRPr lang="en-US"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a:effectLst/>
                        </a:rPr>
                        <a:t>Algorithmic estimates of reduced spike activity</a:t>
                      </a:r>
                      <a:endParaRPr lang="en-US"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dirty="0" err="1">
                          <a:effectLst/>
                        </a:rPr>
                        <a:t>Loihi</a:t>
                      </a:r>
                      <a:r>
                        <a:rPr lang="en-US" sz="2000" dirty="0">
                          <a:effectLst/>
                        </a:rPr>
                        <a:t> 2: ~2.5–3.2×10⁶ spikes per epoch; GPU baseline: ~50–60 W power draw</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1237022107"/>
                  </a:ext>
                </a:extLst>
              </a:tr>
              <a:tr h="657448">
                <a:tc>
                  <a:txBody>
                    <a:bodyPr/>
                    <a:lstStyle/>
                    <a:p>
                      <a:pPr marL="0" marR="0" algn="ctr">
                        <a:buNone/>
                      </a:pPr>
                      <a:r>
                        <a:rPr lang="en-US" sz="2000">
                          <a:effectLst/>
                        </a:rPr>
                        <a:t>Contribution</a:t>
                      </a:r>
                      <a:endParaRPr lang="en-US"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a:effectLst/>
                        </a:rPr>
                        <a:t>Algorithmic advances for effective SNN forecasting</a:t>
                      </a:r>
                      <a:endParaRPr lang="en-US" sz="2000">
                        <a:effectLst/>
                        <a:latin typeface="Times New Roman" panose="02020603050405020304" pitchFamily="18" charset="0"/>
                        <a:ea typeface="SimSun" panose="02010600030101010101" pitchFamily="2" charset="-122"/>
                      </a:endParaRPr>
                    </a:p>
                  </a:txBody>
                  <a:tcPr marL="9525" marR="9525" marT="9525" marB="9525" anchor="ctr"/>
                </a:tc>
                <a:tc>
                  <a:txBody>
                    <a:bodyPr/>
                    <a:lstStyle/>
                    <a:p>
                      <a:pPr marL="0" marR="0" algn="ctr">
                        <a:buNone/>
                      </a:pPr>
                      <a:r>
                        <a:rPr lang="en-US" sz="2000" dirty="0">
                          <a:effectLst/>
                        </a:rPr>
                        <a:t>Hardware‑validated energy–accuracy trade‑offs across multiple datasets</a:t>
                      </a:r>
                      <a:endParaRPr lang="en-US" sz="2000" dirty="0">
                        <a:effectLst/>
                        <a:latin typeface="Times New Roman" panose="02020603050405020304" pitchFamily="18" charset="0"/>
                        <a:ea typeface="SimSun" panose="02010600030101010101" pitchFamily="2" charset="-122"/>
                      </a:endParaRPr>
                    </a:p>
                  </a:txBody>
                  <a:tcPr marL="9525" marR="9525" marT="9525" marB="9525" anchor="ctr"/>
                </a:tc>
                <a:extLst>
                  <a:ext uri="{0D108BD9-81ED-4DB2-BD59-A6C34878D82A}">
                    <a16:rowId xmlns:a16="http://schemas.microsoft.com/office/drawing/2014/main" val="3213888463"/>
                  </a:ext>
                </a:extLst>
              </a:tr>
            </a:tbl>
          </a:graphicData>
        </a:graphic>
      </p:graphicFrame>
    </p:spTree>
    <p:extLst>
      <p:ext uri="{BB962C8B-B14F-4D97-AF65-F5344CB8AC3E}">
        <p14:creationId xmlns:p14="http://schemas.microsoft.com/office/powerpoint/2010/main" val="4309662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98B108FC-661E-BB5D-3C8A-F0F27C04FF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66362EF-4722-681E-2725-CDF29F4198E3}"/>
              </a:ext>
            </a:extLst>
          </p:cNvPr>
          <p:cNvSpPr>
            <a:spLocks noGrp="1"/>
          </p:cNvSpPr>
          <p:nvPr>
            <p:ph type="title"/>
          </p:nvPr>
        </p:nvSpPr>
        <p:spPr>
          <a:xfrm>
            <a:off x="607532" y="369811"/>
            <a:ext cx="10672136" cy="1219379"/>
          </a:xfrm>
        </p:spPr>
        <p:txBody>
          <a:bodyPr>
            <a:normAutofit fontScale="90000"/>
          </a:bodyPr>
          <a:lstStyle/>
          <a:p>
            <a:r>
              <a:rPr lang="en-US" dirty="0"/>
              <a:t>Hardware‑Validated Benchmarking Analysis on </a:t>
            </a:r>
            <a:r>
              <a:rPr lang="en-US" dirty="0" err="1"/>
              <a:t>Loihi</a:t>
            </a:r>
            <a:r>
              <a:rPr lang="en-US" dirty="0"/>
              <a:t> 2 and GPU Platforms</a:t>
            </a:r>
          </a:p>
        </p:txBody>
      </p:sp>
      <p:sp>
        <p:nvSpPr>
          <p:cNvPr id="4" name="AutoShape 2" descr="Uploaded image">
            <a:extLst>
              <a:ext uri="{FF2B5EF4-FFF2-40B4-BE49-F238E27FC236}">
                <a16:creationId xmlns:a16="http://schemas.microsoft.com/office/drawing/2014/main" id="{909B7E74-E422-A456-6206-84F78F37FED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Table 6">
            <a:extLst>
              <a:ext uri="{FF2B5EF4-FFF2-40B4-BE49-F238E27FC236}">
                <a16:creationId xmlns:a16="http://schemas.microsoft.com/office/drawing/2014/main" id="{313B2F23-887A-01CC-259A-3E749D16160F}"/>
              </a:ext>
            </a:extLst>
          </p:cNvPr>
          <p:cNvGraphicFramePr>
            <a:graphicFrameLocks noGrp="1"/>
          </p:cNvGraphicFramePr>
          <p:nvPr>
            <p:extLst>
              <p:ext uri="{D42A27DB-BD31-4B8C-83A1-F6EECF244321}">
                <p14:modId xmlns:p14="http://schemas.microsoft.com/office/powerpoint/2010/main" val="1289112485"/>
              </p:ext>
            </p:extLst>
          </p:nvPr>
        </p:nvGraphicFramePr>
        <p:xfrm>
          <a:off x="607532" y="1589190"/>
          <a:ext cx="10976935" cy="4898999"/>
        </p:xfrm>
        <a:graphic>
          <a:graphicData uri="http://schemas.openxmlformats.org/drawingml/2006/table">
            <a:tbl>
              <a:tblPr firstRow="1" firstCol="1" bandRow="1">
                <a:tableStyleId>{5C22544A-7EE6-4342-B048-85BDC9FD1C3A}</a:tableStyleId>
              </a:tblPr>
              <a:tblGrid>
                <a:gridCol w="2727083">
                  <a:extLst>
                    <a:ext uri="{9D8B030D-6E8A-4147-A177-3AD203B41FA5}">
                      <a16:colId xmlns:a16="http://schemas.microsoft.com/office/drawing/2014/main" val="3042532285"/>
                    </a:ext>
                  </a:extLst>
                </a:gridCol>
                <a:gridCol w="3396646">
                  <a:extLst>
                    <a:ext uri="{9D8B030D-6E8A-4147-A177-3AD203B41FA5}">
                      <a16:colId xmlns:a16="http://schemas.microsoft.com/office/drawing/2014/main" val="977776229"/>
                    </a:ext>
                  </a:extLst>
                </a:gridCol>
                <a:gridCol w="4853206">
                  <a:extLst>
                    <a:ext uri="{9D8B030D-6E8A-4147-A177-3AD203B41FA5}">
                      <a16:colId xmlns:a16="http://schemas.microsoft.com/office/drawing/2014/main" val="2414737741"/>
                    </a:ext>
                  </a:extLst>
                </a:gridCol>
              </a:tblGrid>
              <a:tr h="699857">
                <a:tc>
                  <a:txBody>
                    <a:bodyPr/>
                    <a:lstStyle/>
                    <a:p>
                      <a:pPr marL="0" marR="0" algn="ctr">
                        <a:buNone/>
                      </a:pPr>
                      <a:r>
                        <a:rPr lang="en-US" sz="2000" i="0" dirty="0">
                          <a:effectLst/>
                          <a:latin typeface="+mn-lt"/>
                          <a:ea typeface="SimSun" panose="02010600030101010101" pitchFamily="2" charset="-122"/>
                        </a:rPr>
                        <a:t>Aspect / Metric</a:t>
                      </a:r>
                    </a:p>
                  </a:txBody>
                  <a:tcPr marL="9525" marR="9525" marT="9525" marB="9525" anchor="ctr"/>
                </a:tc>
                <a:tc>
                  <a:txBody>
                    <a:bodyPr/>
                    <a:lstStyle/>
                    <a:p>
                      <a:pPr marL="0" marR="0" algn="ctr">
                        <a:buNone/>
                      </a:pPr>
                      <a:r>
                        <a:rPr lang="en-US" sz="2000" i="0">
                          <a:effectLst/>
                          <a:latin typeface="+mn-lt"/>
                          <a:ea typeface="SimSun" panose="02010600030101010101" pitchFamily="2" charset="-122"/>
                        </a:rPr>
                        <a:t>Loihi 2 in Self‑Driving [6]</a:t>
                      </a:r>
                    </a:p>
                  </a:txBody>
                  <a:tcPr marL="9525" marR="9525" marT="9525" marB="9525" anchor="ctr"/>
                </a:tc>
                <a:tc>
                  <a:txBody>
                    <a:bodyPr/>
                    <a:lstStyle/>
                    <a:p>
                      <a:pPr marL="0" marR="0" algn="ctr">
                        <a:buNone/>
                      </a:pPr>
                      <a:r>
                        <a:rPr lang="en-US" sz="2000" i="0">
                          <a:effectLst/>
                          <a:latin typeface="+mn-lt"/>
                          <a:ea typeface="SimSun" panose="02010600030101010101" pitchFamily="2" charset="-122"/>
                        </a:rPr>
                        <a:t>RingSNN Decoder Pipelines on Loihi 2 &amp; ANN/Hybrid DNN GPU</a:t>
                      </a:r>
                    </a:p>
                  </a:txBody>
                  <a:tcPr marL="9525" marR="9525" marT="9525" marB="9525" anchor="ctr"/>
                </a:tc>
                <a:extLst>
                  <a:ext uri="{0D108BD9-81ED-4DB2-BD59-A6C34878D82A}">
                    <a16:rowId xmlns:a16="http://schemas.microsoft.com/office/drawing/2014/main" val="62467409"/>
                  </a:ext>
                </a:extLst>
              </a:tr>
              <a:tr h="699857">
                <a:tc>
                  <a:txBody>
                    <a:bodyPr/>
                    <a:lstStyle/>
                    <a:p>
                      <a:pPr marL="0" marR="0" algn="ctr">
                        <a:buNone/>
                      </a:pPr>
                      <a:r>
                        <a:rPr lang="en-US" sz="2000" i="0" dirty="0">
                          <a:effectLst/>
                          <a:latin typeface="+mn-lt"/>
                          <a:ea typeface="SimSun" panose="02010600030101010101" pitchFamily="2" charset="-122"/>
                        </a:rPr>
                        <a:t>Application Domain</a:t>
                      </a:r>
                    </a:p>
                  </a:txBody>
                  <a:tcPr marL="9525" marR="9525" marT="9525" marB="9525" anchor="ctr"/>
                </a:tc>
                <a:tc>
                  <a:txBody>
                    <a:bodyPr/>
                    <a:lstStyle/>
                    <a:p>
                      <a:pPr marL="0" marR="0" algn="ctr">
                        <a:buNone/>
                      </a:pPr>
                      <a:r>
                        <a:rPr lang="en-US" sz="2000" i="0">
                          <a:effectLst/>
                          <a:latin typeface="+mn-lt"/>
                          <a:ea typeface="SimSun" panose="02010600030101010101" pitchFamily="2" charset="-122"/>
                        </a:rPr>
                        <a:t>Vehicular steering prediction (PilotNet dataset, 45k frames)</a:t>
                      </a:r>
                    </a:p>
                  </a:txBody>
                  <a:tcPr marL="9525" marR="9525" marT="9525" marB="9525" anchor="ctr"/>
                </a:tc>
                <a:tc>
                  <a:txBody>
                    <a:bodyPr/>
                    <a:lstStyle/>
                    <a:p>
                      <a:pPr marL="0" marR="0" algn="ctr">
                        <a:buNone/>
                      </a:pPr>
                      <a:r>
                        <a:rPr lang="en-US" sz="2000" i="0" dirty="0">
                          <a:effectLst/>
                          <a:latin typeface="+mn-lt"/>
                          <a:ea typeface="SimSun" panose="02010600030101010101" pitchFamily="2" charset="-122"/>
                        </a:rPr>
                        <a:t>Renewable energy forecasting </a:t>
                      </a:r>
                    </a:p>
                    <a:p>
                      <a:pPr marL="0" marR="0" algn="ctr">
                        <a:buNone/>
                      </a:pPr>
                      <a:r>
                        <a:rPr lang="en-US" sz="2000" i="0" dirty="0">
                          <a:effectLst/>
                          <a:latin typeface="+mn-lt"/>
                          <a:ea typeface="SimSun" panose="02010600030101010101" pitchFamily="2" charset="-122"/>
                        </a:rPr>
                        <a:t>(Solar, AEP load, Sunspot datasets)</a:t>
                      </a:r>
                    </a:p>
                  </a:txBody>
                  <a:tcPr marL="9525" marR="9525" marT="9525" marB="9525" anchor="ctr"/>
                </a:tc>
                <a:extLst>
                  <a:ext uri="{0D108BD9-81ED-4DB2-BD59-A6C34878D82A}">
                    <a16:rowId xmlns:a16="http://schemas.microsoft.com/office/drawing/2014/main" val="3595082828"/>
                  </a:ext>
                </a:extLst>
              </a:tr>
              <a:tr h="699857">
                <a:tc>
                  <a:txBody>
                    <a:bodyPr/>
                    <a:lstStyle/>
                    <a:p>
                      <a:pPr marL="0" marR="0" algn="ctr">
                        <a:buNone/>
                      </a:pPr>
                      <a:r>
                        <a:rPr lang="en-US" sz="2000" i="0">
                          <a:effectLst/>
                          <a:latin typeface="+mn-lt"/>
                          <a:ea typeface="SimSun" panose="02010600030101010101" pitchFamily="2" charset="-122"/>
                        </a:rPr>
                        <a:t>Architecture</a:t>
                      </a:r>
                    </a:p>
                  </a:txBody>
                  <a:tcPr marL="9525" marR="9525" marT="9525" marB="9525" anchor="ctr"/>
                </a:tc>
                <a:tc>
                  <a:txBody>
                    <a:bodyPr/>
                    <a:lstStyle/>
                    <a:p>
                      <a:pPr marL="0" marR="0" algn="ctr">
                        <a:buNone/>
                      </a:pPr>
                      <a:r>
                        <a:rPr lang="en-US" sz="2000" i="0" dirty="0">
                          <a:effectLst/>
                          <a:latin typeface="+mn-lt"/>
                          <a:ea typeface="SimSun" panose="02010600030101010101" pitchFamily="2" charset="-122"/>
                        </a:rPr>
                        <a:t>Sigma‑delta SNN (SDNN) </a:t>
                      </a:r>
                    </a:p>
                    <a:p>
                      <a:pPr marL="0" marR="0" algn="ctr">
                        <a:buNone/>
                      </a:pPr>
                      <a:r>
                        <a:rPr lang="en-US" sz="2000" i="0" dirty="0">
                          <a:effectLst/>
                          <a:latin typeface="+mn-lt"/>
                          <a:ea typeface="SimSun" panose="02010600030101010101" pitchFamily="2" charset="-122"/>
                        </a:rPr>
                        <a:t>trained with SLAYER</a:t>
                      </a:r>
                    </a:p>
                  </a:txBody>
                  <a:tcPr marL="9525" marR="9525" marT="9525" marB="9525" anchor="ctr"/>
                </a:tc>
                <a:tc>
                  <a:txBody>
                    <a:bodyPr/>
                    <a:lstStyle/>
                    <a:p>
                      <a:pPr marL="0" marR="0" algn="ctr">
                        <a:buNone/>
                      </a:pPr>
                      <a:r>
                        <a:rPr lang="en-US" sz="2000" i="0" dirty="0">
                          <a:effectLst/>
                          <a:latin typeface="+mn-lt"/>
                          <a:ea typeface="SimSun" panose="02010600030101010101" pitchFamily="2" charset="-122"/>
                        </a:rPr>
                        <a:t>Decoder pipeline (Dense + LIF layers) </a:t>
                      </a:r>
                    </a:p>
                    <a:p>
                      <a:pPr marL="0" marR="0" algn="ctr">
                        <a:buNone/>
                      </a:pPr>
                      <a:r>
                        <a:rPr lang="en-US" sz="2000" i="0" dirty="0">
                          <a:effectLst/>
                          <a:latin typeface="+mn-lt"/>
                          <a:ea typeface="SimSun" panose="02010600030101010101" pitchFamily="2" charset="-122"/>
                        </a:rPr>
                        <a:t>replayed across epochs</a:t>
                      </a:r>
                    </a:p>
                  </a:txBody>
                  <a:tcPr marL="9525" marR="9525" marT="9525" marB="9525" anchor="ctr"/>
                </a:tc>
                <a:extLst>
                  <a:ext uri="{0D108BD9-81ED-4DB2-BD59-A6C34878D82A}">
                    <a16:rowId xmlns:a16="http://schemas.microsoft.com/office/drawing/2014/main" val="2817993571"/>
                  </a:ext>
                </a:extLst>
              </a:tr>
              <a:tr h="699857">
                <a:tc>
                  <a:txBody>
                    <a:bodyPr/>
                    <a:lstStyle/>
                    <a:p>
                      <a:pPr marL="0" marR="0" algn="ctr">
                        <a:buNone/>
                      </a:pPr>
                      <a:r>
                        <a:rPr lang="en-US" sz="2000" i="0">
                          <a:effectLst/>
                          <a:latin typeface="+mn-lt"/>
                          <a:ea typeface="SimSun" panose="02010600030101010101" pitchFamily="2" charset="-122"/>
                        </a:rPr>
                        <a:t>Accuracy (MAE)</a:t>
                      </a:r>
                    </a:p>
                  </a:txBody>
                  <a:tcPr marL="9525" marR="9525" marT="9525" marB="9525" anchor="ctr"/>
                </a:tc>
                <a:tc>
                  <a:txBody>
                    <a:bodyPr/>
                    <a:lstStyle/>
                    <a:p>
                      <a:pPr marL="0" marR="0" algn="ctr">
                        <a:buNone/>
                      </a:pPr>
                      <a:r>
                        <a:rPr lang="en-US" sz="2000" i="0">
                          <a:effectLst/>
                          <a:latin typeface="+mn-lt"/>
                          <a:ea typeface="SimSun" panose="02010600030101010101" pitchFamily="2" charset="-122"/>
                        </a:rPr>
                        <a:t>MAE ≈ 0.12–0.15</a:t>
                      </a:r>
                    </a:p>
                  </a:txBody>
                  <a:tcPr marL="9525" marR="9525" marT="9525" marB="9525" anchor="ctr"/>
                </a:tc>
                <a:tc>
                  <a:txBody>
                    <a:bodyPr/>
                    <a:lstStyle/>
                    <a:p>
                      <a:pPr marL="0" marR="0" algn="ctr">
                        <a:buNone/>
                      </a:pPr>
                      <a:r>
                        <a:rPr lang="en-US" sz="2000" i="0" dirty="0">
                          <a:effectLst/>
                          <a:latin typeface="+mn-lt"/>
                          <a:ea typeface="SimSun" panose="02010600030101010101" pitchFamily="2" charset="-122"/>
                        </a:rPr>
                        <a:t>Solar: MAE ≈ 0.1416; AEP: MAE ≈ 0.1761; Sunspot: MAE ≈ 0.2540</a:t>
                      </a:r>
                    </a:p>
                  </a:txBody>
                  <a:tcPr marL="9525" marR="9525" marT="9525" marB="9525" anchor="ctr"/>
                </a:tc>
                <a:extLst>
                  <a:ext uri="{0D108BD9-81ED-4DB2-BD59-A6C34878D82A}">
                    <a16:rowId xmlns:a16="http://schemas.microsoft.com/office/drawing/2014/main" val="2793736224"/>
                  </a:ext>
                </a:extLst>
              </a:tr>
              <a:tr h="699857">
                <a:tc>
                  <a:txBody>
                    <a:bodyPr/>
                    <a:lstStyle/>
                    <a:p>
                      <a:pPr marL="0" marR="0" algn="ctr">
                        <a:buNone/>
                      </a:pPr>
                      <a:r>
                        <a:rPr lang="en-US" sz="2000" i="0">
                          <a:effectLst/>
                          <a:latin typeface="+mn-lt"/>
                          <a:ea typeface="SimSun" panose="02010600030101010101" pitchFamily="2" charset="-122"/>
                        </a:rPr>
                        <a:t>Runtime / Throughput</a:t>
                      </a:r>
                    </a:p>
                  </a:txBody>
                  <a:tcPr marL="9525" marR="9525" marT="9525" marB="9525" anchor="ctr"/>
                </a:tc>
                <a:tc>
                  <a:txBody>
                    <a:bodyPr/>
                    <a:lstStyle/>
                    <a:p>
                      <a:pPr marL="0" marR="0" algn="ctr">
                        <a:buNone/>
                      </a:pPr>
                      <a:r>
                        <a:rPr lang="en-US" sz="2000" i="0" dirty="0" err="1">
                          <a:effectLst/>
                          <a:latin typeface="+mn-lt"/>
                          <a:ea typeface="SimSun" panose="02010600030101010101" pitchFamily="2" charset="-122"/>
                        </a:rPr>
                        <a:t>Loihi</a:t>
                      </a:r>
                      <a:r>
                        <a:rPr lang="en-US" sz="2000" i="0" dirty="0">
                          <a:effectLst/>
                          <a:latin typeface="+mn-lt"/>
                          <a:ea typeface="SimSun" panose="02010600030101010101" pitchFamily="2" charset="-122"/>
                        </a:rPr>
                        <a:t> 2: ~12.65 FPS;</a:t>
                      </a:r>
                    </a:p>
                    <a:p>
                      <a:pPr marL="0" marR="0" algn="ctr">
                        <a:buNone/>
                      </a:pPr>
                      <a:r>
                        <a:rPr lang="en-US" sz="2000" i="0" dirty="0">
                          <a:effectLst/>
                          <a:latin typeface="+mn-lt"/>
                          <a:ea typeface="SimSun" panose="02010600030101010101" pitchFamily="2" charset="-122"/>
                        </a:rPr>
                        <a:t> GPUs: &gt;100 FPS</a:t>
                      </a:r>
                    </a:p>
                  </a:txBody>
                  <a:tcPr marL="9525" marR="9525" marT="9525" marB="9525" anchor="ctr"/>
                </a:tc>
                <a:tc>
                  <a:txBody>
                    <a:bodyPr/>
                    <a:lstStyle/>
                    <a:p>
                      <a:pPr marL="0" marR="0" algn="ctr">
                        <a:buNone/>
                      </a:pPr>
                      <a:r>
                        <a:rPr lang="en-US" sz="2000" i="0" dirty="0" err="1">
                          <a:effectLst/>
                          <a:latin typeface="+mn-lt"/>
                          <a:ea typeface="SimSun" panose="02010600030101010101" pitchFamily="2" charset="-122"/>
                        </a:rPr>
                        <a:t>Loihi</a:t>
                      </a:r>
                      <a:r>
                        <a:rPr lang="en-US" sz="2000" i="0" dirty="0">
                          <a:effectLst/>
                          <a:latin typeface="+mn-lt"/>
                          <a:ea typeface="SimSun" panose="02010600030101010101" pitchFamily="2" charset="-122"/>
                        </a:rPr>
                        <a:t> 2: ~12–15 </a:t>
                      </a:r>
                      <a:r>
                        <a:rPr lang="en-US" sz="2000" i="0" dirty="0" err="1">
                          <a:effectLst/>
                          <a:latin typeface="+mn-lt"/>
                          <a:ea typeface="SimSun" panose="02010600030101010101" pitchFamily="2" charset="-122"/>
                        </a:rPr>
                        <a:t>ms</a:t>
                      </a:r>
                      <a:r>
                        <a:rPr lang="en-US" sz="2000" i="0" dirty="0">
                          <a:effectLst/>
                          <a:latin typeface="+mn-lt"/>
                          <a:ea typeface="SimSun" panose="02010600030101010101" pitchFamily="2" charset="-122"/>
                        </a:rPr>
                        <a:t> per epoch; </a:t>
                      </a:r>
                    </a:p>
                    <a:p>
                      <a:pPr marL="0" marR="0" algn="ctr">
                        <a:buNone/>
                      </a:pPr>
                      <a:r>
                        <a:rPr lang="en-US" sz="2000" i="0" dirty="0">
                          <a:effectLst/>
                          <a:latin typeface="+mn-lt"/>
                          <a:ea typeface="SimSun" panose="02010600030101010101" pitchFamily="2" charset="-122"/>
                        </a:rPr>
                        <a:t>GPU: ~3–5 </a:t>
                      </a:r>
                      <a:r>
                        <a:rPr lang="en-US" sz="2000" i="0" dirty="0" err="1">
                          <a:effectLst/>
                          <a:latin typeface="+mn-lt"/>
                          <a:ea typeface="SimSun" panose="02010600030101010101" pitchFamily="2" charset="-122"/>
                        </a:rPr>
                        <a:t>ms</a:t>
                      </a:r>
                      <a:r>
                        <a:rPr lang="en-US" sz="2000" i="0" dirty="0">
                          <a:effectLst/>
                          <a:latin typeface="+mn-lt"/>
                          <a:ea typeface="SimSun" panose="02010600030101010101" pitchFamily="2" charset="-122"/>
                        </a:rPr>
                        <a:t> per epoch</a:t>
                      </a:r>
                    </a:p>
                  </a:txBody>
                  <a:tcPr marL="9525" marR="9525" marT="9525" marB="9525" anchor="ctr"/>
                </a:tc>
                <a:extLst>
                  <a:ext uri="{0D108BD9-81ED-4DB2-BD59-A6C34878D82A}">
                    <a16:rowId xmlns:a16="http://schemas.microsoft.com/office/drawing/2014/main" val="157478977"/>
                  </a:ext>
                </a:extLst>
              </a:tr>
              <a:tr h="699857">
                <a:tc>
                  <a:txBody>
                    <a:bodyPr/>
                    <a:lstStyle/>
                    <a:p>
                      <a:pPr marL="0" marR="0" algn="ctr">
                        <a:buNone/>
                      </a:pPr>
                      <a:r>
                        <a:rPr lang="en-US" sz="2000" i="0">
                          <a:effectLst/>
                          <a:latin typeface="+mn-lt"/>
                          <a:ea typeface="SimSun" panose="02010600030101010101" pitchFamily="2" charset="-122"/>
                        </a:rPr>
                        <a:t>Energy Consumption</a:t>
                      </a:r>
                    </a:p>
                  </a:txBody>
                  <a:tcPr marL="9525" marR="9525" marT="9525" marB="9525" anchor="ctr"/>
                </a:tc>
                <a:tc>
                  <a:txBody>
                    <a:bodyPr/>
                    <a:lstStyle/>
                    <a:p>
                      <a:pPr marL="0" marR="0" algn="ctr">
                        <a:buNone/>
                      </a:pPr>
                      <a:r>
                        <a:rPr lang="en-US" sz="2000" i="0" dirty="0" err="1">
                          <a:effectLst/>
                          <a:latin typeface="+mn-lt"/>
                          <a:ea typeface="SimSun" panose="02010600030101010101" pitchFamily="2" charset="-122"/>
                        </a:rPr>
                        <a:t>Loihi</a:t>
                      </a:r>
                      <a:r>
                        <a:rPr lang="en-US" sz="2000" i="0" dirty="0">
                          <a:effectLst/>
                          <a:latin typeface="+mn-lt"/>
                          <a:ea typeface="SimSun" panose="02010600030101010101" pitchFamily="2" charset="-122"/>
                        </a:rPr>
                        <a:t> 2: ~3–3.5 W; </a:t>
                      </a:r>
                    </a:p>
                    <a:p>
                      <a:pPr marL="0" marR="0" algn="ctr">
                        <a:buNone/>
                      </a:pPr>
                      <a:r>
                        <a:rPr lang="en-US" sz="2000" i="0" dirty="0">
                          <a:effectLst/>
                          <a:latin typeface="+mn-lt"/>
                          <a:ea typeface="SimSun" panose="02010600030101010101" pitchFamily="2" charset="-122"/>
                        </a:rPr>
                        <a:t>GPUs: &gt;50 W</a:t>
                      </a:r>
                    </a:p>
                  </a:txBody>
                  <a:tcPr marL="9525" marR="9525" marT="9525" marB="9525" anchor="ctr"/>
                </a:tc>
                <a:tc>
                  <a:txBody>
                    <a:bodyPr/>
                    <a:lstStyle/>
                    <a:p>
                      <a:pPr marL="0" marR="0" algn="ctr">
                        <a:buNone/>
                      </a:pPr>
                      <a:r>
                        <a:rPr lang="en-US" sz="2000" i="0" dirty="0" err="1">
                          <a:effectLst/>
                          <a:latin typeface="+mn-lt"/>
                          <a:ea typeface="SimSun" panose="02010600030101010101" pitchFamily="2" charset="-122"/>
                        </a:rPr>
                        <a:t>Loihi</a:t>
                      </a:r>
                      <a:r>
                        <a:rPr lang="en-US" sz="2000" i="0" dirty="0">
                          <a:effectLst/>
                          <a:latin typeface="+mn-lt"/>
                          <a:ea typeface="SimSun" panose="02010600030101010101" pitchFamily="2" charset="-122"/>
                        </a:rPr>
                        <a:t> 2: ~2.5–3.2×10⁶ spikes per epoch; </a:t>
                      </a:r>
                    </a:p>
                    <a:p>
                      <a:pPr marL="0" marR="0" algn="ctr">
                        <a:buNone/>
                      </a:pPr>
                      <a:r>
                        <a:rPr lang="en-US" sz="2000" i="0" dirty="0">
                          <a:effectLst/>
                          <a:latin typeface="+mn-lt"/>
                          <a:ea typeface="SimSun" panose="02010600030101010101" pitchFamily="2" charset="-122"/>
                        </a:rPr>
                        <a:t>GPU baseline: ~50–60 W power draw</a:t>
                      </a:r>
                    </a:p>
                  </a:txBody>
                  <a:tcPr marL="9525" marR="9525" marT="9525" marB="9525" anchor="ctr"/>
                </a:tc>
                <a:extLst>
                  <a:ext uri="{0D108BD9-81ED-4DB2-BD59-A6C34878D82A}">
                    <a16:rowId xmlns:a16="http://schemas.microsoft.com/office/drawing/2014/main" val="1237022107"/>
                  </a:ext>
                </a:extLst>
              </a:tr>
              <a:tr h="699857">
                <a:tc>
                  <a:txBody>
                    <a:bodyPr/>
                    <a:lstStyle/>
                    <a:p>
                      <a:pPr marL="0" marR="0" algn="ctr">
                        <a:buNone/>
                      </a:pPr>
                      <a:r>
                        <a:rPr lang="en-US" sz="2000" i="0">
                          <a:effectLst/>
                          <a:latin typeface="+mn-lt"/>
                          <a:ea typeface="SimSun" panose="02010600030101010101" pitchFamily="2" charset="-122"/>
                        </a:rPr>
                        <a:t>Contribution</a:t>
                      </a:r>
                    </a:p>
                  </a:txBody>
                  <a:tcPr marL="9525" marR="9525" marT="9525" marB="9525" anchor="ctr"/>
                </a:tc>
                <a:tc>
                  <a:txBody>
                    <a:bodyPr/>
                    <a:lstStyle/>
                    <a:p>
                      <a:pPr marL="0" marR="0" algn="ctr">
                        <a:buNone/>
                      </a:pPr>
                      <a:r>
                        <a:rPr lang="en-US" sz="2000" i="0" dirty="0">
                          <a:effectLst/>
                          <a:latin typeface="+mn-lt"/>
                          <a:ea typeface="SimSun" panose="02010600030101010101" pitchFamily="2" charset="-122"/>
                        </a:rPr>
                        <a:t>Hardware benchmarking of </a:t>
                      </a:r>
                      <a:r>
                        <a:rPr lang="en-US" sz="2000" i="0" dirty="0" err="1">
                          <a:effectLst/>
                          <a:latin typeface="+mn-lt"/>
                          <a:ea typeface="SimSun" panose="02010600030101010101" pitchFamily="2" charset="-122"/>
                        </a:rPr>
                        <a:t>Loihi</a:t>
                      </a:r>
                      <a:r>
                        <a:rPr lang="en-US" sz="2000" i="0" dirty="0">
                          <a:effectLst/>
                          <a:latin typeface="+mn-lt"/>
                          <a:ea typeface="SimSun" panose="02010600030101010101" pitchFamily="2" charset="-122"/>
                        </a:rPr>
                        <a:t> 2 vs GPUs in self‑driving</a:t>
                      </a:r>
                    </a:p>
                  </a:txBody>
                  <a:tcPr marL="9525" marR="9525" marT="9525" marB="9525" anchor="ctr"/>
                </a:tc>
                <a:tc>
                  <a:txBody>
                    <a:bodyPr/>
                    <a:lstStyle/>
                    <a:p>
                      <a:pPr marL="0" marR="0" algn="ctr">
                        <a:buNone/>
                      </a:pPr>
                      <a:r>
                        <a:rPr lang="en-US" sz="2000" i="0" dirty="0">
                          <a:effectLst/>
                          <a:latin typeface="+mn-lt"/>
                          <a:ea typeface="SimSun" panose="02010600030101010101" pitchFamily="2" charset="-122"/>
                        </a:rPr>
                        <a:t>Hardware‑validated energy–accuracy trade‑offs in sustainability forecasting</a:t>
                      </a:r>
                    </a:p>
                  </a:txBody>
                  <a:tcPr marL="9525" marR="9525" marT="9525" marB="9525" anchor="ctr"/>
                </a:tc>
                <a:extLst>
                  <a:ext uri="{0D108BD9-81ED-4DB2-BD59-A6C34878D82A}">
                    <a16:rowId xmlns:a16="http://schemas.microsoft.com/office/drawing/2014/main" val="3213888463"/>
                  </a:ext>
                </a:extLst>
              </a:tr>
            </a:tbl>
          </a:graphicData>
        </a:graphic>
      </p:graphicFrame>
    </p:spTree>
    <p:extLst>
      <p:ext uri="{BB962C8B-B14F-4D97-AF65-F5344CB8AC3E}">
        <p14:creationId xmlns:p14="http://schemas.microsoft.com/office/powerpoint/2010/main" val="1457719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3F05F979-952F-080D-3053-8AD18649AE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AA12F6-09B3-A3E0-31D1-EFAE588C6921}"/>
              </a:ext>
            </a:extLst>
          </p:cNvPr>
          <p:cNvSpPr>
            <a:spLocks noGrp="1"/>
          </p:cNvSpPr>
          <p:nvPr>
            <p:ph type="title"/>
          </p:nvPr>
        </p:nvSpPr>
        <p:spPr>
          <a:xfrm>
            <a:off x="463986" y="457200"/>
            <a:ext cx="2983550" cy="766119"/>
          </a:xfrm>
        </p:spPr>
        <p:txBody>
          <a:bodyPr/>
          <a:lstStyle/>
          <a:p>
            <a:r>
              <a:rPr lang="en-US" dirty="0"/>
              <a:t>Conclusions</a:t>
            </a:r>
          </a:p>
        </p:txBody>
      </p:sp>
      <p:sp>
        <p:nvSpPr>
          <p:cNvPr id="2" name="Rectangle 4">
            <a:extLst>
              <a:ext uri="{FF2B5EF4-FFF2-40B4-BE49-F238E27FC236}">
                <a16:creationId xmlns:a16="http://schemas.microsoft.com/office/drawing/2014/main" id="{2AC68250-639B-47E2-9A0C-3160B5BEC82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9C6B3DA2-E541-FE45-3A20-5D14262DF0F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47D2A5B2-2216-BEE5-0542-B7C39BBFA20D}"/>
              </a:ext>
            </a:extLst>
          </p:cNvPr>
          <p:cNvSpPr txBox="1"/>
          <p:nvPr/>
        </p:nvSpPr>
        <p:spPr>
          <a:xfrm>
            <a:off x="463986" y="1223319"/>
            <a:ext cx="11209711" cy="4832092"/>
          </a:xfrm>
          <a:prstGeom prst="rect">
            <a:avLst/>
          </a:prstGeom>
          <a:noFill/>
        </p:spPr>
        <p:txBody>
          <a:bodyPr wrap="square">
            <a:spAutoFit/>
          </a:bodyPr>
          <a:lstStyle/>
          <a:p>
            <a:pPr marL="285750" indent="-285750">
              <a:buFont typeface="Arial" panose="020B0604020202020204" pitchFamily="34" charset="0"/>
              <a:buChar char="•"/>
            </a:pPr>
            <a:r>
              <a:rPr lang="en-US" sz="2800" dirty="0"/>
              <a:t>Results show that </a:t>
            </a:r>
            <a:r>
              <a:rPr lang="en-US" sz="2800" dirty="0" err="1"/>
              <a:t>Loihi</a:t>
            </a:r>
            <a:r>
              <a:rPr lang="en-US" sz="2800" dirty="0"/>
              <a:t> 2 consistently consumes substantially less energy than GPU platforms, emphasizing the practical benefits of neuromorphic hardware for resource‑constrained environments.</a:t>
            </a:r>
            <a:endParaRPr lang="en-US" sz="2800" kern="100" dirty="0">
              <a:latin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800" dirty="0"/>
              <a:t>While deep learning models like CNN and CNN-LSTM provide for slightly better accuracy, their energy consumption is significantly higher, resulting in the cost of precision in resource constrained environments</a:t>
            </a:r>
          </a:p>
          <a:p>
            <a:pPr marL="285750" indent="-285750">
              <a:buFont typeface="Arial" panose="020B0604020202020204" pitchFamily="34" charset="0"/>
              <a:buChar char="•"/>
            </a:pPr>
            <a:r>
              <a:rPr lang="en-US" sz="2800" dirty="0"/>
              <a:t>These results highlight the tradeoffs between model complexity, predictive performance, and energy demands.</a:t>
            </a:r>
          </a:p>
          <a:p>
            <a:pPr marL="285750" indent="-285750">
              <a:buFont typeface="Arial" panose="020B0604020202020204" pitchFamily="34" charset="0"/>
              <a:buChar char="•"/>
            </a:pPr>
            <a:r>
              <a:rPr lang="en-US" sz="2800" dirty="0" err="1"/>
              <a:t>RingSNN</a:t>
            </a:r>
            <a:r>
              <a:rPr lang="en-US" sz="2800" dirty="0"/>
              <a:t>  demonstrates the potential of neuromorphic computing to drastically reduce energy consumption, achieving greater  efficiency than the most demanding ANN baseline.</a:t>
            </a:r>
          </a:p>
        </p:txBody>
      </p:sp>
    </p:spTree>
    <p:extLst>
      <p:ext uri="{BB962C8B-B14F-4D97-AF65-F5344CB8AC3E}">
        <p14:creationId xmlns:p14="http://schemas.microsoft.com/office/powerpoint/2010/main" val="1771798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B0FDB9D3-2961-C2A5-0C72-F24C421D01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72B46A-8A12-18CA-27C1-910F313760C3}"/>
              </a:ext>
            </a:extLst>
          </p:cNvPr>
          <p:cNvSpPr>
            <a:spLocks noGrp="1"/>
          </p:cNvSpPr>
          <p:nvPr>
            <p:ph type="title"/>
          </p:nvPr>
        </p:nvSpPr>
        <p:spPr>
          <a:xfrm>
            <a:off x="349684" y="457200"/>
            <a:ext cx="2993590" cy="942542"/>
          </a:xfrm>
        </p:spPr>
        <p:txBody>
          <a:bodyPr/>
          <a:lstStyle/>
          <a:p>
            <a:r>
              <a:rPr lang="en-US" dirty="0"/>
              <a:t>Conclusions</a:t>
            </a:r>
          </a:p>
        </p:txBody>
      </p:sp>
      <p:sp>
        <p:nvSpPr>
          <p:cNvPr id="2" name="Rectangle 4">
            <a:extLst>
              <a:ext uri="{FF2B5EF4-FFF2-40B4-BE49-F238E27FC236}">
                <a16:creationId xmlns:a16="http://schemas.microsoft.com/office/drawing/2014/main" id="{7CCBD811-9C86-8B63-95DC-73F073B0ABB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AutoShape 2" descr="Uploaded image">
            <a:extLst>
              <a:ext uri="{FF2B5EF4-FFF2-40B4-BE49-F238E27FC236}">
                <a16:creationId xmlns:a16="http://schemas.microsoft.com/office/drawing/2014/main" id="{40A5797D-7539-1CE6-4C3F-D52E5607F9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F1ECDFEB-CCC2-7242-6D26-8C968E4D95C6}"/>
              </a:ext>
            </a:extLst>
          </p:cNvPr>
          <p:cNvSpPr txBox="1"/>
          <p:nvPr/>
        </p:nvSpPr>
        <p:spPr>
          <a:xfrm>
            <a:off x="349684" y="1399742"/>
            <a:ext cx="11209711" cy="4832092"/>
          </a:xfrm>
          <a:prstGeom prst="rect">
            <a:avLst/>
          </a:prstGeom>
          <a:noFill/>
        </p:spPr>
        <p:txBody>
          <a:bodyPr wrap="square">
            <a:spAutoFit/>
          </a:bodyPr>
          <a:lstStyle/>
          <a:p>
            <a:pPr marL="285750" indent="-285750">
              <a:buFont typeface="Arial" panose="020B0604020202020204" pitchFamily="34" charset="0"/>
              <a:buChar char="•"/>
            </a:pPr>
            <a:r>
              <a:rPr lang="en-US" sz="2800" dirty="0"/>
              <a:t>Neuromorphic systems also face several challenges, including constraints in memory access and communication routing, increased programming difficulty, an underdeveloped software ecosystem, and performance variability across datasets reflected in metrics such as MAE and RMSE. </a:t>
            </a:r>
          </a:p>
          <a:p>
            <a:pPr marL="285750" indent="-285750">
              <a:buFont typeface="Arial" panose="020B0604020202020204" pitchFamily="34" charset="0"/>
              <a:buChar char="•"/>
            </a:pPr>
            <a:r>
              <a:rPr lang="en-US" sz="2800" dirty="0"/>
              <a:t>Overall, </a:t>
            </a:r>
            <a:r>
              <a:rPr lang="en-US" sz="2800" dirty="0" err="1"/>
              <a:t>RingSNN’s</a:t>
            </a:r>
            <a:r>
              <a:rPr lang="en-US" sz="2800" dirty="0"/>
              <a:t> integration of temporal encoding, hardware‑validated benchmarking, and energy‑aware design provides a foundation for advancing sustainable, neuromorphic solutions for real‑world forecasting tasks</a:t>
            </a:r>
          </a:p>
          <a:p>
            <a:pPr marL="285750" indent="-285750">
              <a:buFont typeface="Arial" panose="020B0604020202020204" pitchFamily="34" charset="0"/>
              <a:buChar char="•"/>
            </a:pPr>
            <a:r>
              <a:rPr lang="en-US" sz="2800" dirty="0"/>
              <a:t>This makes </a:t>
            </a:r>
            <a:r>
              <a:rPr lang="en-US" sz="2800" dirty="0" err="1"/>
              <a:t>RingSNN</a:t>
            </a:r>
            <a:r>
              <a:rPr lang="en-US" sz="2800" dirty="0"/>
              <a:t> a promising candidate for ultra-low power applications such as edge devices, IoT sensors, or real time monitoring systems where energy constraints outweigh the need for high precision</a:t>
            </a:r>
          </a:p>
        </p:txBody>
      </p:sp>
    </p:spTree>
    <p:extLst>
      <p:ext uri="{BB962C8B-B14F-4D97-AF65-F5344CB8AC3E}">
        <p14:creationId xmlns:p14="http://schemas.microsoft.com/office/powerpoint/2010/main" val="12774673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B94D9208-701A-CD6B-3D73-59AEBE4B69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807EA7-3650-2310-2919-CAD3B477724D}"/>
              </a:ext>
            </a:extLst>
          </p:cNvPr>
          <p:cNvSpPr>
            <a:spLocks noGrp="1"/>
          </p:cNvSpPr>
          <p:nvPr>
            <p:ph type="title"/>
          </p:nvPr>
        </p:nvSpPr>
        <p:spPr>
          <a:xfrm>
            <a:off x="349684" y="281625"/>
            <a:ext cx="8094228" cy="756804"/>
          </a:xfrm>
        </p:spPr>
        <p:txBody>
          <a:bodyPr/>
          <a:lstStyle/>
          <a:p>
            <a:r>
              <a:rPr lang="en-US" dirty="0"/>
              <a:t>Future Works and Current Updates</a:t>
            </a:r>
          </a:p>
        </p:txBody>
      </p:sp>
      <p:sp>
        <p:nvSpPr>
          <p:cNvPr id="4" name="AutoShape 2" descr="Uploaded image">
            <a:extLst>
              <a:ext uri="{FF2B5EF4-FFF2-40B4-BE49-F238E27FC236}">
                <a16:creationId xmlns:a16="http://schemas.microsoft.com/office/drawing/2014/main" id="{D0A3484D-2A42-0B2F-B598-2ECA1DAD036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EFA074A8-B46D-2E51-0E02-A26F08CE3AF0}"/>
              </a:ext>
            </a:extLst>
          </p:cNvPr>
          <p:cNvSpPr txBox="1"/>
          <p:nvPr/>
        </p:nvSpPr>
        <p:spPr>
          <a:xfrm>
            <a:off x="349684" y="1038429"/>
            <a:ext cx="11209711" cy="5262979"/>
          </a:xfrm>
          <a:prstGeom prst="rect">
            <a:avLst/>
          </a:prstGeom>
          <a:noFill/>
        </p:spPr>
        <p:txBody>
          <a:bodyPr wrap="square">
            <a:spAutoFit/>
          </a:bodyPr>
          <a:lstStyle/>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Improving Encoding Strategies </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Adapting decoder mechanisms</a:t>
            </a:r>
          </a:p>
          <a:p>
            <a:pPr marL="285750" indent="-285750">
              <a:buFont typeface="Arial" panose="020B0604020202020204" pitchFamily="34" charset="0"/>
              <a:buChar char="•"/>
            </a:pPr>
            <a:r>
              <a:rPr lang="en-US" sz="2800" kern="100" dirty="0">
                <a:latin typeface="Calibri" panose="020F0502020204030204" pitchFamily="34" charset="0"/>
                <a:ea typeface="Calibri" panose="020F0502020204030204" pitchFamily="34" charset="0"/>
                <a:cs typeface="Times New Roman" panose="02020603050405020304" pitchFamily="18" charset="0"/>
              </a:rPr>
              <a:t>Adding Gated Ring structures and Residual Readouts </a:t>
            </a:r>
          </a:p>
          <a:p>
            <a:pPr marL="742950" lvl="1" indent="-285750">
              <a:buFont typeface="Arial" panose="020B0604020202020204" pitchFamily="34" charset="0"/>
              <a:buChar char="•"/>
            </a:pPr>
            <a:r>
              <a:rPr lang="en-US" sz="2800" dirty="0"/>
              <a:t>Gated ring units: A learned gate controls how much of the previous ring state is carried forward and handles long-term dependencies</a:t>
            </a:r>
          </a:p>
          <a:p>
            <a:pPr marL="742950" lvl="1" indent="-285750">
              <a:buFont typeface="Arial" panose="020B0604020202020204" pitchFamily="34" charset="0"/>
              <a:buChar char="•"/>
            </a:pPr>
            <a:r>
              <a:rPr lang="en-US" sz="2800" dirty="0"/>
              <a:t>Residual readout: predicts a </a:t>
            </a:r>
            <a:r>
              <a:rPr lang="en-US" sz="2800" b="1" dirty="0"/>
              <a:t>residual</a:t>
            </a:r>
            <a:r>
              <a:rPr lang="en-US" sz="2800" dirty="0"/>
              <a:t> over a simple baseline, </a:t>
            </a:r>
            <a:r>
              <a:rPr lang="en-US" sz="2800" dirty="0" err="1"/>
              <a:t>RingSNN</a:t>
            </a:r>
            <a:r>
              <a:rPr lang="en-US" sz="2800" dirty="0"/>
              <a:t> then focuses on modeling deviations, which are often easier to learn</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800" dirty="0"/>
              <a:t>Combine </a:t>
            </a:r>
            <a:r>
              <a:rPr lang="en-US" sz="2800" dirty="0" err="1"/>
              <a:t>RingSNN</a:t>
            </a:r>
            <a:r>
              <a:rPr lang="en-US" sz="2800" dirty="0"/>
              <a:t> + ANN</a:t>
            </a:r>
          </a:p>
          <a:p>
            <a:pPr marL="742950" lvl="1" indent="-285750">
              <a:buFont typeface="Arial" panose="020B0604020202020204" pitchFamily="34" charset="0"/>
              <a:buChar char="•"/>
            </a:pPr>
            <a:r>
              <a:rPr lang="en-US" sz="2800" dirty="0"/>
              <a:t>Let </a:t>
            </a:r>
            <a:r>
              <a:rPr lang="en-US" sz="2800" dirty="0" err="1"/>
              <a:t>RingSNN</a:t>
            </a:r>
            <a:r>
              <a:rPr lang="en-US" sz="2800" dirty="0"/>
              <a:t> produce a compact representation, then use an ANN as the final regressor on GPU/CPU</a:t>
            </a:r>
          </a:p>
          <a:p>
            <a:pPr marL="742950" lvl="1" indent="-285750">
              <a:buFont typeface="Arial" panose="020B0604020202020204" pitchFamily="34" charset="0"/>
              <a:buChar char="•"/>
            </a:pPr>
            <a:r>
              <a:rPr lang="en-US" sz="2800" dirty="0"/>
              <a:t>May benchmark the neuromorphic core vs full ANN</a:t>
            </a:r>
          </a:p>
          <a:p>
            <a:pPr marL="742950" lvl="1" indent="-285750">
              <a:buFont typeface="Arial" panose="020B0604020202020204" pitchFamily="34" charset="0"/>
              <a:buChar char="•"/>
            </a:pPr>
            <a:r>
              <a:rPr lang="en-US" sz="2800" dirty="0"/>
              <a:t>Hybrid implementation improves accuracy with modest extra cost</a:t>
            </a:r>
          </a:p>
        </p:txBody>
      </p:sp>
    </p:spTree>
    <p:extLst>
      <p:ext uri="{BB962C8B-B14F-4D97-AF65-F5344CB8AC3E}">
        <p14:creationId xmlns:p14="http://schemas.microsoft.com/office/powerpoint/2010/main" val="39975282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437" y="172620"/>
            <a:ext cx="3108158" cy="935039"/>
          </a:xfrm>
        </p:spPr>
        <p:txBody>
          <a:bodyPr/>
          <a:lstStyle/>
          <a:p>
            <a:r>
              <a:rPr lang="en-US" dirty="0"/>
              <a:t>References	</a:t>
            </a:r>
          </a:p>
        </p:txBody>
      </p:sp>
      <p:sp>
        <p:nvSpPr>
          <p:cNvPr id="3" name="Content Placeholder 2"/>
          <p:cNvSpPr>
            <a:spLocks noGrp="1"/>
          </p:cNvSpPr>
          <p:nvPr>
            <p:ph idx="1"/>
          </p:nvPr>
        </p:nvSpPr>
        <p:spPr>
          <a:xfrm>
            <a:off x="547437" y="1107659"/>
            <a:ext cx="11097126" cy="5557836"/>
          </a:xfrm>
        </p:spPr>
        <p:txBody>
          <a:bodyPr>
            <a:noAutofit/>
          </a:bodyPr>
          <a:lstStyle/>
          <a:p>
            <a:pPr marL="0" indent="0">
              <a:buNone/>
            </a:pPr>
            <a:r>
              <a:rPr lang="en-US" sz="1600" dirty="0"/>
              <a:t>[1] </a:t>
            </a:r>
            <a:r>
              <a:rPr lang="en-US" sz="1600" dirty="0" err="1"/>
              <a:t>Changze</a:t>
            </a:r>
            <a:r>
              <a:rPr lang="en-US" sz="1600" dirty="0"/>
              <a:t> </a:t>
            </a:r>
            <a:r>
              <a:rPr lang="en-US" sz="1600" dirty="0" err="1"/>
              <a:t>Lv</a:t>
            </a:r>
            <a:r>
              <a:rPr lang="en-US" sz="1600" dirty="0"/>
              <a:t>, Yansen Wang, </a:t>
            </a:r>
            <a:r>
              <a:rPr lang="en-US" sz="1600" dirty="0" err="1"/>
              <a:t>Dongqi</a:t>
            </a:r>
            <a:r>
              <a:rPr lang="en-US" sz="1600" dirty="0"/>
              <a:t> Han, Xiaoqing Zheng, </a:t>
            </a:r>
            <a:r>
              <a:rPr lang="en-US" sz="1600" dirty="0" err="1"/>
              <a:t>Xuanjing</a:t>
            </a:r>
            <a:r>
              <a:rPr lang="en-US" sz="1600" dirty="0"/>
              <a:t> Huang, and Dongsheng Li, “Efficient and effective time-series forecasting with spiking neural networks,” 2024, </a:t>
            </a:r>
            <a:r>
              <a:rPr lang="en-US" sz="1600" dirty="0" err="1"/>
              <a:t>doi</a:t>
            </a:r>
            <a:r>
              <a:rPr lang="en-US" sz="1600" dirty="0"/>
              <a:t>: 10.48550/arXiv.2402.01533.</a:t>
            </a:r>
          </a:p>
          <a:p>
            <a:pPr marL="0" indent="0">
              <a:buNone/>
            </a:pPr>
            <a:r>
              <a:rPr lang="en-US" sz="1600" dirty="0"/>
              <a:t>[2] M. Davies, N. Srinivasa, T.-H. Lin, G. Chinya, Y. Cao, S. H. Choday, G. Dimou, P. Joshi, N. Imam, S. Jain, Y. Liao, C.-K. Lin, A. Lines, R. Liu, D. </a:t>
            </a:r>
            <a:r>
              <a:rPr lang="en-US" sz="1600" dirty="0" err="1"/>
              <a:t>Mathaikutty</a:t>
            </a:r>
            <a:r>
              <a:rPr lang="en-US" sz="1600" dirty="0"/>
              <a:t>, S. McCoy, A. Paul, J. Tse, G. Venkataramanan, Y.-H. Wang, and H. Wang, “</a:t>
            </a:r>
            <a:r>
              <a:rPr lang="en-US" sz="1600" dirty="0" err="1"/>
              <a:t>Loihi</a:t>
            </a:r>
            <a:r>
              <a:rPr lang="en-US" sz="1600" dirty="0"/>
              <a:t>: A neuromorphic manycore processor with on-chip learning,” IEEE Micro, vol. 38, no. 1, pp. 82–99, Jan. 2018, </a:t>
            </a:r>
            <a:r>
              <a:rPr lang="en-US" sz="1600" dirty="0" err="1"/>
              <a:t>doi</a:t>
            </a:r>
            <a:r>
              <a:rPr lang="en-US" sz="1600" dirty="0"/>
              <a:t>: 10.1109/MM.2018.112130359.</a:t>
            </a:r>
          </a:p>
          <a:p>
            <a:pPr marL="0" indent="0">
              <a:buNone/>
            </a:pPr>
            <a:r>
              <a:rPr lang="en-US" sz="1600" dirty="0"/>
              <a:t>[3] R. Matsuo, A. </a:t>
            </a:r>
            <a:r>
              <a:rPr lang="en-US" sz="1600" dirty="0" err="1"/>
              <a:t>Elgaradiny</a:t>
            </a:r>
            <a:r>
              <a:rPr lang="en-US" sz="1600" dirty="0"/>
              <a:t>, and F. Corradi, “Unsupervised classification of spike patterns with the </a:t>
            </a:r>
            <a:r>
              <a:rPr lang="en-US" sz="1600" dirty="0" err="1"/>
              <a:t>Loihi</a:t>
            </a:r>
            <a:r>
              <a:rPr lang="en-US" sz="1600" dirty="0"/>
              <a:t> neuromorphic processor,” Electronics, vol. 13, no. 16, p. 3203, Aug. 2024, </a:t>
            </a:r>
            <a:r>
              <a:rPr lang="en-US" sz="1600" dirty="0" err="1"/>
              <a:t>doi</a:t>
            </a:r>
            <a:r>
              <a:rPr lang="en-US" sz="1600" dirty="0"/>
              <a:t>: 10.3390/electronics13163203.</a:t>
            </a:r>
          </a:p>
          <a:p>
            <a:pPr marL="0" indent="0">
              <a:buNone/>
            </a:pPr>
            <a:r>
              <a:rPr lang="en-US" sz="1600" dirty="0"/>
              <a:t>[4] A. Bhattacharjee, R. Yin, A. Moitra, and P. Panda, “Are SNNs truly energy-efficient? — A hardware perspective,” in Proc. IEEE Int. Conf. Acoustics, Speech and Signal Processing (ICASSP), pp. 13311–13315, Apr. 2024, </a:t>
            </a:r>
            <a:r>
              <a:rPr lang="en-US" sz="1600" dirty="0" err="1"/>
              <a:t>doi</a:t>
            </a:r>
            <a:r>
              <a:rPr lang="en-US" sz="1600" dirty="0"/>
              <a:t>: 10.1109/ICASSP48485.2024.10448269.</a:t>
            </a:r>
          </a:p>
          <a:p>
            <a:pPr marL="0" indent="0">
              <a:buNone/>
            </a:pPr>
            <a:r>
              <a:rPr lang="en-US" sz="1600" dirty="0"/>
              <a:t>[5] M. </a:t>
            </a:r>
            <a:r>
              <a:rPr lang="en-US" sz="1600" dirty="0" err="1"/>
              <a:t>Dampfhoffer</a:t>
            </a:r>
            <a:r>
              <a:rPr lang="en-US" sz="1600" dirty="0"/>
              <a:t>, T. Mesquida, A. </a:t>
            </a:r>
            <a:r>
              <a:rPr lang="en-US" sz="1600" dirty="0" err="1"/>
              <a:t>Valentian</a:t>
            </a:r>
            <a:r>
              <a:rPr lang="en-US" sz="1600" dirty="0"/>
              <a:t>, and L. Anghel, “Are SNNs really more energy-efficient than ANNs? An in-depth hardware-aware study,” IEEE Trans. Emerg. Top. </a:t>
            </a:r>
            <a:r>
              <a:rPr lang="en-US" sz="1600" dirty="0" err="1"/>
              <a:t>Comput</a:t>
            </a:r>
            <a:r>
              <a:rPr lang="en-US" sz="1600" dirty="0"/>
              <a:t>. </a:t>
            </a:r>
            <a:r>
              <a:rPr lang="en-US" sz="1600" dirty="0" err="1"/>
              <a:t>Intell</a:t>
            </a:r>
            <a:r>
              <a:rPr lang="en-US" sz="1600" dirty="0"/>
              <a:t>., vol. 7, no. 3, pp. 731–741, Jun. 2023, </a:t>
            </a:r>
            <a:r>
              <a:rPr lang="en-US" sz="1600" dirty="0" err="1"/>
              <a:t>doi</a:t>
            </a:r>
            <a:r>
              <a:rPr lang="en-US" sz="1600" dirty="0"/>
              <a:t>: 10.1109/TETCI.2022.3214509.</a:t>
            </a:r>
          </a:p>
          <a:p>
            <a:pPr marL="0" indent="0">
              <a:buNone/>
            </a:pPr>
            <a:r>
              <a:rPr lang="en-US" sz="1600" dirty="0"/>
              <a:t>[6] Á. Nagy, R. Szabó, and L. Toka, “Analyzing energy consumption of </a:t>
            </a:r>
            <a:r>
              <a:rPr lang="en-US" sz="1600" dirty="0" err="1"/>
              <a:t>Loihi</a:t>
            </a:r>
            <a:r>
              <a:rPr lang="en-US" sz="1600" dirty="0"/>
              <a:t> 2 neuromorphic chip in a self-driving use-case,” in Proc. </a:t>
            </a:r>
            <a:r>
              <a:rPr lang="en-US" sz="1600" dirty="0" err="1"/>
              <a:t>SpliTech</a:t>
            </a:r>
            <a:r>
              <a:rPr lang="en-US" sz="1600" dirty="0"/>
              <a:t>, Split/Bol, Croatia, 2025, pp. 1–6, </a:t>
            </a:r>
            <a:r>
              <a:rPr lang="en-US" sz="1600" dirty="0" err="1"/>
              <a:t>doi</a:t>
            </a:r>
            <a:r>
              <a:rPr lang="en-US" sz="1600" dirty="0"/>
              <a:t>: 10.23919/SpliTech65624.2025.11091800.</a:t>
            </a:r>
          </a:p>
          <a:p>
            <a:pPr marL="0" indent="0">
              <a:buNone/>
            </a:pPr>
            <a:r>
              <a:rPr lang="en-US" sz="1600" dirty="0"/>
              <a:t>[7] D. Sharma, A. Ankit, and K. Roy, “Identifying efficient dataflows for spiking neural networks,” pp. 1–6, Jul. 2022, </a:t>
            </a:r>
            <a:r>
              <a:rPr lang="en-US" sz="1600" dirty="0" err="1"/>
              <a:t>doi</a:t>
            </a:r>
            <a:r>
              <a:rPr lang="en-US" sz="1600" dirty="0"/>
              <a:t>: 10.1145/3531437.3539704.</a:t>
            </a:r>
          </a:p>
          <a:p>
            <a:pPr marL="0" indent="0">
              <a:buNone/>
            </a:pPr>
            <a:r>
              <a:rPr lang="en-US" sz="1600" dirty="0"/>
              <a:t>[8] Z. Yan, Z. Bai, and W.-F. Wong, “Reconsidering the energy efficiency of spiking neural networks,” </a:t>
            </a:r>
            <a:r>
              <a:rPr lang="en-US" sz="1600" dirty="0" err="1"/>
              <a:t>arXiv</a:t>
            </a:r>
            <a:r>
              <a:rPr lang="en-US" sz="1600" dirty="0"/>
              <a:t>, Aug. 2024, </a:t>
            </a:r>
            <a:r>
              <a:rPr lang="en-US" sz="1600" dirty="0" err="1"/>
              <a:t>doi</a:t>
            </a:r>
            <a:r>
              <a:rPr lang="en-US" sz="1600" dirty="0"/>
              <a:t>: 10.48550/arXiv.2409.08290.</a:t>
            </a:r>
          </a:p>
          <a:p>
            <a:pPr marL="0" indent="0">
              <a:buNone/>
            </a:pPr>
            <a:r>
              <a:rPr lang="en-US" sz="1600" dirty="0"/>
              <a:t>[9] P. Dayan and L. F. Abbott, Theoretical Neuroscience: Computational and Mathematical Modeling of Neural Systems. Cambridge, MA: MIT Press, 2001.</a:t>
            </a:r>
          </a:p>
          <a:p>
            <a:pPr marL="0" indent="0">
              <a:buNone/>
            </a:pPr>
            <a:endParaRPr lang="en-US" sz="1600" dirty="0"/>
          </a:p>
          <a:p>
            <a:pPr marL="0" marR="457200" indent="0">
              <a:buNone/>
            </a:pPr>
            <a:endParaRPr lang="en-US" sz="16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2375914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6D2F6-DBCF-5C3A-A117-B539296A9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15B2C-D2AF-9BDB-2AC1-5A28BB469B94}"/>
              </a:ext>
            </a:extLst>
          </p:cNvPr>
          <p:cNvSpPr>
            <a:spLocks noGrp="1"/>
          </p:cNvSpPr>
          <p:nvPr>
            <p:ph type="title"/>
          </p:nvPr>
        </p:nvSpPr>
        <p:spPr>
          <a:xfrm>
            <a:off x="457200" y="285750"/>
            <a:ext cx="2676525" cy="733425"/>
          </a:xfrm>
        </p:spPr>
        <p:txBody>
          <a:bodyPr/>
          <a:lstStyle/>
          <a:p>
            <a:r>
              <a:rPr lang="en-US" dirty="0"/>
              <a:t>References</a:t>
            </a:r>
          </a:p>
        </p:txBody>
      </p:sp>
      <p:sp>
        <p:nvSpPr>
          <p:cNvPr id="3" name="Content Placeholder 2">
            <a:extLst>
              <a:ext uri="{FF2B5EF4-FFF2-40B4-BE49-F238E27FC236}">
                <a16:creationId xmlns:a16="http://schemas.microsoft.com/office/drawing/2014/main" id="{FCDDDA27-AF96-2F2A-8F68-B7092F939E45}"/>
              </a:ext>
            </a:extLst>
          </p:cNvPr>
          <p:cNvSpPr>
            <a:spLocks noGrp="1"/>
          </p:cNvSpPr>
          <p:nvPr>
            <p:ph idx="1"/>
          </p:nvPr>
        </p:nvSpPr>
        <p:spPr>
          <a:xfrm>
            <a:off x="457200" y="1095372"/>
            <a:ext cx="10515600" cy="5372100"/>
          </a:xfrm>
        </p:spPr>
        <p:txBody>
          <a:bodyPr>
            <a:normAutofit fontScale="92500" lnSpcReduction="10000"/>
          </a:bodyPr>
          <a:lstStyle/>
          <a:p>
            <a:pPr marL="0" indent="0">
              <a:buNone/>
            </a:pPr>
            <a:r>
              <a:rPr lang="en-US" sz="1600" dirty="0"/>
              <a:t>[10] P. Gong, Y. Ma, C. Li, X. Ma, and S. H. Noh, “Understand data preprocessing for effective end-to-end training of deep neural networks,” </a:t>
            </a:r>
            <a:r>
              <a:rPr lang="en-US" sz="1600" dirty="0" err="1"/>
              <a:t>arXiv</a:t>
            </a:r>
            <a:r>
              <a:rPr lang="en-US" sz="1600" dirty="0"/>
              <a:t>, Apr. 18, 2023. [Online]. Available: </a:t>
            </a:r>
            <a:r>
              <a:rPr lang="en-US" sz="1600" u="sng" dirty="0">
                <a:hlinkClick r:id="rId2"/>
              </a:rPr>
              <a:t>https://arxiv.org/abs/2304.08925</a:t>
            </a:r>
            <a:endParaRPr lang="en-US" sz="1600" dirty="0"/>
          </a:p>
          <a:p>
            <a:pPr marL="0" indent="0">
              <a:buNone/>
            </a:pPr>
            <a:r>
              <a:rPr lang="en-US" sz="1600" dirty="0"/>
              <a:t>[11] D. E. Knuth, The Art of Computer Programming. Addison-Wesley, 1997.</a:t>
            </a:r>
          </a:p>
          <a:p>
            <a:pPr marL="0" indent="0">
              <a:buNone/>
            </a:pPr>
            <a:r>
              <a:rPr lang="en-US" sz="1600" dirty="0"/>
              <a:t>[12] “</a:t>
            </a:r>
            <a:r>
              <a:rPr lang="en-US" sz="1600" dirty="0" err="1"/>
              <a:t>eBPF</a:t>
            </a:r>
            <a:r>
              <a:rPr lang="en-US" sz="1600" dirty="0"/>
              <a:t> tutorial by example 8: Monitoring process exit events, output with ring buffer,” </a:t>
            </a:r>
            <a:r>
              <a:rPr lang="en-US" sz="1600" dirty="0" err="1"/>
              <a:t>Eunomia.dev</a:t>
            </a:r>
            <a:r>
              <a:rPr lang="en-US" sz="1600" dirty="0"/>
              <a:t>, 2018. [Online]. Available: https://eunomia.dev/tutorials/8-exitsnoop/</a:t>
            </a:r>
          </a:p>
          <a:p>
            <a:pPr marL="0" indent="0">
              <a:buNone/>
            </a:pPr>
            <a:r>
              <a:rPr lang="en-US" sz="1600" dirty="0"/>
              <a:t>[13] “Embedded systems, </a:t>
            </a:r>
            <a:r>
              <a:rPr lang="en-US" sz="1600" dirty="0" err="1"/>
              <a:t>inPyjama</a:t>
            </a:r>
            <a:r>
              <a:rPr lang="en-US" sz="1600" dirty="0"/>
              <a:t>! Dealing with real-time data using ring buffers,” InPyjama.com, Aug. 24, 2023. [Online]. Available: </a:t>
            </a:r>
            <a:r>
              <a:rPr lang="en-US" sz="1600" dirty="0">
                <a:hlinkClick r:id="rId3"/>
              </a:rPr>
              <a:t>https://inpyjama.com/post/ring-buffer/</a:t>
            </a:r>
            <a:endParaRPr lang="en-US" sz="1600" dirty="0"/>
          </a:p>
          <a:p>
            <a:pPr marL="0" indent="0">
              <a:buNone/>
            </a:pPr>
            <a:r>
              <a:rPr lang="en-US" sz="1600" dirty="0"/>
              <a:t>[14] Y. Zhang and S. Whiteson, “Efficient diversity-based experience replay for deep reinforcement learning,” </a:t>
            </a:r>
            <a:r>
              <a:rPr lang="en-US" sz="1600" i="1" dirty="0" err="1"/>
              <a:t>arXiv</a:t>
            </a:r>
            <a:r>
              <a:rPr lang="en-US" sz="1600" i="1" dirty="0"/>
              <a:t> preprint arXiv:2410.20487</a:t>
            </a:r>
            <a:r>
              <a:rPr lang="en-US" sz="1600" dirty="0"/>
              <a:t>, 2024.</a:t>
            </a:r>
          </a:p>
          <a:p>
            <a:pPr marL="0" indent="0">
              <a:buNone/>
            </a:pPr>
            <a:r>
              <a:rPr lang="en-US" sz="1600" dirty="0"/>
              <a:t>[15] “National Renewable Energy Laboratory datasets,” Texas A&amp;M University, 2017. [Online]. Available: https://electricgrids.engr.tamu.edu/national-renewable-energy-laboratory-datasets/</a:t>
            </a:r>
          </a:p>
          <a:p>
            <a:pPr marL="0" indent="0">
              <a:buNone/>
            </a:pPr>
            <a:r>
              <a:rPr lang="en-US" sz="1600" dirty="0"/>
              <a:t>[16] “Hourly energy consumption,” Kaggle, accessed May 6, 2025. [Online]. Available: https://www.kaggle.com/datasets/robikscube/hourly-energy-consumption</a:t>
            </a:r>
          </a:p>
          <a:p>
            <a:pPr marL="0" indent="0">
              <a:buNone/>
            </a:pPr>
            <a:r>
              <a:rPr lang="en-US" sz="1600" dirty="0"/>
              <a:t>[17] “Monthly mean total sunspot number,” SIDC, accessed May 6, 2025. [Online]. Available: https://www.sidc.be/SILSO/infosnmtot</a:t>
            </a:r>
          </a:p>
          <a:p>
            <a:pPr marL="0" indent="0">
              <a:buNone/>
            </a:pPr>
            <a:r>
              <a:rPr lang="en-US" sz="1600" dirty="0"/>
              <a:t>[18] D. Auge, J. Hille, E. Mueller, and A. Knoll, “A survey of encoding techniques for signal processing in spiking neural networks,” Neural Process. Lett., vol. 53, no. 6, pp. 4693–4710, Jul. 2021, </a:t>
            </a:r>
            <a:r>
              <a:rPr lang="en-US" sz="1600" dirty="0" err="1"/>
              <a:t>doi</a:t>
            </a:r>
            <a:r>
              <a:rPr lang="en-US" sz="1600" dirty="0"/>
              <a:t>: 10.1007/s11063-021-10562-2.</a:t>
            </a:r>
          </a:p>
          <a:p>
            <a:pPr marL="0" indent="0">
              <a:buNone/>
            </a:pPr>
            <a:r>
              <a:rPr lang="en-US" sz="1600" dirty="0"/>
              <a:t>[19] A. Fois and B. Girau, “Enhanced representation learning with temporal coding in sparsely spiking neural networks,” Front. </a:t>
            </a:r>
            <a:r>
              <a:rPr lang="en-US" sz="1600" dirty="0" err="1"/>
              <a:t>Comput</a:t>
            </a:r>
            <a:r>
              <a:rPr lang="en-US" sz="1600" dirty="0"/>
              <a:t>. </a:t>
            </a:r>
            <a:r>
              <a:rPr lang="en-US" sz="1600" dirty="0" err="1"/>
              <a:t>Neurosci</a:t>
            </a:r>
            <a:r>
              <a:rPr lang="en-US" sz="1600" dirty="0"/>
              <a:t>., vol. 17, Nov. 2023, </a:t>
            </a:r>
            <a:r>
              <a:rPr lang="en-US" sz="1600" dirty="0" err="1"/>
              <a:t>doi</a:t>
            </a:r>
            <a:r>
              <a:rPr lang="en-US" sz="1600" dirty="0"/>
              <a:t>: 10.3389/fncom.2023.1250908.</a:t>
            </a:r>
          </a:p>
          <a:p>
            <a:pPr marL="0" indent="0">
              <a:buNone/>
            </a:pPr>
            <a:r>
              <a:rPr lang="en-US" sz="1600" dirty="0"/>
              <a:t>[20] S. P. Sone, J. J. Lehtomäki, and Z. Khan, “Wireless traffic usage forecasting using real enterprise network data: Analysis and methods,” IEEE Open J. Commun. Soc., vol. 1, pp. 777–797, 2020, </a:t>
            </a:r>
            <a:r>
              <a:rPr lang="en-US" sz="1600" dirty="0" err="1"/>
              <a:t>doi</a:t>
            </a:r>
            <a:r>
              <a:rPr lang="en-US" sz="1600" dirty="0"/>
              <a:t>: 10.1109/OJCOMS.2020.3000059.</a:t>
            </a:r>
          </a:p>
        </p:txBody>
      </p:sp>
    </p:spTree>
    <p:extLst>
      <p:ext uri="{BB962C8B-B14F-4D97-AF65-F5344CB8AC3E}">
        <p14:creationId xmlns:p14="http://schemas.microsoft.com/office/powerpoint/2010/main" val="320687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F21D9-D894-62AC-FBF4-CFD347149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85348-526B-1503-3F42-553A9DE4F1B9}"/>
              </a:ext>
            </a:extLst>
          </p:cNvPr>
          <p:cNvSpPr>
            <a:spLocks noGrp="1"/>
          </p:cNvSpPr>
          <p:nvPr>
            <p:ph type="title"/>
          </p:nvPr>
        </p:nvSpPr>
        <p:spPr>
          <a:xfrm>
            <a:off x="400050" y="307975"/>
            <a:ext cx="2952750" cy="701675"/>
          </a:xfrm>
        </p:spPr>
        <p:txBody>
          <a:bodyPr/>
          <a:lstStyle/>
          <a:p>
            <a:r>
              <a:rPr lang="en-US" dirty="0"/>
              <a:t>References	</a:t>
            </a:r>
          </a:p>
        </p:txBody>
      </p:sp>
      <p:sp>
        <p:nvSpPr>
          <p:cNvPr id="3" name="Content Placeholder 2">
            <a:extLst>
              <a:ext uri="{FF2B5EF4-FFF2-40B4-BE49-F238E27FC236}">
                <a16:creationId xmlns:a16="http://schemas.microsoft.com/office/drawing/2014/main" id="{114CB356-EEDD-A143-9025-C2A19A569EB6}"/>
              </a:ext>
            </a:extLst>
          </p:cNvPr>
          <p:cNvSpPr>
            <a:spLocks noGrp="1"/>
          </p:cNvSpPr>
          <p:nvPr>
            <p:ph idx="1"/>
          </p:nvPr>
        </p:nvSpPr>
        <p:spPr>
          <a:xfrm>
            <a:off x="400050" y="1009650"/>
            <a:ext cx="11134725" cy="5540375"/>
          </a:xfrm>
        </p:spPr>
        <p:txBody>
          <a:bodyPr>
            <a:normAutofit/>
          </a:bodyPr>
          <a:lstStyle/>
          <a:p>
            <a:pPr marL="0" marR="457200" indent="0">
              <a:buNone/>
            </a:pPr>
            <a:r>
              <a:rPr lang="en-US" sz="1600" dirty="0"/>
              <a:t>[21] R. Nau, “Identifying the order of differencing in an ARIMA model,” Duke University. [Online]. Available: https://people.duke.edu/~rnau/411arim3.htm</a:t>
            </a:r>
          </a:p>
          <a:p>
            <a:pPr marL="0" marR="457200" indent="0">
              <a:buNone/>
            </a:pPr>
            <a:r>
              <a:rPr lang="en-US" sz="1600" dirty="0"/>
              <a:t>[22] B. Wohlwend, “Regression model evaluation metrics,” Medium, 2023. [Online]. Available: https://medium.com/@brandon93.w/regression-model-evaluation-metrics-r-squared-adjusted-r-squared-mse-rmse-and-mae-24dcc0e4cbd3</a:t>
            </a:r>
          </a:p>
          <a:p>
            <a:pPr marL="0" marR="457200" indent="0">
              <a:buNone/>
            </a:pPr>
            <a:r>
              <a:rPr lang="en-US" sz="1600" dirty="0"/>
              <a:t>[23] R. J. Hyndman and G. Athanasopoulos, Forecasting: Principles and Practice, 2nd ed. Monash University, Australia. [Online]. Available: https://otexts.com/fpp</a:t>
            </a:r>
          </a:p>
          <a:p>
            <a:pPr marL="0" marR="457200" indent="0">
              <a:buNone/>
            </a:pPr>
            <a:r>
              <a:rPr lang="en-US" sz="1600" dirty="0"/>
              <a:t>[24] S. Liu and Y. Yi, “Unleashing energy-efficiency: Neural architecture search without training for spiking neural networks on </a:t>
            </a:r>
            <a:r>
              <a:rPr lang="en-US" sz="1600" dirty="0" err="1"/>
              <a:t>Loihi</a:t>
            </a:r>
            <a:r>
              <a:rPr lang="en-US" sz="1600" dirty="0"/>
              <a:t> chip,” in Proc. ISQED, San Francisco, CA, USA, 2024, pp. 1–7, </a:t>
            </a:r>
            <a:r>
              <a:rPr lang="en-US" sz="1600" dirty="0" err="1"/>
              <a:t>doi</a:t>
            </a:r>
            <a:r>
              <a:rPr lang="en-US" sz="1600" dirty="0"/>
              <a:t>: 10.1109/ISQED60706.2024.10528706.</a:t>
            </a:r>
          </a:p>
          <a:p>
            <a:pPr marL="0" marR="457200" indent="0">
              <a:buNone/>
            </a:pPr>
            <a:r>
              <a:rPr lang="en-US" sz="1600" dirty="0"/>
              <a:t>[25] E. Lemaire, L. Cordone, A. Castagnetti, P.-E. Novac, J. Courtois, and B. </a:t>
            </a:r>
            <a:r>
              <a:rPr lang="en-US" sz="1600" dirty="0" err="1"/>
              <a:t>Miramond</a:t>
            </a:r>
            <a:r>
              <a:rPr lang="en-US" sz="1600" dirty="0"/>
              <a:t>, “An analytical estimation of spiking neural networks energy efficiency,” </a:t>
            </a:r>
            <a:r>
              <a:rPr lang="en-US" sz="1600" dirty="0" err="1"/>
              <a:t>arXiv</a:t>
            </a:r>
            <a:r>
              <a:rPr lang="en-US" sz="1600" dirty="0"/>
              <a:t>, Oct. 2022, </a:t>
            </a:r>
            <a:r>
              <a:rPr lang="en-US" sz="1600" dirty="0" err="1"/>
              <a:t>doi</a:t>
            </a:r>
            <a:r>
              <a:rPr lang="en-US" sz="1600" dirty="0"/>
              <a:t>: 10.48550/arXiv.2210.13107.</a:t>
            </a:r>
          </a:p>
          <a:p>
            <a:pPr marL="0" marR="457200" indent="0">
              <a:buNone/>
            </a:pPr>
            <a:r>
              <a:rPr lang="en-US" sz="1600" dirty="0"/>
              <a:t>[26] M. </a:t>
            </a:r>
            <a:r>
              <a:rPr lang="en-US" sz="1600" dirty="0" err="1"/>
              <a:t>Sorbaro</a:t>
            </a:r>
            <a:r>
              <a:rPr lang="en-US" sz="1600" dirty="0"/>
              <a:t>, Q. Liu, M. Bortone, and S. Sheik, “Optimizing the energy consumption of spiking neural networks for neuromorphic applications,” Front. </a:t>
            </a:r>
            <a:r>
              <a:rPr lang="en-US" sz="1600" dirty="0" err="1"/>
              <a:t>Neurosci</a:t>
            </a:r>
            <a:r>
              <a:rPr lang="en-US" sz="1600" dirty="0"/>
              <a:t>., vol. 14, Jun. 2020, </a:t>
            </a:r>
            <a:r>
              <a:rPr lang="en-US" sz="1600" dirty="0" err="1"/>
              <a:t>doi</a:t>
            </a:r>
            <a:r>
              <a:rPr lang="en-US" sz="1600" dirty="0"/>
              <a:t>: 10.3389/fnins.2020.00662.</a:t>
            </a:r>
          </a:p>
          <a:p>
            <a:pPr marL="0" marR="457200" indent="0">
              <a:buNone/>
            </a:pPr>
            <a:r>
              <a:rPr lang="en-US" sz="1600" dirty="0"/>
              <a:t>[27] D. O. Hebb, The Organization of Behavior: A Neuropsychological Theory. New York: Wiley, 1949.</a:t>
            </a:r>
          </a:p>
          <a:p>
            <a:pPr marL="0" marR="457200" indent="0">
              <a:buNone/>
            </a:pPr>
            <a:r>
              <a:rPr lang="en-US" sz="1600" dirty="0"/>
              <a:t>[28] R. Kempter, W. Gerstner, and J. L. van Hemmen, “Hebbian learning and spiking neurons,” Phys. Rev. E, vol. 59, no. 4, pp. 4498–4514, Apr. 1999, </a:t>
            </a:r>
            <a:r>
              <a:rPr lang="en-US" sz="1600" dirty="0" err="1"/>
              <a:t>doi</a:t>
            </a:r>
            <a:r>
              <a:rPr lang="en-US" sz="1600" dirty="0"/>
              <a:t>: 10.1103/PhysRevE.59.4498.</a:t>
            </a:r>
          </a:p>
          <a:p>
            <a:pPr marL="0" marR="457200" indent="0">
              <a:buNone/>
            </a:pPr>
            <a:r>
              <a:rPr lang="en-US" sz="1600" dirty="0"/>
              <a:t>[29] G. Q. Bi and M. M. Poo, “Synaptic modifications in cultured hippocampal neurons: Dependence on spike timing, synaptic strength, and postsynaptic cell type,” J. </a:t>
            </a:r>
            <a:r>
              <a:rPr lang="en-US" sz="1600" dirty="0" err="1"/>
              <a:t>Neurosci</a:t>
            </a:r>
            <a:r>
              <a:rPr lang="en-US" sz="1600" dirty="0"/>
              <a:t>., vol. 18, no. 24, pp. 10464–10472, 1998.</a:t>
            </a:r>
          </a:p>
        </p:txBody>
      </p:sp>
    </p:spTree>
    <p:extLst>
      <p:ext uri="{BB962C8B-B14F-4D97-AF65-F5344CB8AC3E}">
        <p14:creationId xmlns:p14="http://schemas.microsoft.com/office/powerpoint/2010/main" val="20948649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5293E-1A41-F3C2-0354-87FB777C8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D05A3-6590-DD18-112D-9BBDCB7C2B83}"/>
              </a:ext>
            </a:extLst>
          </p:cNvPr>
          <p:cNvSpPr>
            <a:spLocks noGrp="1"/>
          </p:cNvSpPr>
          <p:nvPr>
            <p:ph type="title"/>
          </p:nvPr>
        </p:nvSpPr>
        <p:spPr>
          <a:xfrm>
            <a:off x="438150" y="185737"/>
            <a:ext cx="2952750" cy="749300"/>
          </a:xfrm>
        </p:spPr>
        <p:txBody>
          <a:bodyPr/>
          <a:lstStyle/>
          <a:p>
            <a:r>
              <a:rPr lang="en-US" dirty="0"/>
              <a:t>References	</a:t>
            </a:r>
          </a:p>
        </p:txBody>
      </p:sp>
      <p:sp>
        <p:nvSpPr>
          <p:cNvPr id="3" name="Content Placeholder 2">
            <a:extLst>
              <a:ext uri="{FF2B5EF4-FFF2-40B4-BE49-F238E27FC236}">
                <a16:creationId xmlns:a16="http://schemas.microsoft.com/office/drawing/2014/main" id="{1F971E9F-CE97-8AED-3CFE-B167B3B346FB}"/>
              </a:ext>
            </a:extLst>
          </p:cNvPr>
          <p:cNvSpPr>
            <a:spLocks noGrp="1"/>
          </p:cNvSpPr>
          <p:nvPr>
            <p:ph idx="1"/>
          </p:nvPr>
        </p:nvSpPr>
        <p:spPr>
          <a:xfrm>
            <a:off x="552450" y="935037"/>
            <a:ext cx="10877550" cy="5372099"/>
          </a:xfrm>
        </p:spPr>
        <p:txBody>
          <a:bodyPr>
            <a:normAutofit/>
          </a:bodyPr>
          <a:lstStyle/>
          <a:p>
            <a:pPr marL="0" marR="457200" indent="0">
              <a:buNone/>
            </a:pPr>
            <a:r>
              <a:rPr lang="en-US" sz="1600" dirty="0"/>
              <a:t>[30] A. Kane, F. Marcelino, A. </a:t>
            </a:r>
            <a:r>
              <a:rPr lang="en-US" sz="1600" dirty="0" err="1"/>
              <a:t>Spirkin</a:t>
            </a:r>
            <a:r>
              <a:rPr lang="en-US" sz="1600" dirty="0"/>
              <a:t>, and Y. Chang, “A hybrid pruning-quantization framework for compact and efficient spiking neural networks,” in Proc. ICAD, Medford, MA, USA, 2025, pp. 1–6, </a:t>
            </a:r>
            <a:r>
              <a:rPr lang="en-US" sz="1600" dirty="0" err="1"/>
              <a:t>doi</a:t>
            </a:r>
            <a:r>
              <a:rPr lang="en-US" sz="1600" dirty="0"/>
              <a:t>: 10.1109/ICAD65464.2025.11114029.</a:t>
            </a:r>
          </a:p>
          <a:p>
            <a:pPr marL="0" marR="457200" indent="0">
              <a:buNone/>
            </a:pPr>
            <a:r>
              <a:rPr lang="en-US" sz="1600" dirty="0"/>
              <a:t>[31] H. Amit, “Deep reinforcement learning with experience replay,” Medium, Nov. 10, 2024. [Online]. Available: https://medium.com/@heyamit10/deep-reinforcement-learning-with-experience-replay-1222ea711897</a:t>
            </a:r>
          </a:p>
          <a:p>
            <a:pPr marL="0" marR="457200" indent="0">
              <a:buNone/>
            </a:pPr>
            <a:r>
              <a:rPr lang="en-US" sz="1600" dirty="0"/>
              <a:t>[32] U.S. Department of Commerce, NOAA, National Weather Service, “The sun and sunspots,” Weather.gov, 2019. [Online]. Available: https://www.weather.gov/fsd/sunspots</a:t>
            </a:r>
          </a:p>
          <a:p>
            <a:pPr marL="0" marR="457200" indent="0">
              <a:buNone/>
            </a:pPr>
            <a:r>
              <a:rPr lang="en-US" sz="1600" dirty="0"/>
              <a:t>[33] B. </a:t>
            </a:r>
            <a:r>
              <a:rPr lang="en-US" sz="1600" dirty="0" err="1"/>
              <a:t>Predić</a:t>
            </a:r>
            <a:r>
              <a:rPr lang="en-US" sz="1600" dirty="0"/>
              <a:t>, U. Vukić, M. Saračević, D. </a:t>
            </a:r>
            <a:r>
              <a:rPr lang="en-US" sz="1600" dirty="0" err="1"/>
              <a:t>Karabašević</a:t>
            </a:r>
            <a:r>
              <a:rPr lang="en-US" sz="1600" dirty="0"/>
              <a:t>, and D. </a:t>
            </a:r>
            <a:r>
              <a:rPr lang="en-US" sz="1600" dirty="0" err="1"/>
              <a:t>Stanujkić</a:t>
            </a:r>
            <a:r>
              <a:rPr lang="en-US" sz="1600" dirty="0"/>
              <a:t>, “The possibility of combining and implementing deep neural network compression methods,” Axioms, vol. 11, no. 5, p. 229, May 2022, </a:t>
            </a:r>
            <a:r>
              <a:rPr lang="en-US" sz="1600" dirty="0" err="1"/>
              <a:t>doi</a:t>
            </a:r>
            <a:r>
              <a:rPr lang="en-US" sz="1600" dirty="0"/>
              <a:t>: 10.3390/axioms11050229.</a:t>
            </a:r>
          </a:p>
          <a:p>
            <a:pPr marL="0" marR="457200" indent="0">
              <a:buNone/>
            </a:pPr>
            <a:r>
              <a:rPr lang="en-US" sz="1600" dirty="0"/>
              <a:t>[34] D. E. Knuth, The Art of Computer Programming. Addison-Wesley, 1997.</a:t>
            </a:r>
          </a:p>
          <a:p>
            <a:pPr marL="0" marR="457200" indent="0">
              <a:buNone/>
            </a:pPr>
            <a:r>
              <a:rPr lang="en-US" sz="1600" dirty="0"/>
              <a:t>[35] Y. </a:t>
            </a:r>
            <a:r>
              <a:rPr lang="en-US" sz="1600" dirty="0" err="1"/>
              <a:t>Lecun</a:t>
            </a:r>
            <a:r>
              <a:rPr lang="en-US" sz="1600" dirty="0"/>
              <a:t>, L. </a:t>
            </a:r>
            <a:r>
              <a:rPr lang="en-US" sz="1600" dirty="0" err="1"/>
              <a:t>Bottou</a:t>
            </a:r>
            <a:r>
              <a:rPr lang="en-US" sz="1600" dirty="0"/>
              <a:t>, Y. Bengio, and P. Haffner, “Gradient-based learning applied to document recognition,” Proc. IEEE, vol. 86, no. 11, pp. 2278–2324, Nov. 1998, </a:t>
            </a:r>
            <a:r>
              <a:rPr lang="en-US" sz="1600" dirty="0" err="1"/>
              <a:t>doi</a:t>
            </a:r>
            <a:r>
              <a:rPr lang="en-US" sz="1600" dirty="0"/>
              <a:t>: 10.1109/5.726791.</a:t>
            </a:r>
          </a:p>
          <a:p>
            <a:pPr marL="0" marR="457200" indent="0">
              <a:buNone/>
            </a:pPr>
            <a:r>
              <a:rPr lang="en-US" sz="1600" dirty="0"/>
              <a:t>[36] A. </a:t>
            </a:r>
            <a:r>
              <a:rPr lang="en-US" sz="1600" dirty="0" err="1"/>
              <a:t>Krizhevsky</a:t>
            </a:r>
            <a:r>
              <a:rPr lang="en-US" sz="1600" dirty="0"/>
              <a:t>, I. </a:t>
            </a:r>
            <a:r>
              <a:rPr lang="en-US" sz="1600" dirty="0" err="1"/>
              <a:t>Sutskever</a:t>
            </a:r>
            <a:r>
              <a:rPr lang="en-US" sz="1600" dirty="0"/>
              <a:t>, and G. E. Hinton, “ImageNet classification with deep convolutional neural networks,” in Adv. Neural Inf. Process. Syst. (NIPS), vol. 25, pp. 1097–1105, 2012.</a:t>
            </a:r>
          </a:p>
          <a:p>
            <a:pPr marL="0" marR="457200" indent="0">
              <a:buNone/>
            </a:pPr>
            <a:r>
              <a:rPr lang="en-US" sz="1600" dirty="0"/>
              <a:t>[37] N. Srivastava, G. Hinton, A. </a:t>
            </a:r>
            <a:r>
              <a:rPr lang="en-US" sz="1600" dirty="0" err="1"/>
              <a:t>Krizhevsky</a:t>
            </a:r>
            <a:r>
              <a:rPr lang="en-US" sz="1600" dirty="0"/>
              <a:t>, I. </a:t>
            </a:r>
            <a:r>
              <a:rPr lang="en-US" sz="1600" dirty="0" err="1"/>
              <a:t>Sutskever</a:t>
            </a:r>
            <a:r>
              <a:rPr lang="en-US" sz="1600" dirty="0"/>
              <a:t>, and R. </a:t>
            </a:r>
            <a:r>
              <a:rPr lang="en-US" sz="1600" dirty="0" err="1"/>
              <a:t>Salakhutdinov</a:t>
            </a:r>
            <a:r>
              <a:rPr lang="en-US" sz="1600" dirty="0"/>
              <a:t>, “Dropout: A simple way to prevent neural networks from overfitting,” J. Mach. Learn. Res., vol. 15, pp. 1929–1958, 2014. [Online]. Available: </a:t>
            </a:r>
            <a:r>
              <a:rPr lang="en-US" sz="1600" dirty="0">
                <a:hlinkClick r:id="rId3"/>
              </a:rPr>
              <a:t>https://jmlr.org/papers/v15/srivastava14a.html</a:t>
            </a:r>
            <a:endParaRPr lang="en-US" sz="1600" dirty="0"/>
          </a:p>
          <a:p>
            <a:pPr marL="0" marR="457200" indent="0">
              <a:buNone/>
            </a:pPr>
            <a:r>
              <a:rPr lang="en-US" sz="1600" dirty="0"/>
              <a:t>[38] S. Chandrasekaran, “Implementing Circular Buffer in C,” embedjournal.com, May 16, 2014. https://embedjournal.com/implementing-circular-buffer-embedded-c/</a:t>
            </a:r>
          </a:p>
        </p:txBody>
      </p:sp>
    </p:spTree>
    <p:extLst>
      <p:ext uri="{BB962C8B-B14F-4D97-AF65-F5344CB8AC3E}">
        <p14:creationId xmlns:p14="http://schemas.microsoft.com/office/powerpoint/2010/main" val="173041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82577</TotalTime>
  <Words>12162</Words>
  <Application>Microsoft Office PowerPoint</Application>
  <PresentationFormat>Widescreen</PresentationFormat>
  <Paragraphs>708</Paragraphs>
  <Slides>53</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Cambria Math</vt:lpstr>
      <vt:lpstr>Times New Roman</vt:lpstr>
      <vt:lpstr>Office Theme</vt:lpstr>
      <vt:lpstr>Energy–Accuracy Tradeoffs in Neuromorphic vs. GPU-Based Time-Series Forecasting </vt:lpstr>
      <vt:lpstr>Overview</vt:lpstr>
      <vt:lpstr>Introduction</vt:lpstr>
      <vt:lpstr>SNN Overview</vt:lpstr>
      <vt:lpstr>Loihi 2 Overview</vt:lpstr>
      <vt:lpstr>Literature Review</vt:lpstr>
      <vt:lpstr>Literature Review</vt:lpstr>
      <vt:lpstr>Problem Statement</vt:lpstr>
      <vt:lpstr>What is Ring Buffer?</vt:lpstr>
      <vt:lpstr>Why Ring Buffer?</vt:lpstr>
      <vt:lpstr>Ring Buffer Visualization</vt:lpstr>
      <vt:lpstr>Main Contributions</vt:lpstr>
      <vt:lpstr>RingSNN Approach</vt:lpstr>
      <vt:lpstr>Datasets</vt:lpstr>
      <vt:lpstr>NREL Solar generation profile (Solar Production) </vt:lpstr>
      <vt:lpstr>PJM Hourly Energy Consumption (AEP)</vt:lpstr>
      <vt:lpstr>SIDC Monthly Mean Total Sunspot Number (Sunspot)</vt:lpstr>
      <vt:lpstr>SNN and ANN architectures</vt:lpstr>
      <vt:lpstr>CNN Architecture</vt:lpstr>
      <vt:lpstr>Hybrid CNN-LSTM</vt:lpstr>
      <vt:lpstr>RingSNN Architecture</vt:lpstr>
      <vt:lpstr>RingSNN vs ANN Architectures</vt:lpstr>
      <vt:lpstr>Evaluation</vt:lpstr>
      <vt:lpstr>Mean Absolute Error (MAE) and Root Mean Squared Error (RMSE)</vt:lpstr>
      <vt:lpstr>Hebbian Learning</vt:lpstr>
      <vt:lpstr>Decoder Weights</vt:lpstr>
      <vt:lpstr>Spike Raster Plots</vt:lpstr>
      <vt:lpstr>Spike Density Per Neuron</vt:lpstr>
      <vt:lpstr>Efficiency Ratio</vt:lpstr>
      <vt:lpstr>Energy Measurement Protocol</vt:lpstr>
      <vt:lpstr>Results</vt:lpstr>
      <vt:lpstr>Efficiency Ratio, Energy, MAE, and RMSE </vt:lpstr>
      <vt:lpstr>Efficiency Ratio, Energy, MAE, and RMSE </vt:lpstr>
      <vt:lpstr>Efficiency Ratio, Energy, MAE, and RMSE </vt:lpstr>
      <vt:lpstr>Efficiency Ratio, Energy, MAE, and RMSE </vt:lpstr>
      <vt:lpstr>Energy vs MAE Tradeoff Across Models (With Efficiency Ratios)</vt:lpstr>
      <vt:lpstr>Prediction vs Ground Truth Plots for RingSNN and ANN</vt:lpstr>
      <vt:lpstr>Prediction vs Ground Truth Plots for RingSNN and ANN</vt:lpstr>
      <vt:lpstr>Prediction vs Ground Truth Plots for RingSNN and ANN</vt:lpstr>
      <vt:lpstr>Decoder Weights</vt:lpstr>
      <vt:lpstr>Spike Raster Plots</vt:lpstr>
      <vt:lpstr>Spike Density per Neuron</vt:lpstr>
      <vt:lpstr>Energy States</vt:lpstr>
      <vt:lpstr>Energy States</vt:lpstr>
      <vt:lpstr>Hardware‑Validated Benchmarking Analysis on Loihi 2 and GPU Platforms</vt:lpstr>
      <vt:lpstr>Hardware‑Validated Benchmarking Analysis on Loihi 2 and GPU Platforms</vt:lpstr>
      <vt:lpstr>Conclusions</vt:lpstr>
      <vt:lpstr>Conclusions</vt:lpstr>
      <vt:lpstr>Future Works and Current Updates</vt:lpstr>
      <vt:lpstr>References </vt:lpstr>
      <vt:lpstr>References</vt:lpstr>
      <vt:lpstr>References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Meeting with Prof. Yi</dc:title>
  <dc:creator>Swagata Pramanik</dc:creator>
  <cp:lastModifiedBy>Swagata Pramanik</cp:lastModifiedBy>
  <cp:revision>801</cp:revision>
  <dcterms:created xsi:type="dcterms:W3CDTF">2024-02-28T21:45:09Z</dcterms:created>
  <dcterms:modified xsi:type="dcterms:W3CDTF">2026-03-23T19:30:10Z</dcterms:modified>
</cp:coreProperties>
</file>